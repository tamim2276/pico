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9.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2.jpg"/><Relationship Id="rId4"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0E6B63"/>
          </a:solidFill>
          <a:ln>
            <a:noFill/>
          </a:ln>
          <a:effectLst/>
        </p:spPr>
        <p:txBody>
          <a:bodyPr rtlCol="0" anchor="ctr"/>
          <a:lstStyle/>
          <a:p>
            <a:pPr algn="ctr"/>
          </a:p>
        </p:txBody>
      </p:sp>
      <p:sp>
        <p:nvSpPr>
          <p:cNvPr id="4" name="TextBox 3"/>
          <p:cNvSpPr txBox="1"/>
          <p:nvPr/>
        </p:nvSpPr>
        <p:spPr>
          <a:xfrm>
            <a:off x="914400" y="1371600"/>
            <a:ext cx="2743200" cy="274320"/>
          </a:xfrm>
          <a:prstGeom prst="rect">
            <a:avLst/>
          </a:prstGeom>
          <a:noFill/>
        </p:spPr>
        <p:txBody>
          <a:bodyPr wrap="square" anchor="t" lIns="0" rIns="0" tIns="0" bIns="0">
            <a:spAutoFit/>
          </a:bodyPr>
          <a:lstStyle/>
          <a:p>
            <a:pPr algn="l">
              <a:spcBef>
                <a:spcPts val="0"/>
              </a:spcBef>
              <a:spcAft>
                <a:spcPts val="0"/>
              </a:spcAft>
            </a:pPr>
            <a:r>
              <a:rPr sz="1300" b="1" i="0">
                <a:solidFill>
                  <a:srgbClr val="0E6B63"/>
                </a:solidFill>
                <a:latin typeface="Segoe UI"/>
              </a:rPr>
              <a:t>USER MANUAL</a:t>
            </a:r>
          </a:p>
        </p:txBody>
      </p:sp>
      <p:sp>
        <p:nvSpPr>
          <p:cNvPr id="5" name="TextBox 4"/>
          <p:cNvSpPr txBox="1"/>
          <p:nvPr/>
        </p:nvSpPr>
        <p:spPr>
          <a:xfrm>
            <a:off x="914400" y="1783080"/>
            <a:ext cx="6400800" cy="1188720"/>
          </a:xfrm>
          <a:prstGeom prst="rect">
            <a:avLst/>
          </a:prstGeom>
          <a:noFill/>
        </p:spPr>
        <p:txBody>
          <a:bodyPr wrap="square" anchor="t" lIns="0" rIns="0" tIns="0" bIns="0">
            <a:spAutoFit/>
          </a:bodyPr>
          <a:lstStyle/>
          <a:p>
            <a:pPr algn="l">
              <a:spcBef>
                <a:spcPts val="0"/>
              </a:spcBef>
              <a:spcAft>
                <a:spcPts val="0"/>
              </a:spcAft>
            </a:pPr>
            <a:r>
              <a:rPr sz="6800" b="1" i="0">
                <a:solidFill>
                  <a:srgbClr val="14181F"/>
                </a:solidFill>
                <a:latin typeface="Segoe UI"/>
              </a:rPr>
              <a:t>Pico</a:t>
            </a:r>
          </a:p>
        </p:txBody>
      </p:sp>
      <p:sp>
        <p:nvSpPr>
          <p:cNvPr id="6" name="TextBox 5"/>
          <p:cNvSpPr txBox="1"/>
          <p:nvPr/>
        </p:nvSpPr>
        <p:spPr>
          <a:xfrm>
            <a:off x="914400" y="3063240"/>
            <a:ext cx="5852160" cy="1463040"/>
          </a:xfrm>
          <a:prstGeom prst="rect">
            <a:avLst/>
          </a:prstGeom>
          <a:noFill/>
        </p:spPr>
        <p:txBody>
          <a:bodyPr wrap="square" anchor="t" lIns="0" rIns="0" tIns="0" bIns="0">
            <a:spAutoFit/>
          </a:bodyPr>
          <a:lstStyle/>
          <a:p>
            <a:pPr algn="l">
              <a:spcBef>
                <a:spcPts val="0"/>
              </a:spcBef>
              <a:spcAft>
                <a:spcPts val="0"/>
              </a:spcAft>
            </a:pPr>
            <a:r>
              <a:rPr sz="1500" b="0" i="0">
                <a:solidFill>
                  <a:srgbClr val="3C4450"/>
                </a:solidFill>
                <a:latin typeface="Segoe UI"/>
              </a:rPr>
              <a:t>A private AI assistant that runs on your phone. The model lives on the device, so Pico manages your tasks, schedule and hardware without sending a word of it anywhere.</a:t>
            </a:r>
          </a:p>
        </p:txBody>
      </p:sp>
      <p:sp>
        <p:nvSpPr>
          <p:cNvPr id="7" name="TextBox 6"/>
          <p:cNvSpPr txBox="1"/>
          <p:nvPr/>
        </p:nvSpPr>
        <p:spPr>
          <a:xfrm>
            <a:off x="914400" y="4846320"/>
            <a:ext cx="6035040" cy="365760"/>
          </a:xfrm>
          <a:prstGeom prst="rect">
            <a:avLst/>
          </a:prstGeom>
          <a:noFill/>
        </p:spPr>
        <p:txBody>
          <a:bodyPr wrap="square" anchor="t" lIns="0" rIns="0" tIns="0" bIns="0">
            <a:spAutoFit/>
          </a:bodyPr>
          <a:lstStyle/>
          <a:p>
            <a:pPr algn="l">
              <a:spcBef>
                <a:spcPts val="0"/>
              </a:spcBef>
              <a:spcAft>
                <a:spcPts val="0"/>
              </a:spcAft>
            </a:pPr>
            <a:r>
              <a:rPr sz="1150" b="0" i="0">
                <a:solidFill>
                  <a:srgbClr val="7A8393"/>
                </a:solidFill>
                <a:latin typeface="Segoe UI"/>
              </a:rPr>
              <a:t>Version 1.0.0   ·   Android   ·   CSE-464</a:t>
            </a:r>
          </a:p>
        </p:txBody>
      </p:sp>
      <p:pic>
        <p:nvPicPr>
          <p:cNvPr id="8" name="Picture 7" descr="SignUp1.jpg"/>
          <p:cNvPicPr>
            <a:picLocks noChangeAspect="1"/>
          </p:cNvPicPr>
          <p:nvPr/>
        </p:nvPicPr>
        <p:blipFill>
          <a:blip r:embed="rId2"/>
          <a:stretch>
            <a:fillRect/>
          </a:stretch>
        </p:blipFill>
        <p:spPr>
          <a:xfrm>
            <a:off x="7543800" y="1330548"/>
            <a:ext cx="1874519" cy="4151183"/>
          </a:xfrm>
          <a:prstGeom prst="rect">
            <a:avLst/>
          </a:prstGeom>
        </p:spPr>
      </p:pic>
      <p:sp>
        <p:nvSpPr>
          <p:cNvPr id="9" name="Rectangle 8"/>
          <p:cNvSpPr/>
          <p:nvPr/>
        </p:nvSpPr>
        <p:spPr>
          <a:xfrm>
            <a:off x="7543800" y="1330548"/>
            <a:ext cx="1874519" cy="4151183"/>
          </a:xfrm>
          <a:prstGeom prst="rect">
            <a:avLst/>
          </a:prstGeom>
          <a:noFill/>
          <a:ln w="9525">
            <a:solidFill>
              <a:srgbClr val="D6DCE3"/>
            </a:solidFill>
          </a:ln>
          <a:effectLst/>
        </p:spPr>
        <p:txBody>
          <a:bodyPr rtlCol="0" anchor="ctr"/>
          <a:lstStyle/>
          <a:p>
            <a:pPr algn="ctr"/>
          </a:p>
        </p:txBody>
      </p:sp>
      <p:pic>
        <p:nvPicPr>
          <p:cNvPr id="10" name="Picture 9" descr="ModelDownload2.jpg"/>
          <p:cNvPicPr>
            <a:picLocks noChangeAspect="1"/>
          </p:cNvPicPr>
          <p:nvPr/>
        </p:nvPicPr>
        <p:blipFill>
          <a:blip r:embed="rId3"/>
          <a:stretch>
            <a:fillRect/>
          </a:stretch>
        </p:blipFill>
        <p:spPr>
          <a:xfrm>
            <a:off x="9646920" y="1330548"/>
            <a:ext cx="1874519" cy="4151183"/>
          </a:xfrm>
          <a:prstGeom prst="rect">
            <a:avLst/>
          </a:prstGeom>
        </p:spPr>
      </p:pic>
      <p:sp>
        <p:nvSpPr>
          <p:cNvPr id="11" name="Rectangle 10"/>
          <p:cNvSpPr/>
          <p:nvPr/>
        </p:nvSpPr>
        <p:spPr>
          <a:xfrm>
            <a:off x="9646920" y="1330548"/>
            <a:ext cx="1874519" cy="4151183"/>
          </a:xfrm>
          <a:prstGeom prst="rect">
            <a:avLst/>
          </a:prstGeom>
          <a:noFill/>
          <a:ln w="9525">
            <a:solidFill>
              <a:srgbClr val="D6DCE3"/>
            </a:solid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0E6B63"/>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Overview</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0E6B63"/>
                </a:solidFill>
                <a:latin typeface="Segoe UI"/>
              </a:rPr>
              <a:t>1</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0E6B63"/>
                </a:solidFill>
                <a:latin typeface="Segoe UI"/>
              </a:rPr>
              <a:t>OVERVIEW</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What Pico does</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Six capabilities that share one brain, rather than six features side by side.</a:t>
            </a:r>
          </a:p>
        </p:txBody>
      </p:sp>
      <p:sp>
        <p:nvSpPr>
          <p:cNvPr id="10" name="Rectangle 9"/>
          <p:cNvSpPr/>
          <p:nvPr/>
        </p:nvSpPr>
        <p:spPr>
          <a:xfrm>
            <a:off x="566928" y="1645920"/>
            <a:ext cx="3551834" cy="1481328"/>
          </a:xfrm>
          <a:prstGeom prst="rect">
            <a:avLst/>
          </a:prstGeom>
          <a:solidFill>
            <a:srgbClr val="FFFFFF"/>
          </a:solidFill>
          <a:ln w="9525">
            <a:solidFill>
              <a:srgbClr val="E3E7EC"/>
            </a:solidFill>
          </a:ln>
          <a:effectLst/>
        </p:spPr>
        <p:txBody>
          <a:bodyPr rtlCol="0" anchor="ctr"/>
          <a:lstStyle/>
          <a:p>
            <a:pPr algn="ctr"/>
          </a:p>
        </p:txBody>
      </p:sp>
      <p:sp>
        <p:nvSpPr>
          <p:cNvPr id="11" name="Rectangle 10"/>
          <p:cNvSpPr/>
          <p:nvPr/>
        </p:nvSpPr>
        <p:spPr>
          <a:xfrm>
            <a:off x="566928" y="1645920"/>
            <a:ext cx="3551834" cy="50292"/>
          </a:xfrm>
          <a:prstGeom prst="rect">
            <a:avLst/>
          </a:prstGeom>
          <a:solidFill>
            <a:srgbClr val="0E6B63"/>
          </a:solidFill>
          <a:ln>
            <a:noFill/>
          </a:ln>
          <a:effectLst/>
        </p:spPr>
        <p:txBody>
          <a:bodyPr rtlCol="0" anchor="ctr"/>
          <a:lstStyle/>
          <a:p>
            <a:pPr algn="ctr"/>
          </a:p>
        </p:txBody>
      </p:sp>
      <p:sp>
        <p:nvSpPr>
          <p:cNvPr id="12" name="TextBox 11"/>
          <p:cNvSpPr txBox="1"/>
          <p:nvPr/>
        </p:nvSpPr>
        <p:spPr>
          <a:xfrm>
            <a:off x="786384" y="1883664"/>
            <a:ext cx="3112922" cy="113385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On-device AI</a:t>
            </a:r>
          </a:p>
          <a:p>
            <a:pPr algn="l">
              <a:spcBef>
                <a:spcPts val="500"/>
              </a:spcBef>
              <a:spcAft>
                <a:spcPts val="0"/>
              </a:spcAft>
            </a:pPr>
            <a:r>
              <a:rPr sz="1050" b="0" i="0">
                <a:solidFill>
                  <a:srgbClr val="3C4450"/>
                </a:solidFill>
                <a:latin typeface="Segoe UI"/>
              </a:rPr>
              <a:t>A small language model runs locally through llama.cpp. Five models to choose from; no account, no server, no network call.</a:t>
            </a:r>
          </a:p>
        </p:txBody>
      </p:sp>
      <p:sp>
        <p:nvSpPr>
          <p:cNvPr id="13" name="Rectangle 12"/>
          <p:cNvSpPr/>
          <p:nvPr/>
        </p:nvSpPr>
        <p:spPr>
          <a:xfrm>
            <a:off x="4319930" y="1645920"/>
            <a:ext cx="3551834" cy="1481328"/>
          </a:xfrm>
          <a:prstGeom prst="rect">
            <a:avLst/>
          </a:prstGeom>
          <a:solidFill>
            <a:srgbClr val="FFFFFF"/>
          </a:solidFill>
          <a:ln w="9525">
            <a:solidFill>
              <a:srgbClr val="E3E7EC"/>
            </a:solidFill>
          </a:ln>
          <a:effectLst/>
        </p:spPr>
        <p:txBody>
          <a:bodyPr rtlCol="0" anchor="ctr"/>
          <a:lstStyle/>
          <a:p>
            <a:pPr algn="ctr"/>
          </a:p>
        </p:txBody>
      </p:sp>
      <p:sp>
        <p:nvSpPr>
          <p:cNvPr id="14" name="Rectangle 13"/>
          <p:cNvSpPr/>
          <p:nvPr/>
        </p:nvSpPr>
        <p:spPr>
          <a:xfrm>
            <a:off x="4319930" y="1645920"/>
            <a:ext cx="3551834" cy="50292"/>
          </a:xfrm>
          <a:prstGeom prst="rect">
            <a:avLst/>
          </a:prstGeom>
          <a:solidFill>
            <a:srgbClr val="3E4C8A"/>
          </a:solidFill>
          <a:ln>
            <a:noFill/>
          </a:ln>
          <a:effectLst/>
        </p:spPr>
        <p:txBody>
          <a:bodyPr rtlCol="0" anchor="ctr"/>
          <a:lstStyle/>
          <a:p>
            <a:pPr algn="ctr"/>
          </a:p>
        </p:txBody>
      </p:sp>
      <p:sp>
        <p:nvSpPr>
          <p:cNvPr id="15" name="TextBox 14"/>
          <p:cNvSpPr txBox="1"/>
          <p:nvPr/>
        </p:nvSpPr>
        <p:spPr>
          <a:xfrm>
            <a:off x="4539386" y="1883664"/>
            <a:ext cx="3112922" cy="113385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Task management</a:t>
            </a:r>
          </a:p>
          <a:p>
            <a:pPr algn="l">
              <a:spcBef>
                <a:spcPts val="500"/>
              </a:spcBef>
              <a:spcAft>
                <a:spcPts val="0"/>
              </a:spcAft>
            </a:pPr>
            <a:r>
              <a:rPr sz="1050" b="0" i="0">
                <a:solidFill>
                  <a:srgbClr val="3C4450"/>
                </a:solidFill>
                <a:latin typeface="Segoe UI"/>
              </a:rPr>
              <a:t>Create, search, filter, complete and delete tasks with a priority and a due date. Three ways in: the form, the tool menu, or plain chat.</a:t>
            </a:r>
          </a:p>
        </p:txBody>
      </p:sp>
      <p:sp>
        <p:nvSpPr>
          <p:cNvPr id="16" name="Rectangle 15"/>
          <p:cNvSpPr/>
          <p:nvPr/>
        </p:nvSpPr>
        <p:spPr>
          <a:xfrm>
            <a:off x="8072932" y="1645920"/>
            <a:ext cx="3551834" cy="1481328"/>
          </a:xfrm>
          <a:prstGeom prst="rect">
            <a:avLst/>
          </a:prstGeom>
          <a:solidFill>
            <a:srgbClr val="FFFFFF"/>
          </a:solidFill>
          <a:ln w="9525">
            <a:solidFill>
              <a:srgbClr val="E3E7EC"/>
            </a:solidFill>
          </a:ln>
          <a:effectLst/>
        </p:spPr>
        <p:txBody>
          <a:bodyPr rtlCol="0" anchor="ctr"/>
          <a:lstStyle/>
          <a:p>
            <a:pPr algn="ctr"/>
          </a:p>
        </p:txBody>
      </p:sp>
      <p:sp>
        <p:nvSpPr>
          <p:cNvPr id="17" name="Rectangle 16"/>
          <p:cNvSpPr/>
          <p:nvPr/>
        </p:nvSpPr>
        <p:spPr>
          <a:xfrm>
            <a:off x="8072932" y="1645920"/>
            <a:ext cx="3551834" cy="50292"/>
          </a:xfrm>
          <a:prstGeom prst="rect">
            <a:avLst/>
          </a:prstGeom>
          <a:solidFill>
            <a:srgbClr val="3B5568"/>
          </a:solidFill>
          <a:ln>
            <a:noFill/>
          </a:ln>
          <a:effectLst/>
        </p:spPr>
        <p:txBody>
          <a:bodyPr rtlCol="0" anchor="ctr"/>
          <a:lstStyle/>
          <a:p>
            <a:pPr algn="ctr"/>
          </a:p>
        </p:txBody>
      </p:sp>
      <p:sp>
        <p:nvSpPr>
          <p:cNvPr id="18" name="TextBox 17"/>
          <p:cNvSpPr txBox="1"/>
          <p:nvPr/>
        </p:nvSpPr>
        <p:spPr>
          <a:xfrm>
            <a:off x="8292388" y="1883664"/>
            <a:ext cx="3112922" cy="113385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Calendar</a:t>
            </a:r>
          </a:p>
          <a:p>
            <a:pPr algn="l">
              <a:spcBef>
                <a:spcPts val="500"/>
              </a:spcBef>
              <a:spcAft>
                <a:spcPts val="0"/>
              </a:spcAft>
            </a:pPr>
            <a:r>
              <a:rPr sz="1050" b="0" i="0">
                <a:solidFill>
                  <a:srgbClr val="3C4450"/>
                </a:solidFill>
                <a:latin typeface="Segoe UI"/>
              </a:rPr>
              <a:t>A month grid with event density dots and a day agenda, merging your device calendar with the events Pico creates itself.</a:t>
            </a:r>
          </a:p>
        </p:txBody>
      </p:sp>
      <p:sp>
        <p:nvSpPr>
          <p:cNvPr id="19" name="Rectangle 18"/>
          <p:cNvSpPr/>
          <p:nvPr/>
        </p:nvSpPr>
        <p:spPr>
          <a:xfrm>
            <a:off x="566928" y="3328416"/>
            <a:ext cx="3551834" cy="1481328"/>
          </a:xfrm>
          <a:prstGeom prst="rect">
            <a:avLst/>
          </a:prstGeom>
          <a:solidFill>
            <a:srgbClr val="FFFFFF"/>
          </a:solidFill>
          <a:ln w="9525">
            <a:solidFill>
              <a:srgbClr val="E3E7EC"/>
            </a:solidFill>
          </a:ln>
          <a:effectLst/>
        </p:spPr>
        <p:txBody>
          <a:bodyPr rtlCol="0" anchor="ctr"/>
          <a:lstStyle/>
          <a:p>
            <a:pPr algn="ctr"/>
          </a:p>
        </p:txBody>
      </p:sp>
      <p:sp>
        <p:nvSpPr>
          <p:cNvPr id="20" name="Rectangle 19"/>
          <p:cNvSpPr/>
          <p:nvPr/>
        </p:nvSpPr>
        <p:spPr>
          <a:xfrm>
            <a:off x="566928" y="3328416"/>
            <a:ext cx="3551834" cy="50292"/>
          </a:xfrm>
          <a:prstGeom prst="rect">
            <a:avLst/>
          </a:prstGeom>
          <a:solidFill>
            <a:srgbClr val="4A6B3D"/>
          </a:solidFill>
          <a:ln>
            <a:noFill/>
          </a:ln>
          <a:effectLst/>
        </p:spPr>
        <p:txBody>
          <a:bodyPr rtlCol="0" anchor="ctr"/>
          <a:lstStyle/>
          <a:p>
            <a:pPr algn="ctr"/>
          </a:p>
        </p:txBody>
      </p:sp>
      <p:sp>
        <p:nvSpPr>
          <p:cNvPr id="21" name="TextBox 20"/>
          <p:cNvSpPr txBox="1"/>
          <p:nvPr/>
        </p:nvSpPr>
        <p:spPr>
          <a:xfrm>
            <a:off x="786384" y="3566160"/>
            <a:ext cx="3112922" cy="113385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Device tools</a:t>
            </a:r>
          </a:p>
          <a:p>
            <a:pPr algn="l">
              <a:spcBef>
                <a:spcPts val="500"/>
              </a:spcBef>
              <a:spcAft>
                <a:spcPts val="0"/>
              </a:spcAft>
            </a:pPr>
            <a:r>
              <a:rPr sz="1050" b="0" i="0">
                <a:solidFill>
                  <a:srgbClr val="3C4450"/>
                </a:solidFill>
                <a:latin typeface="Segoe UI"/>
              </a:rPr>
              <a:t>Sixteen actions Pico can take on the phone: flashlight, battery, location, timers, weather, maps, search and notifications.</a:t>
            </a:r>
          </a:p>
        </p:txBody>
      </p:sp>
      <p:sp>
        <p:nvSpPr>
          <p:cNvPr id="22" name="Rectangle 21"/>
          <p:cNvSpPr/>
          <p:nvPr/>
        </p:nvSpPr>
        <p:spPr>
          <a:xfrm>
            <a:off x="4319930" y="3328416"/>
            <a:ext cx="3551834" cy="1481328"/>
          </a:xfrm>
          <a:prstGeom prst="rect">
            <a:avLst/>
          </a:prstGeom>
          <a:solidFill>
            <a:srgbClr val="FFFFFF"/>
          </a:solidFill>
          <a:ln w="9525">
            <a:solidFill>
              <a:srgbClr val="E3E7EC"/>
            </a:solidFill>
          </a:ln>
          <a:effectLst/>
        </p:spPr>
        <p:txBody>
          <a:bodyPr rtlCol="0" anchor="ctr"/>
          <a:lstStyle/>
          <a:p>
            <a:pPr algn="ctr"/>
          </a:p>
        </p:txBody>
      </p:sp>
      <p:sp>
        <p:nvSpPr>
          <p:cNvPr id="23" name="Rectangle 22"/>
          <p:cNvSpPr/>
          <p:nvPr/>
        </p:nvSpPr>
        <p:spPr>
          <a:xfrm>
            <a:off x="4319930" y="3328416"/>
            <a:ext cx="3551834" cy="50292"/>
          </a:xfrm>
          <a:prstGeom prst="rect">
            <a:avLst/>
          </a:prstGeom>
          <a:solidFill>
            <a:srgbClr val="8A6A3B"/>
          </a:solidFill>
          <a:ln>
            <a:noFill/>
          </a:ln>
          <a:effectLst/>
        </p:spPr>
        <p:txBody>
          <a:bodyPr rtlCol="0" anchor="ctr"/>
          <a:lstStyle/>
          <a:p>
            <a:pPr algn="ctr"/>
          </a:p>
        </p:txBody>
      </p:sp>
      <p:sp>
        <p:nvSpPr>
          <p:cNvPr id="24" name="TextBox 23"/>
          <p:cNvSpPr txBox="1"/>
          <p:nvPr/>
        </p:nvSpPr>
        <p:spPr>
          <a:xfrm>
            <a:off x="4539386" y="3566160"/>
            <a:ext cx="3112922" cy="113385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Telegram sync</a:t>
            </a:r>
          </a:p>
          <a:p>
            <a:pPr algn="l">
              <a:spcBef>
                <a:spcPts val="500"/>
              </a:spcBef>
              <a:spcAft>
                <a:spcPts val="0"/>
              </a:spcAft>
            </a:pPr>
            <a:r>
              <a:rPr sz="1050" b="0" i="0">
                <a:solidFill>
                  <a:srgbClr val="3C4450"/>
                </a:solidFill>
                <a:latin typeface="Segoe UI"/>
              </a:rPr>
              <a:t>Point Pico at a Telegram bot and it turns incoming notices into tasks, new events, or reschedules of events you already have.</a:t>
            </a:r>
          </a:p>
        </p:txBody>
      </p:sp>
      <p:sp>
        <p:nvSpPr>
          <p:cNvPr id="25" name="Rectangle 24"/>
          <p:cNvSpPr/>
          <p:nvPr/>
        </p:nvSpPr>
        <p:spPr>
          <a:xfrm>
            <a:off x="8072932" y="3328416"/>
            <a:ext cx="3551834" cy="1481328"/>
          </a:xfrm>
          <a:prstGeom prst="rect">
            <a:avLst/>
          </a:prstGeom>
          <a:solidFill>
            <a:srgbClr val="FFFFFF"/>
          </a:solidFill>
          <a:ln w="9525">
            <a:solidFill>
              <a:srgbClr val="E3E7EC"/>
            </a:solidFill>
          </a:ln>
          <a:effectLst/>
        </p:spPr>
        <p:txBody>
          <a:bodyPr rtlCol="0" anchor="ctr"/>
          <a:lstStyle/>
          <a:p>
            <a:pPr algn="ctr"/>
          </a:p>
        </p:txBody>
      </p:sp>
      <p:sp>
        <p:nvSpPr>
          <p:cNvPr id="26" name="Rectangle 25"/>
          <p:cNvSpPr/>
          <p:nvPr/>
        </p:nvSpPr>
        <p:spPr>
          <a:xfrm>
            <a:off x="8072932" y="3328416"/>
            <a:ext cx="3551834" cy="50292"/>
          </a:xfrm>
          <a:prstGeom prst="rect">
            <a:avLst/>
          </a:prstGeom>
          <a:solidFill>
            <a:srgbClr val="6B3F62"/>
          </a:solidFill>
          <a:ln>
            <a:noFill/>
          </a:ln>
          <a:effectLst/>
        </p:spPr>
        <p:txBody>
          <a:bodyPr rtlCol="0" anchor="ctr"/>
          <a:lstStyle/>
          <a:p>
            <a:pPr algn="ctr"/>
          </a:p>
        </p:txBody>
      </p:sp>
      <p:sp>
        <p:nvSpPr>
          <p:cNvPr id="27" name="TextBox 26"/>
          <p:cNvSpPr txBox="1"/>
          <p:nvPr/>
        </p:nvSpPr>
        <p:spPr>
          <a:xfrm>
            <a:off x="8292388" y="3566160"/>
            <a:ext cx="3112922" cy="113385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Private by design</a:t>
            </a:r>
          </a:p>
          <a:p>
            <a:pPr algn="l">
              <a:spcBef>
                <a:spcPts val="500"/>
              </a:spcBef>
              <a:spcAft>
                <a:spcPts val="0"/>
              </a:spcAft>
            </a:pPr>
            <a:r>
              <a:rPr sz="1050" b="0" i="0">
                <a:solidFill>
                  <a:srgbClr val="3C4450"/>
                </a:solidFill>
                <a:latin typeface="Segoe UI"/>
              </a:rPr>
              <a:t>Tasks, events, reminders and accounts sit in encrypted on-device storage. Nothing is uploaded, because there is nowhere to upload it.</a:t>
            </a:r>
          </a:p>
        </p:txBody>
      </p:sp>
      <p:sp>
        <p:nvSpPr>
          <p:cNvPr id="28" name="Rectangle 27"/>
          <p:cNvSpPr/>
          <p:nvPr/>
        </p:nvSpPr>
        <p:spPr>
          <a:xfrm>
            <a:off x="566928" y="5074920"/>
            <a:ext cx="11057839" cy="832104"/>
          </a:xfrm>
          <a:prstGeom prst="rect">
            <a:avLst/>
          </a:prstGeom>
          <a:solidFill>
            <a:srgbClr val="F4F6F9"/>
          </a:solidFill>
          <a:ln>
            <a:noFill/>
          </a:ln>
          <a:effectLst/>
        </p:spPr>
        <p:txBody>
          <a:bodyPr rtlCol="0" anchor="ctr"/>
          <a:lstStyle/>
          <a:p>
            <a:pPr algn="ctr"/>
          </a:p>
        </p:txBody>
      </p:sp>
      <p:sp>
        <p:nvSpPr>
          <p:cNvPr id="29" name="Rectangle 28"/>
          <p:cNvSpPr/>
          <p:nvPr/>
        </p:nvSpPr>
        <p:spPr>
          <a:xfrm>
            <a:off x="566928" y="5074920"/>
            <a:ext cx="41148" cy="832104"/>
          </a:xfrm>
          <a:prstGeom prst="rect">
            <a:avLst/>
          </a:prstGeom>
          <a:solidFill>
            <a:srgbClr val="0E6B63"/>
          </a:solidFill>
          <a:ln>
            <a:noFill/>
          </a:ln>
          <a:effectLst/>
        </p:spPr>
        <p:txBody>
          <a:bodyPr rtlCol="0" anchor="ctr"/>
          <a:lstStyle/>
          <a:p>
            <a:pPr algn="ctr"/>
          </a:p>
        </p:txBody>
      </p:sp>
      <p:sp>
        <p:nvSpPr>
          <p:cNvPr id="30" name="TextBox 29"/>
          <p:cNvSpPr txBox="1"/>
          <p:nvPr/>
        </p:nvSpPr>
        <p:spPr>
          <a:xfrm>
            <a:off x="768096" y="5184648"/>
            <a:ext cx="10673791" cy="649224"/>
          </a:xfrm>
          <a:prstGeom prst="rect">
            <a:avLst/>
          </a:prstGeom>
          <a:noFill/>
        </p:spPr>
        <p:txBody>
          <a:bodyPr wrap="square" anchor="t" lIns="0" rIns="0" tIns="0" bIns="0">
            <a:spAutoFit/>
          </a:bodyPr>
          <a:lstStyle/>
          <a:p>
            <a:pPr algn="l">
              <a:spcBef>
                <a:spcPts val="0"/>
              </a:spcBef>
              <a:spcAft>
                <a:spcPts val="0"/>
              </a:spcAft>
            </a:pPr>
            <a:r>
              <a:rPr sz="1200" b="1" i="0">
                <a:solidFill>
                  <a:srgbClr val="0E6B63"/>
                </a:solidFill>
                <a:latin typeface="Segoe UI"/>
              </a:rPr>
              <a:t>What joins them together</a:t>
            </a:r>
          </a:p>
          <a:p>
            <a:pPr algn="l">
              <a:spcBef>
                <a:spcPts val="300"/>
              </a:spcBef>
              <a:spcAft>
                <a:spcPts val="0"/>
              </a:spcAft>
            </a:pPr>
            <a:r>
              <a:rPr sz="1100" b="0" i="0">
                <a:solidFill>
                  <a:srgbClr val="3C4450"/>
                </a:solidFill>
                <a:latin typeface="Segoe UI"/>
              </a:rPr>
              <a:t>Every one of these is a tool behind a single contract, listed in one registry. The chat, the tool menu and the notification buttons all call the same tools by the same names - which is why anything Pico can do by button, it can also do by sentence.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0E6B63"/>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Overview</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0E6B63"/>
                </a:solidFill>
                <a:latin typeface="Segoe UI"/>
              </a:rPr>
              <a:t>2</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0E6B63"/>
                </a:solidFill>
                <a:latin typeface="Segoe UI"/>
              </a:rPr>
              <a:t>OVERVIEW</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How a request travels</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Pico answers at whichever tier can answer first, so the model only runs when it is actually needed.</a:t>
            </a:r>
          </a:p>
        </p:txBody>
      </p:sp>
      <p:sp>
        <p:nvSpPr>
          <p:cNvPr id="10" name="Rectangle 9"/>
          <p:cNvSpPr/>
          <p:nvPr/>
        </p:nvSpPr>
        <p:spPr>
          <a:xfrm>
            <a:off x="566928" y="1691640"/>
            <a:ext cx="1644853" cy="841248"/>
          </a:xfrm>
          <a:prstGeom prst="rect">
            <a:avLst/>
          </a:prstGeom>
          <a:solidFill>
            <a:srgbClr val="FFFFFF"/>
          </a:solidFill>
          <a:ln w="9525">
            <a:solidFill>
              <a:srgbClr val="E3E7EC"/>
            </a:solidFill>
          </a:ln>
          <a:effectLst/>
        </p:spPr>
        <p:txBody>
          <a:bodyPr rtlCol="0" anchor="ctr"/>
          <a:lstStyle/>
          <a:p>
            <a:pPr algn="ctr"/>
          </a:p>
        </p:txBody>
      </p:sp>
      <p:sp>
        <p:nvSpPr>
          <p:cNvPr id="11" name="Rectangle 10"/>
          <p:cNvSpPr/>
          <p:nvPr/>
        </p:nvSpPr>
        <p:spPr>
          <a:xfrm>
            <a:off x="566928" y="1691640"/>
            <a:ext cx="1644853" cy="45720"/>
          </a:xfrm>
          <a:prstGeom prst="rect">
            <a:avLst/>
          </a:prstGeom>
          <a:solidFill>
            <a:srgbClr val="0E6B63"/>
          </a:solidFill>
          <a:ln>
            <a:noFill/>
          </a:ln>
          <a:effectLst/>
        </p:spPr>
        <p:txBody>
          <a:bodyPr rtlCol="0" anchor="ctr"/>
          <a:lstStyle/>
          <a:p>
            <a:pPr algn="ctr"/>
          </a:p>
        </p:txBody>
      </p:sp>
      <p:sp>
        <p:nvSpPr>
          <p:cNvPr id="12" name="TextBox 11"/>
          <p:cNvSpPr txBox="1"/>
          <p:nvPr/>
        </p:nvSpPr>
        <p:spPr>
          <a:xfrm>
            <a:off x="640080" y="1865376"/>
            <a:ext cx="1498549" cy="603504"/>
          </a:xfrm>
          <a:prstGeom prst="rect">
            <a:avLst/>
          </a:prstGeom>
          <a:noFill/>
        </p:spPr>
        <p:txBody>
          <a:bodyPr wrap="square" anchor="t" lIns="0" rIns="0" tIns="0" bIns="0">
            <a:spAutoFit/>
          </a:bodyPr>
          <a:lstStyle/>
          <a:p>
            <a:pPr algn="ctr">
              <a:spcBef>
                <a:spcPts val="0"/>
              </a:spcBef>
              <a:spcAft>
                <a:spcPts val="0"/>
              </a:spcAft>
            </a:pPr>
            <a:r>
              <a:rPr sz="1050" b="1" i="0">
                <a:solidFill>
                  <a:srgbClr val="14181F"/>
                </a:solidFill>
                <a:latin typeface="Segoe UI"/>
              </a:rPr>
              <a:t>You type</a:t>
            </a:r>
          </a:p>
          <a:p>
            <a:pPr algn="ctr">
              <a:spcBef>
                <a:spcPts val="300"/>
              </a:spcBef>
              <a:spcAft>
                <a:spcPts val="0"/>
              </a:spcAft>
            </a:pPr>
            <a:r>
              <a:rPr sz="850" b="0" i="0">
                <a:solidFill>
                  <a:srgbClr val="7A8393"/>
                </a:solidFill>
                <a:latin typeface="Segoe UI"/>
              </a:rPr>
              <a:t>"turn on the flashlight"</a:t>
            </a:r>
          </a:p>
        </p:txBody>
      </p:sp>
      <p:sp>
        <p:nvSpPr>
          <p:cNvPr id="13" name="Right Arrow 12"/>
          <p:cNvSpPr/>
          <p:nvPr/>
        </p:nvSpPr>
        <p:spPr>
          <a:xfrm>
            <a:off x="2248357" y="2039112"/>
            <a:ext cx="164592" cy="146304"/>
          </a:xfrm>
          <a:prstGeom prst="rightArrow">
            <a:avLst/>
          </a:prstGeom>
          <a:solidFill>
            <a:srgbClr val="C2C9D2"/>
          </a:solidFill>
          <a:ln>
            <a:noFill/>
          </a:ln>
          <a:effectLst/>
        </p:spPr>
        <p:txBody>
          <a:bodyPr rtlCol="0" anchor="ctr"/>
          <a:lstStyle/>
          <a:p>
            <a:pPr algn="ctr"/>
          </a:p>
        </p:txBody>
      </p:sp>
      <p:sp>
        <p:nvSpPr>
          <p:cNvPr id="14" name="Rectangle 13"/>
          <p:cNvSpPr/>
          <p:nvPr/>
        </p:nvSpPr>
        <p:spPr>
          <a:xfrm>
            <a:off x="2449525" y="1691640"/>
            <a:ext cx="1644853" cy="841248"/>
          </a:xfrm>
          <a:prstGeom prst="rect">
            <a:avLst/>
          </a:prstGeom>
          <a:solidFill>
            <a:srgbClr val="FFFFFF"/>
          </a:solidFill>
          <a:ln w="9525">
            <a:solidFill>
              <a:srgbClr val="E3E7EC"/>
            </a:solidFill>
          </a:ln>
          <a:effectLst/>
        </p:spPr>
        <p:txBody>
          <a:bodyPr rtlCol="0" anchor="ctr"/>
          <a:lstStyle/>
          <a:p>
            <a:pPr algn="ctr"/>
          </a:p>
        </p:txBody>
      </p:sp>
      <p:sp>
        <p:nvSpPr>
          <p:cNvPr id="15" name="Rectangle 14"/>
          <p:cNvSpPr/>
          <p:nvPr/>
        </p:nvSpPr>
        <p:spPr>
          <a:xfrm>
            <a:off x="2449525" y="1691640"/>
            <a:ext cx="1644853" cy="45720"/>
          </a:xfrm>
          <a:prstGeom prst="rect">
            <a:avLst/>
          </a:prstGeom>
          <a:solidFill>
            <a:srgbClr val="0E6B63"/>
          </a:solidFill>
          <a:ln>
            <a:noFill/>
          </a:ln>
          <a:effectLst/>
        </p:spPr>
        <p:txBody>
          <a:bodyPr rtlCol="0" anchor="ctr"/>
          <a:lstStyle/>
          <a:p>
            <a:pPr algn="ctr"/>
          </a:p>
        </p:txBody>
      </p:sp>
      <p:sp>
        <p:nvSpPr>
          <p:cNvPr id="16" name="TextBox 15"/>
          <p:cNvSpPr txBox="1"/>
          <p:nvPr/>
        </p:nvSpPr>
        <p:spPr>
          <a:xfrm>
            <a:off x="2522677" y="1865376"/>
            <a:ext cx="1498549" cy="603504"/>
          </a:xfrm>
          <a:prstGeom prst="rect">
            <a:avLst/>
          </a:prstGeom>
          <a:noFill/>
        </p:spPr>
        <p:txBody>
          <a:bodyPr wrap="square" anchor="t" lIns="0" rIns="0" tIns="0" bIns="0">
            <a:spAutoFit/>
          </a:bodyPr>
          <a:lstStyle/>
          <a:p>
            <a:pPr algn="ctr">
              <a:spcBef>
                <a:spcPts val="0"/>
              </a:spcBef>
              <a:spcAft>
                <a:spcPts val="0"/>
              </a:spcAft>
            </a:pPr>
            <a:r>
              <a:rPr sz="1050" b="1" i="0">
                <a:solidFill>
                  <a:srgbClr val="14181F"/>
                </a:solidFill>
                <a:latin typeface="Segoe UI"/>
              </a:rPr>
              <a:t>Fast path</a:t>
            </a:r>
          </a:p>
          <a:p>
            <a:pPr algn="ctr">
              <a:spcBef>
                <a:spcPts val="300"/>
              </a:spcBef>
              <a:spcAft>
                <a:spcPts val="0"/>
              </a:spcAft>
            </a:pPr>
            <a:r>
              <a:rPr sz="850" b="0" i="0">
                <a:solidFill>
                  <a:srgbClr val="7A8393"/>
                </a:solidFill>
                <a:latin typeface="Segoe UI"/>
              </a:rPr>
              <a:t>regex intent router</a:t>
            </a:r>
          </a:p>
        </p:txBody>
      </p:sp>
      <p:sp>
        <p:nvSpPr>
          <p:cNvPr id="17" name="Right Arrow 16"/>
          <p:cNvSpPr/>
          <p:nvPr/>
        </p:nvSpPr>
        <p:spPr>
          <a:xfrm>
            <a:off x="4130954" y="2039112"/>
            <a:ext cx="164592" cy="146304"/>
          </a:xfrm>
          <a:prstGeom prst="rightArrow">
            <a:avLst/>
          </a:prstGeom>
          <a:solidFill>
            <a:srgbClr val="C2C9D2"/>
          </a:solidFill>
          <a:ln>
            <a:noFill/>
          </a:ln>
          <a:effectLst/>
        </p:spPr>
        <p:txBody>
          <a:bodyPr rtlCol="0" anchor="ctr"/>
          <a:lstStyle/>
          <a:p>
            <a:pPr algn="ctr"/>
          </a:p>
        </p:txBody>
      </p:sp>
      <p:sp>
        <p:nvSpPr>
          <p:cNvPr id="18" name="Rectangle 17"/>
          <p:cNvSpPr/>
          <p:nvPr/>
        </p:nvSpPr>
        <p:spPr>
          <a:xfrm>
            <a:off x="4332122" y="1691640"/>
            <a:ext cx="1644853" cy="841248"/>
          </a:xfrm>
          <a:prstGeom prst="rect">
            <a:avLst/>
          </a:prstGeom>
          <a:solidFill>
            <a:srgbClr val="FFFFFF"/>
          </a:solidFill>
          <a:ln w="9525">
            <a:solidFill>
              <a:srgbClr val="E3E7EC"/>
            </a:solidFill>
          </a:ln>
          <a:effectLst/>
        </p:spPr>
        <p:txBody>
          <a:bodyPr rtlCol="0" anchor="ctr"/>
          <a:lstStyle/>
          <a:p>
            <a:pPr algn="ctr"/>
          </a:p>
        </p:txBody>
      </p:sp>
      <p:sp>
        <p:nvSpPr>
          <p:cNvPr id="19" name="Rectangle 18"/>
          <p:cNvSpPr/>
          <p:nvPr/>
        </p:nvSpPr>
        <p:spPr>
          <a:xfrm>
            <a:off x="4332122" y="1691640"/>
            <a:ext cx="1644853" cy="45720"/>
          </a:xfrm>
          <a:prstGeom prst="rect">
            <a:avLst/>
          </a:prstGeom>
          <a:solidFill>
            <a:srgbClr val="0E6B63"/>
          </a:solidFill>
          <a:ln>
            <a:noFill/>
          </a:ln>
          <a:effectLst/>
        </p:spPr>
        <p:txBody>
          <a:bodyPr rtlCol="0" anchor="ctr"/>
          <a:lstStyle/>
          <a:p>
            <a:pPr algn="ctr"/>
          </a:p>
        </p:txBody>
      </p:sp>
      <p:sp>
        <p:nvSpPr>
          <p:cNvPr id="20" name="TextBox 19"/>
          <p:cNvSpPr txBox="1"/>
          <p:nvPr/>
        </p:nvSpPr>
        <p:spPr>
          <a:xfrm>
            <a:off x="4405274" y="1865376"/>
            <a:ext cx="1498549" cy="603504"/>
          </a:xfrm>
          <a:prstGeom prst="rect">
            <a:avLst/>
          </a:prstGeom>
          <a:noFill/>
        </p:spPr>
        <p:txBody>
          <a:bodyPr wrap="square" anchor="t" lIns="0" rIns="0" tIns="0" bIns="0">
            <a:spAutoFit/>
          </a:bodyPr>
          <a:lstStyle/>
          <a:p>
            <a:pPr algn="ctr">
              <a:spcBef>
                <a:spcPts val="0"/>
              </a:spcBef>
              <a:spcAft>
                <a:spcPts val="0"/>
              </a:spcAft>
            </a:pPr>
            <a:r>
              <a:rPr sz="1050" b="1" i="0">
                <a:solidFill>
                  <a:srgbClr val="14181F"/>
                </a:solidFill>
                <a:latin typeface="Segoe UI"/>
              </a:rPr>
              <a:t>On-device model</a:t>
            </a:r>
          </a:p>
          <a:p>
            <a:pPr algn="ctr">
              <a:spcBef>
                <a:spcPts val="300"/>
              </a:spcBef>
              <a:spcAft>
                <a:spcPts val="0"/>
              </a:spcAft>
            </a:pPr>
            <a:r>
              <a:rPr sz="850" b="0" i="0">
                <a:solidFill>
                  <a:srgbClr val="7A8393"/>
                </a:solidFill>
                <a:latin typeface="Segoe UI"/>
              </a:rPr>
              <a:t>only if no match</a:t>
            </a:r>
          </a:p>
        </p:txBody>
      </p:sp>
      <p:sp>
        <p:nvSpPr>
          <p:cNvPr id="21" name="Right Arrow 20"/>
          <p:cNvSpPr/>
          <p:nvPr/>
        </p:nvSpPr>
        <p:spPr>
          <a:xfrm>
            <a:off x="6013551" y="2039112"/>
            <a:ext cx="164592" cy="146304"/>
          </a:xfrm>
          <a:prstGeom prst="rightArrow">
            <a:avLst/>
          </a:prstGeom>
          <a:solidFill>
            <a:srgbClr val="C2C9D2"/>
          </a:solidFill>
          <a:ln>
            <a:noFill/>
          </a:ln>
          <a:effectLst/>
        </p:spPr>
        <p:txBody>
          <a:bodyPr rtlCol="0" anchor="ctr"/>
          <a:lstStyle/>
          <a:p>
            <a:pPr algn="ctr"/>
          </a:p>
        </p:txBody>
      </p:sp>
      <p:sp>
        <p:nvSpPr>
          <p:cNvPr id="22" name="Rectangle 21"/>
          <p:cNvSpPr/>
          <p:nvPr/>
        </p:nvSpPr>
        <p:spPr>
          <a:xfrm>
            <a:off x="6214719" y="1691640"/>
            <a:ext cx="1644853" cy="841248"/>
          </a:xfrm>
          <a:prstGeom prst="rect">
            <a:avLst/>
          </a:prstGeom>
          <a:solidFill>
            <a:srgbClr val="FFFFFF"/>
          </a:solidFill>
          <a:ln w="9525">
            <a:solidFill>
              <a:srgbClr val="E3E7EC"/>
            </a:solidFill>
          </a:ln>
          <a:effectLst/>
        </p:spPr>
        <p:txBody>
          <a:bodyPr rtlCol="0" anchor="ctr"/>
          <a:lstStyle/>
          <a:p>
            <a:pPr algn="ctr"/>
          </a:p>
        </p:txBody>
      </p:sp>
      <p:sp>
        <p:nvSpPr>
          <p:cNvPr id="23" name="Rectangle 22"/>
          <p:cNvSpPr/>
          <p:nvPr/>
        </p:nvSpPr>
        <p:spPr>
          <a:xfrm>
            <a:off x="6214719" y="1691640"/>
            <a:ext cx="1644853" cy="45720"/>
          </a:xfrm>
          <a:prstGeom prst="rect">
            <a:avLst/>
          </a:prstGeom>
          <a:solidFill>
            <a:srgbClr val="0E6B63"/>
          </a:solidFill>
          <a:ln>
            <a:noFill/>
          </a:ln>
          <a:effectLst/>
        </p:spPr>
        <p:txBody>
          <a:bodyPr rtlCol="0" anchor="ctr"/>
          <a:lstStyle/>
          <a:p>
            <a:pPr algn="ctr"/>
          </a:p>
        </p:txBody>
      </p:sp>
      <p:sp>
        <p:nvSpPr>
          <p:cNvPr id="24" name="TextBox 23"/>
          <p:cNvSpPr txBox="1"/>
          <p:nvPr/>
        </p:nvSpPr>
        <p:spPr>
          <a:xfrm>
            <a:off x="6287871" y="1865376"/>
            <a:ext cx="1498549" cy="603504"/>
          </a:xfrm>
          <a:prstGeom prst="rect">
            <a:avLst/>
          </a:prstGeom>
          <a:noFill/>
        </p:spPr>
        <p:txBody>
          <a:bodyPr wrap="square" anchor="t" lIns="0" rIns="0" tIns="0" bIns="0">
            <a:spAutoFit/>
          </a:bodyPr>
          <a:lstStyle/>
          <a:p>
            <a:pPr algn="ctr">
              <a:spcBef>
                <a:spcPts val="0"/>
              </a:spcBef>
              <a:spcAft>
                <a:spcPts val="0"/>
              </a:spcAft>
            </a:pPr>
            <a:r>
              <a:rPr sz="1050" b="1" i="0">
                <a:solidFill>
                  <a:srgbClr val="14181F"/>
                </a:solidFill>
                <a:latin typeface="Segoe UI"/>
              </a:rPr>
              <a:t>Tool call</a:t>
            </a:r>
          </a:p>
          <a:p>
            <a:pPr algn="ctr">
              <a:spcBef>
                <a:spcPts val="300"/>
              </a:spcBef>
              <a:spcAft>
                <a:spcPts val="0"/>
              </a:spcAft>
            </a:pPr>
            <a:r>
              <a:rPr sz="850" b="0" i="0">
                <a:solidFill>
                  <a:srgbClr val="7A8393"/>
                </a:solidFill>
                <a:latin typeface="Segoe UI"/>
              </a:rPr>
              <a:t>parsed from the reply</a:t>
            </a:r>
          </a:p>
        </p:txBody>
      </p:sp>
      <p:sp>
        <p:nvSpPr>
          <p:cNvPr id="25" name="Right Arrow 24"/>
          <p:cNvSpPr/>
          <p:nvPr/>
        </p:nvSpPr>
        <p:spPr>
          <a:xfrm>
            <a:off x="7896148" y="2039112"/>
            <a:ext cx="164592" cy="146304"/>
          </a:xfrm>
          <a:prstGeom prst="rightArrow">
            <a:avLst/>
          </a:prstGeom>
          <a:solidFill>
            <a:srgbClr val="C2C9D2"/>
          </a:solidFill>
          <a:ln>
            <a:noFill/>
          </a:ln>
          <a:effectLst/>
        </p:spPr>
        <p:txBody>
          <a:bodyPr rtlCol="0" anchor="ctr"/>
          <a:lstStyle/>
          <a:p>
            <a:pPr algn="ctr"/>
          </a:p>
        </p:txBody>
      </p:sp>
      <p:sp>
        <p:nvSpPr>
          <p:cNvPr id="26" name="Rectangle 25"/>
          <p:cNvSpPr/>
          <p:nvPr/>
        </p:nvSpPr>
        <p:spPr>
          <a:xfrm>
            <a:off x="8097316" y="1691640"/>
            <a:ext cx="1644853" cy="841248"/>
          </a:xfrm>
          <a:prstGeom prst="rect">
            <a:avLst/>
          </a:prstGeom>
          <a:solidFill>
            <a:srgbClr val="FFFFFF"/>
          </a:solidFill>
          <a:ln w="9525">
            <a:solidFill>
              <a:srgbClr val="E3E7EC"/>
            </a:solidFill>
          </a:ln>
          <a:effectLst/>
        </p:spPr>
        <p:txBody>
          <a:bodyPr rtlCol="0" anchor="ctr"/>
          <a:lstStyle/>
          <a:p>
            <a:pPr algn="ctr"/>
          </a:p>
        </p:txBody>
      </p:sp>
      <p:sp>
        <p:nvSpPr>
          <p:cNvPr id="27" name="Rectangle 26"/>
          <p:cNvSpPr/>
          <p:nvPr/>
        </p:nvSpPr>
        <p:spPr>
          <a:xfrm>
            <a:off x="8097316" y="1691640"/>
            <a:ext cx="1644853" cy="45720"/>
          </a:xfrm>
          <a:prstGeom prst="rect">
            <a:avLst/>
          </a:prstGeom>
          <a:solidFill>
            <a:srgbClr val="0E6B63"/>
          </a:solidFill>
          <a:ln>
            <a:noFill/>
          </a:ln>
          <a:effectLst/>
        </p:spPr>
        <p:txBody>
          <a:bodyPr rtlCol="0" anchor="ctr"/>
          <a:lstStyle/>
          <a:p>
            <a:pPr algn="ctr"/>
          </a:p>
        </p:txBody>
      </p:sp>
      <p:sp>
        <p:nvSpPr>
          <p:cNvPr id="28" name="TextBox 27"/>
          <p:cNvSpPr txBox="1"/>
          <p:nvPr/>
        </p:nvSpPr>
        <p:spPr>
          <a:xfrm>
            <a:off x="8170468" y="1865376"/>
            <a:ext cx="1498549" cy="603504"/>
          </a:xfrm>
          <a:prstGeom prst="rect">
            <a:avLst/>
          </a:prstGeom>
          <a:noFill/>
        </p:spPr>
        <p:txBody>
          <a:bodyPr wrap="square" anchor="t" lIns="0" rIns="0" tIns="0" bIns="0">
            <a:spAutoFit/>
          </a:bodyPr>
          <a:lstStyle/>
          <a:p>
            <a:pPr algn="ctr">
              <a:spcBef>
                <a:spcPts val="0"/>
              </a:spcBef>
              <a:spcAft>
                <a:spcPts val="0"/>
              </a:spcAft>
            </a:pPr>
            <a:r>
              <a:rPr sz="1050" b="1" i="0">
                <a:solidFill>
                  <a:srgbClr val="14181F"/>
                </a:solidFill>
                <a:latin typeface="Segoe UI"/>
              </a:rPr>
              <a:t>The action</a:t>
            </a:r>
          </a:p>
          <a:p>
            <a:pPr algn="ctr">
              <a:spcBef>
                <a:spcPts val="300"/>
              </a:spcBef>
              <a:spcAft>
                <a:spcPts val="0"/>
              </a:spcAft>
            </a:pPr>
            <a:r>
              <a:rPr sz="850" b="0" i="0">
                <a:solidFill>
                  <a:srgbClr val="7A8393"/>
                </a:solidFill>
                <a:latin typeface="Segoe UI"/>
              </a:rPr>
              <a:t>runs on the phone</a:t>
            </a:r>
          </a:p>
        </p:txBody>
      </p:sp>
      <p:sp>
        <p:nvSpPr>
          <p:cNvPr id="29" name="Right Arrow 28"/>
          <p:cNvSpPr/>
          <p:nvPr/>
        </p:nvSpPr>
        <p:spPr>
          <a:xfrm>
            <a:off x="9778745" y="2039112"/>
            <a:ext cx="164592" cy="146304"/>
          </a:xfrm>
          <a:prstGeom prst="rightArrow">
            <a:avLst/>
          </a:prstGeom>
          <a:solidFill>
            <a:srgbClr val="C2C9D2"/>
          </a:solidFill>
          <a:ln>
            <a:noFill/>
          </a:ln>
          <a:effectLst/>
        </p:spPr>
        <p:txBody>
          <a:bodyPr rtlCol="0" anchor="ctr"/>
          <a:lstStyle/>
          <a:p>
            <a:pPr algn="ctr"/>
          </a:p>
        </p:txBody>
      </p:sp>
      <p:sp>
        <p:nvSpPr>
          <p:cNvPr id="30" name="Rectangle 29"/>
          <p:cNvSpPr/>
          <p:nvPr/>
        </p:nvSpPr>
        <p:spPr>
          <a:xfrm>
            <a:off x="9979913" y="1691640"/>
            <a:ext cx="1644853" cy="841248"/>
          </a:xfrm>
          <a:prstGeom prst="rect">
            <a:avLst/>
          </a:prstGeom>
          <a:solidFill>
            <a:srgbClr val="FFFFFF"/>
          </a:solidFill>
          <a:ln w="9525">
            <a:solidFill>
              <a:srgbClr val="E3E7EC"/>
            </a:solidFill>
          </a:ln>
          <a:effectLst/>
        </p:spPr>
        <p:txBody>
          <a:bodyPr rtlCol="0" anchor="ctr"/>
          <a:lstStyle/>
          <a:p>
            <a:pPr algn="ctr"/>
          </a:p>
        </p:txBody>
      </p:sp>
      <p:sp>
        <p:nvSpPr>
          <p:cNvPr id="31" name="Rectangle 30"/>
          <p:cNvSpPr/>
          <p:nvPr/>
        </p:nvSpPr>
        <p:spPr>
          <a:xfrm>
            <a:off x="9979913" y="1691640"/>
            <a:ext cx="1644853" cy="45720"/>
          </a:xfrm>
          <a:prstGeom prst="rect">
            <a:avLst/>
          </a:prstGeom>
          <a:solidFill>
            <a:srgbClr val="0E6B63"/>
          </a:solidFill>
          <a:ln>
            <a:noFill/>
          </a:ln>
          <a:effectLst/>
        </p:spPr>
        <p:txBody>
          <a:bodyPr rtlCol="0" anchor="ctr"/>
          <a:lstStyle/>
          <a:p>
            <a:pPr algn="ctr"/>
          </a:p>
        </p:txBody>
      </p:sp>
      <p:sp>
        <p:nvSpPr>
          <p:cNvPr id="32" name="TextBox 31"/>
          <p:cNvSpPr txBox="1"/>
          <p:nvPr/>
        </p:nvSpPr>
        <p:spPr>
          <a:xfrm>
            <a:off x="10053065" y="1865376"/>
            <a:ext cx="1498549" cy="603504"/>
          </a:xfrm>
          <a:prstGeom prst="rect">
            <a:avLst/>
          </a:prstGeom>
          <a:noFill/>
        </p:spPr>
        <p:txBody>
          <a:bodyPr wrap="square" anchor="t" lIns="0" rIns="0" tIns="0" bIns="0">
            <a:spAutoFit/>
          </a:bodyPr>
          <a:lstStyle/>
          <a:p>
            <a:pPr algn="ctr">
              <a:spcBef>
                <a:spcPts val="0"/>
              </a:spcBef>
              <a:spcAft>
                <a:spcPts val="0"/>
              </a:spcAft>
            </a:pPr>
            <a:r>
              <a:rPr sz="1050" b="1" i="0">
                <a:solidFill>
                  <a:srgbClr val="14181F"/>
                </a:solidFill>
                <a:latin typeface="Segoe UI"/>
              </a:rPr>
              <a:t>Reply</a:t>
            </a:r>
          </a:p>
          <a:p>
            <a:pPr algn="ctr">
              <a:spcBef>
                <a:spcPts val="300"/>
              </a:spcBef>
              <a:spcAft>
                <a:spcPts val="0"/>
              </a:spcAft>
            </a:pPr>
            <a:r>
              <a:rPr sz="850" b="0" i="0">
                <a:solidFill>
                  <a:srgbClr val="7A8393"/>
                </a:solidFill>
                <a:latin typeface="Segoe UI"/>
              </a:rPr>
              <a:t>bubble or rich card</a:t>
            </a:r>
          </a:p>
        </p:txBody>
      </p:sp>
      <p:graphicFrame>
        <p:nvGraphicFramePr>
          <p:cNvPr id="33" name="Table 32"/>
          <p:cNvGraphicFramePr>
            <a:graphicFrameLocks noGrp="1"/>
          </p:cNvGraphicFramePr>
          <p:nvPr/>
        </p:nvGraphicFramePr>
        <p:xfrm>
          <a:off x="566928" y="3017520"/>
          <a:ext cx="11055096" cy="2267712"/>
        </p:xfrm>
        <a:graphic>
          <a:graphicData uri="http://schemas.openxmlformats.org/drawingml/2006/table">
            <a:tbl>
              <a:tblPr firstRow="1" bandRow="1">
                <a:tableStyleId>{5C22544A-7EE6-4342-B048-85BDC9FD1C3A}</a:tableStyleId>
              </a:tblPr>
              <a:tblGrid>
                <a:gridCol w="1691640"/>
                <a:gridCol w="5532120"/>
                <a:gridCol w="1508760"/>
                <a:gridCol w="2322576"/>
              </a:tblGrid>
              <a:tr h="566928">
                <a:tc>
                  <a:txBody>
                    <a:bodyPr/>
                    <a:lstStyle/>
                    <a:p>
                      <a:pPr algn="l">
                        <a:spcBef>
                          <a:spcPts val="0"/>
                        </a:spcBef>
                        <a:spcAft>
                          <a:spcPts val="0"/>
                        </a:spcAft>
                      </a:pPr>
                      <a:r>
                        <a:rPr sz="1000" b="1" i="0">
                          <a:solidFill>
                            <a:srgbClr val="FFFFFF"/>
                          </a:solidFill>
                          <a:latin typeface="Segoe UI"/>
                        </a:rPr>
                        <a:t>Tier</a:t>
                      </a:r>
                    </a:p>
                  </a:txBody>
                  <a:tcPr marL="109728" marR="109728" anchor="ctr">
                    <a:solidFill>
                      <a:srgbClr val="0E6B63"/>
                    </a:solidFill>
                  </a:tcPr>
                </a:tc>
                <a:tc>
                  <a:txBody>
                    <a:bodyPr/>
                    <a:lstStyle/>
                    <a:p>
                      <a:pPr algn="l">
                        <a:spcBef>
                          <a:spcPts val="0"/>
                        </a:spcBef>
                        <a:spcAft>
                          <a:spcPts val="0"/>
                        </a:spcAft>
                      </a:pPr>
                      <a:r>
                        <a:rPr sz="1000" b="1" i="0">
                          <a:solidFill>
                            <a:srgbClr val="FFFFFF"/>
                          </a:solidFill>
                          <a:latin typeface="Segoe UI"/>
                        </a:rPr>
                        <a:t>When it runs</a:t>
                      </a:r>
                    </a:p>
                  </a:txBody>
                  <a:tcPr marL="109728" marR="109728" anchor="ctr">
                    <a:solidFill>
                      <a:srgbClr val="0E6B63"/>
                    </a:solidFill>
                  </a:tcPr>
                </a:tc>
                <a:tc>
                  <a:txBody>
                    <a:bodyPr/>
                    <a:lstStyle/>
                    <a:p>
                      <a:pPr algn="l">
                        <a:spcBef>
                          <a:spcPts val="0"/>
                        </a:spcBef>
                        <a:spcAft>
                          <a:spcPts val="0"/>
                        </a:spcAft>
                      </a:pPr>
                      <a:r>
                        <a:rPr sz="1000" b="1" i="0">
                          <a:solidFill>
                            <a:srgbClr val="FFFFFF"/>
                          </a:solidFill>
                          <a:latin typeface="Segoe UI"/>
                        </a:rPr>
                        <a:t>Speed</a:t>
                      </a:r>
                    </a:p>
                  </a:txBody>
                  <a:tcPr marL="109728" marR="109728" anchor="ctr">
                    <a:solidFill>
                      <a:srgbClr val="0E6B63"/>
                    </a:solidFill>
                  </a:tcPr>
                </a:tc>
                <a:tc>
                  <a:txBody>
                    <a:bodyPr/>
                    <a:lstStyle/>
                    <a:p>
                      <a:pPr algn="l">
                        <a:spcBef>
                          <a:spcPts val="0"/>
                        </a:spcBef>
                        <a:spcAft>
                          <a:spcPts val="0"/>
                        </a:spcAft>
                      </a:pPr>
                      <a:r>
                        <a:rPr sz="1000" b="1" i="0">
                          <a:solidFill>
                            <a:srgbClr val="FFFFFF"/>
                          </a:solidFill>
                          <a:latin typeface="Segoe UI"/>
                        </a:rPr>
                        <a:t>Needs the model?</a:t>
                      </a:r>
                    </a:p>
                  </a:txBody>
                  <a:tcPr marL="109728" marR="109728" anchor="ctr">
                    <a:solidFill>
                      <a:srgbClr val="0E6B63"/>
                    </a:solidFill>
                  </a:tcPr>
                </a:tc>
              </a:tr>
              <a:tr h="566928">
                <a:tc>
                  <a:txBody>
                    <a:bodyPr/>
                    <a:lstStyle/>
                    <a:p>
                      <a:pPr algn="l">
                        <a:spcBef>
                          <a:spcPts val="0"/>
                        </a:spcBef>
                        <a:spcAft>
                          <a:spcPts val="0"/>
                        </a:spcAft>
                      </a:pPr>
                      <a:r>
                        <a:rPr sz="1000" b="1" i="0">
                          <a:solidFill>
                            <a:srgbClr val="14181F"/>
                          </a:solidFill>
                          <a:latin typeface="Segoe UI"/>
                        </a:rPr>
                        <a:t>Fast path</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The phrase matches one of 15 intent rules - greetings, flashlight, battery, tasks, weather, timers, search</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Instant</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No</a:t>
                      </a:r>
                    </a:p>
                  </a:txBody>
                  <a:tcPr marL="109728" marR="109728" anchor="ctr">
                    <a:solidFill>
                      <a:srgbClr val="FFFFFF"/>
                    </a:solidFill>
                  </a:tcPr>
                </a:tc>
              </a:tr>
              <a:tr h="566928">
                <a:tc>
                  <a:txBody>
                    <a:bodyPr/>
                    <a:lstStyle/>
                    <a:p>
                      <a:pPr algn="l">
                        <a:spcBef>
                          <a:spcPts val="0"/>
                        </a:spcBef>
                        <a:spcAft>
                          <a:spcPts val="0"/>
                        </a:spcAft>
                      </a:pPr>
                      <a:r>
                        <a:rPr sz="1000" b="1" i="0">
                          <a:solidFill>
                            <a:srgbClr val="14181F"/>
                          </a:solidFill>
                          <a:latin typeface="Segoe UI"/>
                        </a:rPr>
                        <a:t>On-device model</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Anything else: free conversation, or an action phrased in a way the rules did not anticipate</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1-10 s on CPU</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Yes - must be downloaded</a:t>
                      </a:r>
                    </a:p>
                  </a:txBody>
                  <a:tcPr marL="109728" marR="109728" anchor="ctr">
                    <a:solidFill>
                      <a:srgbClr val="F6F8FA"/>
                    </a:solidFill>
                  </a:tcPr>
                </a:tc>
              </a:tr>
              <a:tr h="566928">
                <a:tc>
                  <a:txBody>
                    <a:bodyPr/>
                    <a:lstStyle/>
                    <a:p>
                      <a:pPr algn="l">
                        <a:spcBef>
                          <a:spcPts val="0"/>
                        </a:spcBef>
                        <a:spcAft>
                          <a:spcPts val="0"/>
                        </a:spcAft>
                      </a:pPr>
                      <a:r>
                        <a:rPr sz="1000" b="1" i="0">
                          <a:solidFill>
                            <a:srgbClr val="14181F"/>
                          </a:solidFill>
                          <a:latin typeface="Segoe UI"/>
                        </a:rPr>
                        <a:t>Cloud escalation</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Plan My Day and Telegram sync only, and only when a key was built in; silently falls back to on-device</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1-3 s</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No - falls back to it</a:t>
                      </a:r>
                    </a:p>
                  </a:txBody>
                  <a:tcPr marL="109728" marR="109728" anchor="ctr">
                    <a:solidFill>
                      <a:srgbClr val="FFFFFF"/>
                    </a:solidFill>
                  </a:tcPr>
                </a:tc>
              </a:tr>
            </a:tbl>
          </a:graphicData>
        </a:graphic>
      </p:graphicFrame>
      <p:sp>
        <p:nvSpPr>
          <p:cNvPr id="34" name="Rectangle 33"/>
          <p:cNvSpPr/>
          <p:nvPr/>
        </p:nvSpPr>
        <p:spPr>
          <a:xfrm>
            <a:off x="566928" y="5349240"/>
            <a:ext cx="11057839" cy="644652"/>
          </a:xfrm>
          <a:prstGeom prst="rect">
            <a:avLst/>
          </a:prstGeom>
          <a:solidFill>
            <a:srgbClr val="F4F6F9"/>
          </a:solidFill>
          <a:ln>
            <a:noFill/>
          </a:ln>
          <a:effectLst/>
        </p:spPr>
        <p:txBody>
          <a:bodyPr rtlCol="0" anchor="ctr"/>
          <a:lstStyle/>
          <a:p>
            <a:pPr algn="ctr"/>
          </a:p>
        </p:txBody>
      </p:sp>
      <p:sp>
        <p:nvSpPr>
          <p:cNvPr id="35" name="Rectangle 34"/>
          <p:cNvSpPr/>
          <p:nvPr/>
        </p:nvSpPr>
        <p:spPr>
          <a:xfrm>
            <a:off x="566928" y="5349240"/>
            <a:ext cx="41148" cy="644652"/>
          </a:xfrm>
          <a:prstGeom prst="rect">
            <a:avLst/>
          </a:prstGeom>
          <a:solidFill>
            <a:srgbClr val="0E6B63"/>
          </a:solidFill>
          <a:ln>
            <a:noFill/>
          </a:ln>
          <a:effectLst/>
        </p:spPr>
        <p:txBody>
          <a:bodyPr rtlCol="0" anchor="ctr"/>
          <a:lstStyle/>
          <a:p>
            <a:pPr algn="ctr"/>
          </a:p>
        </p:txBody>
      </p:sp>
      <p:sp>
        <p:nvSpPr>
          <p:cNvPr id="36" name="TextBox 35"/>
          <p:cNvSpPr txBox="1"/>
          <p:nvPr/>
        </p:nvSpPr>
        <p:spPr>
          <a:xfrm>
            <a:off x="768096" y="5458968"/>
            <a:ext cx="10673791" cy="461772"/>
          </a:xfrm>
          <a:prstGeom prst="rect">
            <a:avLst/>
          </a:prstGeom>
          <a:noFill/>
        </p:spPr>
        <p:txBody>
          <a:bodyPr wrap="square" anchor="t" lIns="0" rIns="0" tIns="0" bIns="0">
            <a:spAutoFit/>
          </a:bodyPr>
          <a:lstStyle/>
          <a:p>
            <a:pPr algn="l">
              <a:spcBef>
                <a:spcPts val="0"/>
              </a:spcBef>
              <a:spcAft>
                <a:spcPts val="0"/>
              </a:spcAft>
            </a:pPr>
            <a:r>
              <a:rPr sz="1200" b="1" i="0">
                <a:solidFill>
                  <a:srgbClr val="0E6B63"/>
                </a:solidFill>
                <a:latin typeface="Segoe UI"/>
              </a:rPr>
              <a:t>Why it is built this way</a:t>
            </a:r>
          </a:p>
          <a:p>
            <a:pPr algn="l">
              <a:spcBef>
                <a:spcPts val="300"/>
              </a:spcBef>
              <a:spcAft>
                <a:spcPts val="0"/>
              </a:spcAft>
            </a:pPr>
            <a:r>
              <a:rPr sz="1100" b="0" i="0">
                <a:solidFill>
                  <a:srgbClr val="3C4450"/>
                </a:solidFill>
                <a:latin typeface="Segoe UI"/>
              </a:rPr>
              <a:t>A 1-billion-parameter model on a phone CPU is slow and occasionally wrong. Routing the obvious commands around it makes the common case instant and leaves the model for what only it can 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3E4C8A"/>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Sign up</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3E4C8A"/>
                </a:solidFill>
                <a:latin typeface="Segoe UI"/>
              </a:rPr>
              <a:t>3</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3E4C8A"/>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01</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3E4C8A"/>
                </a:solidFill>
                <a:latin typeface="Segoe UI"/>
              </a:rPr>
              <a:t>GETTING STARTED</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Create an account</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There is no server and no verification email - the account is made and checked entirely on the device.</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3E4C8A"/>
                </a:solidFill>
                <a:latin typeface="Segoe UI"/>
              </a:rPr>
              <a:t>User</a:t>
            </a:r>
          </a:p>
        </p:txBody>
      </p:sp>
      <p:pic>
        <p:nvPicPr>
          <p:cNvPr id="14" name="Picture 13" descr="SignUp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Splash</a:t>
            </a:r>
          </a:p>
        </p:txBody>
      </p:sp>
      <p:pic>
        <p:nvPicPr>
          <p:cNvPr id="17" name="Picture 16" descr="SignUp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Empty form</a:t>
            </a:r>
          </a:p>
        </p:txBody>
      </p:sp>
      <p:pic>
        <p:nvPicPr>
          <p:cNvPr id="20" name="Picture 19" descr="SignUp3.jpg"/>
          <p:cNvPicPr>
            <a:picLocks noChangeAspect="1"/>
          </p:cNvPicPr>
          <p:nvPr/>
        </p:nvPicPr>
        <p:blipFill>
          <a:blip r:embed="rId4"/>
          <a:stretch>
            <a:fillRect/>
          </a:stretch>
        </p:blipFill>
        <p:spPr>
          <a:xfrm>
            <a:off x="4808762" y="1572768"/>
            <a:ext cx="1675316" cy="4069080"/>
          </a:xfrm>
          <a:prstGeom prst="rect">
            <a:avLst/>
          </a:prstGeom>
        </p:spPr>
      </p:pic>
      <p:sp>
        <p:nvSpPr>
          <p:cNvPr id="21" name="Rectangle 20"/>
          <p:cNvSpPr/>
          <p:nvPr/>
        </p:nvSpPr>
        <p:spPr>
          <a:xfrm>
            <a:off x="4808762" y="1572768"/>
            <a:ext cx="1675316" cy="4069080"/>
          </a:xfrm>
          <a:prstGeom prst="rect">
            <a:avLst/>
          </a:prstGeom>
          <a:noFill/>
          <a:ln w="9525">
            <a:solidFill>
              <a:srgbClr val="D6DCE3"/>
            </a:solidFill>
          </a:ln>
          <a:effectLst/>
        </p:spPr>
        <p:txBody>
          <a:bodyPr rtlCol="0" anchor="ctr"/>
          <a:lstStyle/>
          <a:p>
            <a:pPr algn="ctr"/>
          </a:p>
        </p:txBody>
      </p:sp>
      <p:sp>
        <p:nvSpPr>
          <p:cNvPr id="22" name="TextBox 21"/>
          <p:cNvSpPr txBox="1"/>
          <p:nvPr/>
        </p:nvSpPr>
        <p:spPr>
          <a:xfrm>
            <a:off x="4754880"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Ready to submit</a:t>
            </a:r>
          </a:p>
        </p:txBody>
      </p:sp>
      <p:sp>
        <p:nvSpPr>
          <p:cNvPr id="23" name="Rounded Rectangle 22"/>
          <p:cNvSpPr/>
          <p:nvPr/>
        </p:nvSpPr>
        <p:spPr>
          <a:xfrm>
            <a:off x="745236" y="4641864"/>
            <a:ext cx="1426464" cy="236921"/>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617220" y="4632308"/>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617220" y="4636880"/>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6" name="Rounded Rectangle 25"/>
          <p:cNvSpPr/>
          <p:nvPr/>
        </p:nvSpPr>
        <p:spPr>
          <a:xfrm>
            <a:off x="4909280" y="4209531"/>
            <a:ext cx="1474278" cy="170901"/>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7" name="Oval 26"/>
          <p:cNvSpPr/>
          <p:nvPr/>
        </p:nvSpPr>
        <p:spPr>
          <a:xfrm>
            <a:off x="4781264" y="4166965"/>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8" name="TextBox 27"/>
          <p:cNvSpPr txBox="1"/>
          <p:nvPr/>
        </p:nvSpPr>
        <p:spPr>
          <a:xfrm>
            <a:off x="4781264" y="4171537"/>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3</a:t>
            </a:r>
          </a:p>
        </p:txBody>
      </p:sp>
      <p:sp>
        <p:nvSpPr>
          <p:cNvPr id="29" name="Oval 28"/>
          <p:cNvSpPr/>
          <p:nvPr/>
        </p:nvSpPr>
        <p:spPr>
          <a:xfrm>
            <a:off x="6940296" y="159105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6940296"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31" name="TextBox 30"/>
          <p:cNvSpPr txBox="1"/>
          <p:nvPr/>
        </p:nvSpPr>
        <p:spPr>
          <a:xfrm>
            <a:off x="7360920" y="1572768"/>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Get Started on the splash screen</a:t>
            </a:r>
          </a:p>
          <a:p>
            <a:pPr algn="l">
              <a:spcBef>
                <a:spcPts val="200"/>
              </a:spcBef>
              <a:spcAft>
                <a:spcPts val="0"/>
              </a:spcAft>
            </a:pPr>
            <a:r>
              <a:rPr sz="1200" b="0" i="0">
                <a:solidFill>
                  <a:srgbClr val="3C4450"/>
                </a:solidFill>
                <a:latin typeface="Segoe UI"/>
              </a:rPr>
              <a:t>Already registered on this phone? Use the Login link underneath it instead.</a:t>
            </a:r>
          </a:p>
        </p:txBody>
      </p:sp>
      <p:sp>
        <p:nvSpPr>
          <p:cNvPr id="32" name="Oval 31"/>
          <p:cNvSpPr/>
          <p:nvPr/>
        </p:nvSpPr>
        <p:spPr>
          <a:xfrm>
            <a:off x="6940296" y="2326232"/>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6940296"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4" name="TextBox 33"/>
          <p:cNvSpPr txBox="1"/>
          <p:nvPr/>
        </p:nvSpPr>
        <p:spPr>
          <a:xfrm>
            <a:off x="7360920" y="2307944"/>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Fill in your name, email and password</a:t>
            </a:r>
          </a:p>
          <a:p>
            <a:pPr algn="l">
              <a:spcBef>
                <a:spcPts val="200"/>
              </a:spcBef>
              <a:spcAft>
                <a:spcPts val="0"/>
              </a:spcAft>
            </a:pPr>
            <a:r>
              <a:rPr sz="1200" b="0" i="0">
                <a:solidFill>
                  <a:srgbClr val="3C4450"/>
                </a:solidFill>
                <a:latin typeface="Segoe UI"/>
              </a:rPr>
              <a:t>The password needs at least 6 characters, and Confirm Password has to match it exactly.</a:t>
            </a:r>
          </a:p>
        </p:txBody>
      </p:sp>
      <p:sp>
        <p:nvSpPr>
          <p:cNvPr id="35" name="Oval 34"/>
          <p:cNvSpPr/>
          <p:nvPr/>
        </p:nvSpPr>
        <p:spPr>
          <a:xfrm>
            <a:off x="6940296" y="3061408"/>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6940296" y="306598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7" name="TextBox 36"/>
          <p:cNvSpPr txBox="1"/>
          <p:nvPr/>
        </p:nvSpPr>
        <p:spPr>
          <a:xfrm>
            <a:off x="7360920" y="3043120"/>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Tick the Terms of Service box</a:t>
            </a:r>
          </a:p>
          <a:p>
            <a:pPr algn="l">
              <a:spcBef>
                <a:spcPts val="200"/>
              </a:spcBef>
              <a:spcAft>
                <a:spcPts val="0"/>
              </a:spcAft>
            </a:pPr>
            <a:r>
              <a:rPr sz="1200" b="0" i="0">
                <a:solidFill>
                  <a:srgbClr val="3C4450"/>
                </a:solidFill>
                <a:latin typeface="Segoe UI"/>
              </a:rPr>
              <a:t>Create Account stays greyed out until you do - sign-up is refused without consent.</a:t>
            </a:r>
          </a:p>
        </p:txBody>
      </p:sp>
      <p:sp>
        <p:nvSpPr>
          <p:cNvPr id="38" name="Oval 37"/>
          <p:cNvSpPr/>
          <p:nvPr/>
        </p:nvSpPr>
        <p:spPr>
          <a:xfrm>
            <a:off x="6940296" y="3796584"/>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6940296" y="380115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40" name="TextBox 39"/>
          <p:cNvSpPr txBox="1"/>
          <p:nvPr/>
        </p:nvSpPr>
        <p:spPr>
          <a:xfrm>
            <a:off x="7360920" y="3778296"/>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Create Account</a:t>
            </a:r>
          </a:p>
          <a:p>
            <a:pPr algn="l">
              <a:spcBef>
                <a:spcPts val="200"/>
              </a:spcBef>
              <a:spcAft>
                <a:spcPts val="0"/>
              </a:spcAft>
            </a:pPr>
            <a:r>
              <a:rPr sz="1200" b="0" i="0">
                <a:solidFill>
                  <a:srgbClr val="3C4450"/>
                </a:solidFill>
                <a:latin typeface="Segoe UI"/>
              </a:rPr>
              <a:t>No confirmation code arrives, because there is no mail server. You are signed straight in and land on Home.</a:t>
            </a:r>
          </a:p>
        </p:txBody>
      </p:sp>
      <p:sp>
        <p:nvSpPr>
          <p:cNvPr id="41" name="Rectangle 40"/>
          <p:cNvSpPr/>
          <p:nvPr/>
        </p:nvSpPr>
        <p:spPr>
          <a:xfrm>
            <a:off x="6940296" y="4617720"/>
            <a:ext cx="4684471" cy="832104"/>
          </a:xfrm>
          <a:prstGeom prst="rect">
            <a:avLst/>
          </a:prstGeom>
          <a:solidFill>
            <a:srgbClr val="F4F6F9"/>
          </a:solidFill>
          <a:ln>
            <a:noFill/>
          </a:ln>
          <a:effectLst/>
        </p:spPr>
        <p:txBody>
          <a:bodyPr rtlCol="0" anchor="ctr"/>
          <a:lstStyle/>
          <a:p>
            <a:pPr algn="ctr"/>
          </a:p>
        </p:txBody>
      </p:sp>
      <p:sp>
        <p:nvSpPr>
          <p:cNvPr id="42" name="Rectangle 41"/>
          <p:cNvSpPr/>
          <p:nvPr/>
        </p:nvSpPr>
        <p:spPr>
          <a:xfrm>
            <a:off x="6940296" y="4617720"/>
            <a:ext cx="41148" cy="832104"/>
          </a:xfrm>
          <a:prstGeom prst="rect">
            <a:avLst/>
          </a:prstGeom>
          <a:solidFill>
            <a:srgbClr val="3E4C8A"/>
          </a:solidFill>
          <a:ln>
            <a:noFill/>
          </a:ln>
          <a:effectLst/>
        </p:spPr>
        <p:txBody>
          <a:bodyPr rtlCol="0" anchor="ctr"/>
          <a:lstStyle/>
          <a:p>
            <a:pPr algn="ctr"/>
          </a:p>
        </p:txBody>
      </p:sp>
      <p:sp>
        <p:nvSpPr>
          <p:cNvPr id="43" name="TextBox 42"/>
          <p:cNvSpPr txBox="1"/>
          <p:nvPr/>
        </p:nvSpPr>
        <p:spPr>
          <a:xfrm>
            <a:off x="7141464" y="4727448"/>
            <a:ext cx="4300423" cy="649224"/>
          </a:xfrm>
          <a:prstGeom prst="rect">
            <a:avLst/>
          </a:prstGeom>
          <a:noFill/>
        </p:spPr>
        <p:txBody>
          <a:bodyPr wrap="square" anchor="t" lIns="0" rIns="0" tIns="0" bIns="0">
            <a:spAutoFit/>
          </a:bodyPr>
          <a:lstStyle/>
          <a:p>
            <a:pPr algn="l">
              <a:spcBef>
                <a:spcPts val="0"/>
              </a:spcBef>
              <a:spcAft>
                <a:spcPts val="0"/>
              </a:spcAft>
            </a:pPr>
            <a:r>
              <a:rPr sz="1200" b="1" i="0">
                <a:solidFill>
                  <a:srgbClr val="3E4C8A"/>
                </a:solidFill>
                <a:latin typeface="Segoe UI"/>
              </a:rPr>
              <a:t>The Google and Facebook buttons do nothing</a:t>
            </a:r>
          </a:p>
          <a:p>
            <a:pPr algn="l">
              <a:spcBef>
                <a:spcPts val="300"/>
              </a:spcBef>
              <a:spcAft>
                <a:spcPts val="0"/>
              </a:spcAft>
            </a:pPr>
            <a:r>
              <a:rPr sz="1100" b="0" i="0">
                <a:solidFill>
                  <a:srgbClr val="3C4450"/>
                </a:solidFill>
                <a:latin typeface="Segoe UI"/>
              </a:rPr>
              <a:t>They are leftover UI from the design mock-up, as is Forgot Password. Use email and password.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3E4C8A"/>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Log in</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3E4C8A"/>
                </a:solidFill>
                <a:latin typeface="Segoe UI"/>
              </a:rPr>
              <a:t>4</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3E4C8A"/>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02</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3E4C8A"/>
                </a:solidFill>
                <a:latin typeface="Segoe UI"/>
              </a:rPr>
              <a:t>GETTING STARTED</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Log in</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Only needed after you sign out - otherwise Pico keeps you signed in between launches.</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3E4C8A"/>
                </a:solidFill>
                <a:latin typeface="Segoe UI"/>
              </a:rPr>
              <a:t>User</a:t>
            </a:r>
          </a:p>
        </p:txBody>
      </p:sp>
      <p:pic>
        <p:nvPicPr>
          <p:cNvPr id="14" name="Picture 13" descr="SignUp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Splash</a:t>
            </a:r>
          </a:p>
        </p:txBody>
      </p:sp>
      <p:pic>
        <p:nvPicPr>
          <p:cNvPr id="17" name="Picture 16" descr="Login2.jpg"/>
          <p:cNvPicPr>
            <a:picLocks noChangeAspect="1"/>
          </p:cNvPicPr>
          <p:nvPr/>
        </p:nvPicPr>
        <p:blipFill>
          <a:blip r:embed="rId3"/>
          <a:stretch>
            <a:fillRect/>
          </a:stretch>
        </p:blipFill>
        <p:spPr>
          <a:xfrm>
            <a:off x="2660904" y="1636373"/>
            <a:ext cx="1783080" cy="3941869"/>
          </a:xfrm>
          <a:prstGeom prst="rect">
            <a:avLst/>
          </a:prstGeom>
        </p:spPr>
      </p:pic>
      <p:sp>
        <p:nvSpPr>
          <p:cNvPr id="18" name="Rectangle 17"/>
          <p:cNvSpPr/>
          <p:nvPr/>
        </p:nvSpPr>
        <p:spPr>
          <a:xfrm>
            <a:off x="2660904" y="1636373"/>
            <a:ext cx="1783080" cy="394186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Welcome Back</a:t>
            </a:r>
          </a:p>
        </p:txBody>
      </p:sp>
      <p:sp>
        <p:nvSpPr>
          <p:cNvPr id="20" name="Rounded Rectangle 19"/>
          <p:cNvSpPr/>
          <p:nvPr/>
        </p:nvSpPr>
        <p:spPr>
          <a:xfrm>
            <a:off x="887882" y="4878785"/>
            <a:ext cx="1141171" cy="165844"/>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759866" y="4833691"/>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759866" y="4838263"/>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Oval 22"/>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4" name="TextBox 23"/>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5" name="TextBox 24"/>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From the splash screen, tap Login</a:t>
            </a:r>
          </a:p>
          <a:p>
            <a:pPr algn="l">
              <a:spcBef>
                <a:spcPts val="200"/>
              </a:spcBef>
              <a:spcAft>
                <a:spcPts val="0"/>
              </a:spcAft>
            </a:pPr>
            <a:r>
              <a:rPr sz="1200" b="0" i="0">
                <a:solidFill>
                  <a:srgbClr val="3C4450"/>
                </a:solidFill>
                <a:latin typeface="Segoe UI"/>
              </a:rPr>
              <a:t>Underneath Get Started, on the "Already have an account?" line.</a:t>
            </a:r>
          </a:p>
        </p:txBody>
      </p:sp>
      <p:sp>
        <p:nvSpPr>
          <p:cNvPr id="26" name="Oval 25"/>
          <p:cNvSpPr/>
          <p:nvPr/>
        </p:nvSpPr>
        <p:spPr>
          <a:xfrm>
            <a:off x="4846320" y="2123236"/>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212780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28" name="TextBox 27"/>
          <p:cNvSpPr txBox="1"/>
          <p:nvPr/>
        </p:nvSpPr>
        <p:spPr>
          <a:xfrm>
            <a:off x="5266944" y="210494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Enter the email you registered with</a:t>
            </a:r>
          </a:p>
          <a:p>
            <a:pPr algn="l">
              <a:spcBef>
                <a:spcPts val="200"/>
              </a:spcBef>
              <a:spcAft>
                <a:spcPts val="0"/>
              </a:spcAft>
            </a:pPr>
            <a:r>
              <a:rPr sz="1200" b="0" i="0">
                <a:solidFill>
                  <a:srgbClr val="3C4450"/>
                </a:solidFill>
                <a:latin typeface="Segoe UI"/>
              </a:rPr>
              <a:t>Matching ignores capitalisation, so the exact case does not matter.</a:t>
            </a:r>
          </a:p>
        </p:txBody>
      </p:sp>
      <p:sp>
        <p:nvSpPr>
          <p:cNvPr id="29" name="Oval 28"/>
          <p:cNvSpPr/>
          <p:nvPr/>
        </p:nvSpPr>
        <p:spPr>
          <a:xfrm>
            <a:off x="4846320" y="265541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265998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1" name="TextBox 30"/>
          <p:cNvSpPr txBox="1"/>
          <p:nvPr/>
        </p:nvSpPr>
        <p:spPr>
          <a:xfrm>
            <a:off x="5266944" y="263712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Type your password - the eye reveals it</a:t>
            </a:r>
          </a:p>
          <a:p>
            <a:pPr algn="l">
              <a:spcBef>
                <a:spcPts val="200"/>
              </a:spcBef>
              <a:spcAft>
                <a:spcPts val="0"/>
              </a:spcAft>
            </a:pPr>
            <a:r>
              <a:rPr sz="1200" b="0" i="0">
                <a:solidFill>
                  <a:srgbClr val="3C4450"/>
                </a:solidFill>
                <a:latin typeface="Segoe UI"/>
              </a:rPr>
              <a:t>Useful for checking a long password before submitting it.</a:t>
            </a:r>
          </a:p>
        </p:txBody>
      </p:sp>
      <p:sp>
        <p:nvSpPr>
          <p:cNvPr id="32" name="Oval 31"/>
          <p:cNvSpPr/>
          <p:nvPr/>
        </p:nvSpPr>
        <p:spPr>
          <a:xfrm>
            <a:off x="4846320" y="3187596"/>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319216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4" name="TextBox 33"/>
          <p:cNvSpPr txBox="1"/>
          <p:nvPr/>
        </p:nvSpPr>
        <p:spPr>
          <a:xfrm>
            <a:off x="5266944" y="316930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Log In</a:t>
            </a:r>
          </a:p>
          <a:p>
            <a:pPr algn="l">
              <a:spcBef>
                <a:spcPts val="200"/>
              </a:spcBef>
              <a:spcAft>
                <a:spcPts val="0"/>
              </a:spcAft>
            </a:pPr>
            <a:r>
              <a:rPr sz="1200" b="0" i="0">
                <a:solidFill>
                  <a:srgbClr val="3C4450"/>
                </a:solidFill>
                <a:latin typeface="Segoe UI"/>
              </a:rPr>
              <a:t>A wrong email or password raises "Invalid email or password". Since accounts live only on this phone, one created on another device will not be found here.</a:t>
            </a:r>
          </a:p>
        </p:txBody>
      </p:sp>
      <p:sp>
        <p:nvSpPr>
          <p:cNvPr id="35" name="Oval 34"/>
          <p:cNvSpPr/>
          <p:nvPr/>
        </p:nvSpPr>
        <p:spPr>
          <a:xfrm>
            <a:off x="4846320" y="3922772"/>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4846320" y="392734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37" name="TextBox 36"/>
          <p:cNvSpPr txBox="1"/>
          <p:nvPr/>
        </p:nvSpPr>
        <p:spPr>
          <a:xfrm>
            <a:off x="5266944" y="390448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You stay signed in from then on</a:t>
            </a:r>
          </a:p>
          <a:p>
            <a:pPr algn="l">
              <a:spcBef>
                <a:spcPts val="200"/>
              </a:spcBef>
              <a:spcAft>
                <a:spcPts val="0"/>
              </a:spcAft>
            </a:pPr>
            <a:r>
              <a:rPr sz="1200" b="0" i="0">
                <a:solidFill>
                  <a:srgbClr val="3C4450"/>
                </a:solidFill>
                <a:latin typeface="Segoe UI"/>
              </a:rPr>
              <a:t>The session is held in encrypted storage and survives restarts. Only Profile &gt; Sign Out ends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3B5568"/>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Dark mode</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3B5568"/>
                </a:solidFill>
                <a:latin typeface="Segoe UI"/>
              </a:rPr>
              <a:t>5</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3B5568"/>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03</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3B5568"/>
                </a:solidFill>
                <a:latin typeface="Segoe UI"/>
              </a:rPr>
              <a:t>SETTINGS</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Switch to dark mode</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One switch in Profile, applied across the app the moment you flip it.</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3B5568"/>
                </a:solidFill>
                <a:latin typeface="Segoe UI"/>
              </a:rPr>
              <a:t>User</a:t>
            </a:r>
          </a:p>
        </p:txBody>
      </p:sp>
      <p:pic>
        <p:nvPicPr>
          <p:cNvPr id="14" name="Picture 13" descr="DarkMode1.jpg"/>
          <p:cNvPicPr>
            <a:picLocks noChangeAspect="1"/>
          </p:cNvPicPr>
          <p:nvPr/>
        </p:nvPicPr>
        <p:blipFill>
          <a:blip r:embed="rId2"/>
          <a:stretch>
            <a:fillRect/>
          </a:stretch>
        </p:blipFill>
        <p:spPr>
          <a:xfrm>
            <a:off x="3746933" y="1554480"/>
            <a:ext cx="1878734" cy="4160520"/>
          </a:xfrm>
          <a:prstGeom prst="rect">
            <a:avLst/>
          </a:prstGeom>
        </p:spPr>
      </p:pic>
      <p:sp>
        <p:nvSpPr>
          <p:cNvPr id="15" name="Rectangle 14"/>
          <p:cNvSpPr/>
          <p:nvPr/>
        </p:nvSpPr>
        <p:spPr>
          <a:xfrm>
            <a:off x="3746933" y="1554480"/>
            <a:ext cx="1878734" cy="4160520"/>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3611880" y="5779008"/>
            <a:ext cx="214884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Light</a:t>
            </a:r>
          </a:p>
        </p:txBody>
      </p:sp>
      <p:pic>
        <p:nvPicPr>
          <p:cNvPr id="17" name="Picture 16" descr="DarkMode2.jpg"/>
          <p:cNvPicPr>
            <a:picLocks noChangeAspect="1"/>
          </p:cNvPicPr>
          <p:nvPr/>
        </p:nvPicPr>
        <p:blipFill>
          <a:blip r:embed="rId3"/>
          <a:stretch>
            <a:fillRect/>
          </a:stretch>
        </p:blipFill>
        <p:spPr>
          <a:xfrm>
            <a:off x="6215813" y="1554480"/>
            <a:ext cx="1878734" cy="4160520"/>
          </a:xfrm>
          <a:prstGeom prst="rect">
            <a:avLst/>
          </a:prstGeom>
        </p:spPr>
      </p:pic>
      <p:sp>
        <p:nvSpPr>
          <p:cNvPr id="18" name="Rectangle 17"/>
          <p:cNvSpPr/>
          <p:nvPr/>
        </p:nvSpPr>
        <p:spPr>
          <a:xfrm>
            <a:off x="6215813" y="1554480"/>
            <a:ext cx="1878734" cy="4160520"/>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6080760" y="5779008"/>
            <a:ext cx="214884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Dark</a:t>
            </a:r>
          </a:p>
        </p:txBody>
      </p:sp>
      <p:sp>
        <p:nvSpPr>
          <p:cNvPr id="20" name="Rounded Rectangle 19"/>
          <p:cNvSpPr/>
          <p:nvPr/>
        </p:nvSpPr>
        <p:spPr>
          <a:xfrm>
            <a:off x="3859657" y="3168761"/>
            <a:ext cx="1653285" cy="183062"/>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3731641" y="3132276"/>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3731641" y="3136848"/>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TextBox 22"/>
          <p:cNvSpPr txBox="1"/>
          <p:nvPr/>
        </p:nvSpPr>
        <p:spPr>
          <a:xfrm>
            <a:off x="566928" y="1645920"/>
            <a:ext cx="2834640" cy="3108960"/>
          </a:xfrm>
          <a:prstGeom prst="rect">
            <a:avLst/>
          </a:prstGeom>
          <a:noFill/>
        </p:spPr>
        <p:txBody>
          <a:bodyPr wrap="square" anchor="t" lIns="0" rIns="0" tIns="0" bIns="0">
            <a:spAutoFit/>
          </a:bodyPr>
          <a:lstStyle/>
          <a:p>
            <a:pPr algn="l">
              <a:spcBef>
                <a:spcPts val="0"/>
              </a:spcBef>
              <a:spcAft>
                <a:spcPts val="0"/>
              </a:spcAft>
            </a:pPr>
            <a:r>
              <a:rPr sz="1300" b="1" i="0">
                <a:solidFill>
                  <a:srgbClr val="3B5568"/>
                </a:solidFill>
                <a:latin typeface="Segoe UI"/>
              </a:rPr>
              <a:t>Where</a:t>
            </a:r>
          </a:p>
          <a:p>
            <a:pPr algn="l">
              <a:spcBef>
                <a:spcPts val="400"/>
              </a:spcBef>
              <a:spcAft>
                <a:spcPts val="0"/>
              </a:spcAft>
            </a:pPr>
            <a:r>
              <a:rPr sz="1150" b="0" i="0">
                <a:solidFill>
                  <a:srgbClr val="3C4450"/>
                </a:solidFill>
                <a:latin typeface="Segoe UI"/>
              </a:rPr>
              <a:t>Profile tab &gt; System Preferences &gt; Dark Mode.</a:t>
            </a:r>
          </a:p>
          <a:p>
            <a:pPr algn="l">
              <a:spcBef>
                <a:spcPts val="1600"/>
              </a:spcBef>
              <a:spcAft>
                <a:spcPts val="0"/>
              </a:spcAft>
            </a:pPr>
            <a:r>
              <a:rPr sz="1300" b="1" i="0">
                <a:solidFill>
                  <a:srgbClr val="3B5568"/>
                </a:solidFill>
                <a:latin typeface="Segoe UI"/>
              </a:rPr>
              <a:t>Scope</a:t>
            </a:r>
          </a:p>
          <a:p>
            <a:pPr algn="l">
              <a:spcBef>
                <a:spcPts val="400"/>
              </a:spcBef>
              <a:spcAft>
                <a:spcPts val="0"/>
              </a:spcAft>
            </a:pPr>
            <a:r>
              <a:rPr sz="1150" b="0" i="0">
                <a:solidFill>
                  <a:srgbClr val="3C4450"/>
                </a:solidFill>
                <a:latin typeface="Segoe UI"/>
              </a:rPr>
              <a:t>Home, Tasks, Calendar and Profile all change at once. The Assistant is always dark by design, and the sign-in screens are always light.</a:t>
            </a:r>
          </a:p>
        </p:txBody>
      </p:sp>
      <p:sp>
        <p:nvSpPr>
          <p:cNvPr id="24" name="TextBox 23"/>
          <p:cNvSpPr txBox="1"/>
          <p:nvPr/>
        </p:nvSpPr>
        <p:spPr>
          <a:xfrm>
            <a:off x="8549640" y="1645920"/>
            <a:ext cx="3063240" cy="3108960"/>
          </a:xfrm>
          <a:prstGeom prst="rect">
            <a:avLst/>
          </a:prstGeom>
          <a:noFill/>
        </p:spPr>
        <p:txBody>
          <a:bodyPr wrap="square" anchor="t" lIns="0" rIns="0" tIns="0" bIns="0">
            <a:spAutoFit/>
          </a:bodyPr>
          <a:lstStyle/>
          <a:p>
            <a:pPr algn="l">
              <a:spcBef>
                <a:spcPts val="0"/>
              </a:spcBef>
              <a:spcAft>
                <a:spcPts val="0"/>
              </a:spcAft>
            </a:pPr>
            <a:r>
              <a:rPr sz="1300" b="1" i="0">
                <a:solidFill>
                  <a:srgbClr val="3B5568"/>
                </a:solidFill>
                <a:latin typeface="Segoe UI"/>
              </a:rPr>
              <a:t>Default</a:t>
            </a:r>
          </a:p>
          <a:p>
            <a:pPr algn="l">
              <a:spcBef>
                <a:spcPts val="400"/>
              </a:spcBef>
              <a:spcAft>
                <a:spcPts val="0"/>
              </a:spcAft>
            </a:pPr>
            <a:r>
              <a:rPr sz="1150" b="0" i="0">
                <a:solidFill>
                  <a:srgbClr val="3C4450"/>
                </a:solidFill>
                <a:latin typeface="Segoe UI"/>
              </a:rPr>
              <a:t>Light. Pico does not follow the phone's own light or dark setting.</a:t>
            </a:r>
          </a:p>
          <a:p>
            <a:pPr algn="l">
              <a:spcBef>
                <a:spcPts val="1600"/>
              </a:spcBef>
              <a:spcAft>
                <a:spcPts val="0"/>
              </a:spcAft>
            </a:pPr>
            <a:r>
              <a:rPr sz="1300" b="1" i="0">
                <a:solidFill>
                  <a:srgbClr val="3B5568"/>
                </a:solidFill>
                <a:latin typeface="Segoe UI"/>
              </a:rPr>
              <a:t>Not remembered</a:t>
            </a:r>
          </a:p>
          <a:p>
            <a:pPr algn="l">
              <a:spcBef>
                <a:spcPts val="400"/>
              </a:spcBef>
              <a:spcAft>
                <a:spcPts val="0"/>
              </a:spcAft>
            </a:pPr>
            <a:r>
              <a:rPr sz="1150" b="0" i="0">
                <a:solidFill>
                  <a:srgbClr val="3C4450"/>
                </a:solidFill>
                <a:latin typeface="Segoe UI"/>
              </a:rPr>
              <a:t>The choice is held in memory only, so closing the app returns it to light. Worth knowing before you demonstrate it.</a:t>
            </a:r>
          </a:p>
          <a:p>
            <a:pPr algn="l">
              <a:spcBef>
                <a:spcPts val="1600"/>
              </a:spcBef>
              <a:spcAft>
                <a:spcPts val="0"/>
              </a:spcAft>
            </a:pPr>
            <a:r>
              <a:rPr sz="1300" b="1" i="0">
                <a:solidFill>
                  <a:srgbClr val="3B5568"/>
                </a:solidFill>
                <a:latin typeface="Segoe UI"/>
              </a:rPr>
              <a:t>Worth showing</a:t>
            </a:r>
          </a:p>
          <a:p>
            <a:pPr algn="l">
              <a:spcBef>
                <a:spcPts val="400"/>
              </a:spcBef>
              <a:spcAft>
                <a:spcPts val="0"/>
              </a:spcAft>
            </a:pPr>
            <a:r>
              <a:rPr sz="1150" b="0" i="0">
                <a:solidFill>
                  <a:srgbClr val="3C4450"/>
                </a:solidFill>
                <a:latin typeface="Segoe UI"/>
              </a:rPr>
              <a:t>A two-second flip that proves the whole theme system 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7A3B47"/>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Privacy notice</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7A3B47"/>
                </a:solidFill>
                <a:latin typeface="Segoe UI"/>
              </a:rPr>
              <a:t>6</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7A3B47"/>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04</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7A3B47"/>
                </a:solidFill>
                <a:latin typeface="Segoe UI"/>
              </a:rPr>
              <a:t>SETTINGS</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Read the privacy notice</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Pico states plainly what stays on the phone and what does not.</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7A3B47"/>
                </a:solidFill>
                <a:latin typeface="Segoe UI"/>
              </a:rPr>
              <a:t>User</a:t>
            </a:r>
          </a:p>
        </p:txBody>
      </p:sp>
      <p:pic>
        <p:nvPicPr>
          <p:cNvPr id="14" name="Picture 13" descr="DarkMode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Profile &gt; Security</a:t>
            </a:r>
          </a:p>
        </p:txBody>
      </p:sp>
      <p:pic>
        <p:nvPicPr>
          <p:cNvPr id="17" name="Picture 16" descr="PrivacyNotice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The notice</a:t>
            </a:r>
          </a:p>
        </p:txBody>
      </p:sp>
      <p:sp>
        <p:nvSpPr>
          <p:cNvPr id="20" name="Rounded Rectangle 19"/>
          <p:cNvSpPr/>
          <p:nvPr/>
        </p:nvSpPr>
        <p:spPr>
          <a:xfrm>
            <a:off x="673912" y="3994279"/>
            <a:ext cx="1569110" cy="173742"/>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545896" y="3953134"/>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545896" y="3957706"/>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Oval 22"/>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4" name="TextBox 23"/>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5" name="TextBox 24"/>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Profile tab &gt; Security &gt; Privacy</a:t>
            </a:r>
          </a:p>
          <a:p>
            <a:pPr algn="l">
              <a:spcBef>
                <a:spcPts val="200"/>
              </a:spcBef>
              <a:spcAft>
                <a:spcPts val="0"/>
              </a:spcAft>
            </a:pPr>
            <a:r>
              <a:rPr sz="1200" b="0" i="0">
                <a:solidFill>
                  <a:srgbClr val="3C4450"/>
                </a:solidFill>
                <a:latin typeface="Segoe UI"/>
              </a:rPr>
              <a:t>The shield row, directly above Account Security.</a:t>
            </a:r>
          </a:p>
        </p:txBody>
      </p:sp>
      <p:sp>
        <p:nvSpPr>
          <p:cNvPr id="26" name="Oval 25"/>
          <p:cNvSpPr/>
          <p:nvPr/>
        </p:nvSpPr>
        <p:spPr>
          <a:xfrm>
            <a:off x="4846320" y="2123236"/>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212780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28" name="TextBox 27"/>
          <p:cNvSpPr txBox="1"/>
          <p:nvPr/>
        </p:nvSpPr>
        <p:spPr>
          <a:xfrm>
            <a:off x="5266944" y="210494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Read what Pico does and does not do</a:t>
            </a:r>
          </a:p>
          <a:p>
            <a:pPr algn="l">
              <a:spcBef>
                <a:spcPts val="200"/>
              </a:spcBef>
              <a:spcAft>
                <a:spcPts val="0"/>
              </a:spcAft>
            </a:pPr>
            <a:r>
              <a:rPr sz="1200" b="0" i="0">
                <a:solidFill>
                  <a:srgbClr val="3C4450"/>
                </a:solidFill>
                <a:latin typeface="Segoe UI"/>
              </a:rPr>
              <a:t>Your data stays on the device; Pico runs no servers of its own and does not store, process or share your information.</a:t>
            </a:r>
          </a:p>
        </p:txBody>
      </p:sp>
      <p:sp>
        <p:nvSpPr>
          <p:cNvPr id="29" name="Oval 28"/>
          <p:cNvSpPr/>
          <p:nvPr/>
        </p:nvSpPr>
        <p:spPr>
          <a:xfrm>
            <a:off x="4846320" y="2858412"/>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286298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1" name="TextBox 30"/>
          <p:cNvSpPr txBox="1"/>
          <p:nvPr/>
        </p:nvSpPr>
        <p:spPr>
          <a:xfrm>
            <a:off x="5266944" y="284012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Note the exception it names</a:t>
            </a:r>
          </a:p>
          <a:p>
            <a:pPr algn="l">
              <a:spcBef>
                <a:spcPts val="200"/>
              </a:spcBef>
              <a:spcAft>
                <a:spcPts val="0"/>
              </a:spcAft>
            </a:pPr>
            <a:r>
              <a:rPr sz="1200" b="0" i="0">
                <a:solidFill>
                  <a:srgbClr val="3C4450"/>
                </a:solidFill>
                <a:latin typeface="Segoe UI"/>
              </a:rPr>
              <a:t>Weather, search, maps and Telegram need the internet, and anything sent through them is covered by that service's own privacy policy.</a:t>
            </a:r>
          </a:p>
        </p:txBody>
      </p:sp>
      <p:sp>
        <p:nvSpPr>
          <p:cNvPr id="32" name="Oval 31"/>
          <p:cNvSpPr/>
          <p:nvPr/>
        </p:nvSpPr>
        <p:spPr>
          <a:xfrm>
            <a:off x="4846320" y="3593588"/>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359816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4" name="TextBox 33"/>
          <p:cNvSpPr txBox="1"/>
          <p:nvPr/>
        </p:nvSpPr>
        <p:spPr>
          <a:xfrm>
            <a:off x="5266944" y="357530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OK to close</a:t>
            </a:r>
          </a:p>
          <a:p>
            <a:pPr algn="l">
              <a:spcBef>
                <a:spcPts val="200"/>
              </a:spcBef>
              <a:spcAft>
                <a:spcPts val="0"/>
              </a:spcAft>
            </a:pPr>
            <a:r>
              <a:rPr sz="1200" b="0" i="0">
                <a:solidFill>
                  <a:srgbClr val="3C4450"/>
                </a:solidFill>
                <a:latin typeface="Segoe UI"/>
              </a:rPr>
              <a:t>Nothing is recorded and no consent is collected - it is a statement, not a prompt.</a:t>
            </a:r>
          </a:p>
        </p:txBody>
      </p:sp>
      <p:sp>
        <p:nvSpPr>
          <p:cNvPr id="35" name="Rectangle 34"/>
          <p:cNvSpPr/>
          <p:nvPr/>
        </p:nvSpPr>
        <p:spPr>
          <a:xfrm>
            <a:off x="4846320" y="4160520"/>
            <a:ext cx="6778447" cy="1019556"/>
          </a:xfrm>
          <a:prstGeom prst="rect">
            <a:avLst/>
          </a:prstGeom>
          <a:solidFill>
            <a:srgbClr val="F4F6F9"/>
          </a:solidFill>
          <a:ln>
            <a:noFill/>
          </a:ln>
          <a:effectLst/>
        </p:spPr>
        <p:txBody>
          <a:bodyPr rtlCol="0" anchor="ctr"/>
          <a:lstStyle/>
          <a:p>
            <a:pPr algn="ctr"/>
          </a:p>
        </p:txBody>
      </p:sp>
      <p:sp>
        <p:nvSpPr>
          <p:cNvPr id="36" name="Rectangle 35"/>
          <p:cNvSpPr/>
          <p:nvPr/>
        </p:nvSpPr>
        <p:spPr>
          <a:xfrm>
            <a:off x="4846320" y="4160520"/>
            <a:ext cx="41148" cy="1019556"/>
          </a:xfrm>
          <a:prstGeom prst="rect">
            <a:avLst/>
          </a:prstGeom>
          <a:solidFill>
            <a:srgbClr val="7A3B47"/>
          </a:solidFill>
          <a:ln>
            <a:noFill/>
          </a:ln>
          <a:effectLst/>
        </p:spPr>
        <p:txBody>
          <a:bodyPr rtlCol="0" anchor="ctr"/>
          <a:lstStyle/>
          <a:p>
            <a:pPr algn="ctr"/>
          </a:p>
        </p:txBody>
      </p:sp>
      <p:sp>
        <p:nvSpPr>
          <p:cNvPr id="37" name="TextBox 36"/>
          <p:cNvSpPr txBox="1"/>
          <p:nvPr/>
        </p:nvSpPr>
        <p:spPr>
          <a:xfrm>
            <a:off x="5047488" y="4270248"/>
            <a:ext cx="6394399" cy="836676"/>
          </a:xfrm>
          <a:prstGeom prst="rect">
            <a:avLst/>
          </a:prstGeom>
          <a:noFill/>
        </p:spPr>
        <p:txBody>
          <a:bodyPr wrap="square" anchor="t" lIns="0" rIns="0" tIns="0" bIns="0">
            <a:spAutoFit/>
          </a:bodyPr>
          <a:lstStyle/>
          <a:p>
            <a:pPr algn="l">
              <a:spcBef>
                <a:spcPts val="0"/>
              </a:spcBef>
              <a:spcAft>
                <a:spcPts val="0"/>
              </a:spcAft>
            </a:pPr>
            <a:r>
              <a:rPr sz="1200" b="1" i="0">
                <a:solidFill>
                  <a:srgbClr val="7A3B47"/>
                </a:solidFill>
                <a:latin typeface="Segoe UI"/>
              </a:rPr>
              <a:t>Why this claim holds</a:t>
            </a:r>
          </a:p>
          <a:p>
            <a:pPr algn="l">
              <a:spcBef>
                <a:spcPts val="300"/>
              </a:spcBef>
              <a:spcAft>
                <a:spcPts val="0"/>
              </a:spcAft>
            </a:pPr>
            <a:r>
              <a:rPr sz="1100" b="0" i="0">
                <a:solidFill>
                  <a:srgbClr val="3C4450"/>
                </a:solidFill>
                <a:latin typeface="Segoe UI"/>
              </a:rPr>
              <a:t>There is no Pico backend at all. Tasks, events, reminders and accounts are written to the phone's encrypted Keystore-backed storage, and the AI model runs on the device's own CPU - so your prompts are never transmitted to be answered.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8C4F3A"/>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Telegram setup</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8C4F3A"/>
                </a:solidFill>
                <a:latin typeface="Segoe UI"/>
              </a:rPr>
              <a:t>7</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8C4F3A"/>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05</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8C4F3A"/>
                </a:solidFill>
                <a:latin typeface="Segoe UI"/>
              </a:rPr>
              <a:t>INTEGRATIONS</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Set up the Telegram bot key</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 setup step behind the Telegram updates tool - without a token, that tool only reports that one is missing.</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8C4F3A"/>
                </a:solidFill>
                <a:latin typeface="Segoe UI"/>
              </a:rPr>
              <a:t>User</a:t>
            </a:r>
          </a:p>
        </p:txBody>
      </p:sp>
      <p:pic>
        <p:nvPicPr>
          <p:cNvPr id="14" name="Picture 13" descr="DarkMode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Integrations</a:t>
            </a:r>
          </a:p>
        </p:txBody>
      </p:sp>
      <p:pic>
        <p:nvPicPr>
          <p:cNvPr id="17" name="Picture 16" descr="TelegramApiSetup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Token dialog</a:t>
            </a:r>
          </a:p>
        </p:txBody>
      </p:sp>
      <p:pic>
        <p:nvPicPr>
          <p:cNvPr id="20" name="Picture 19" descr="TelegramApiSetup3.jpg"/>
          <p:cNvPicPr>
            <a:picLocks noChangeAspect="1"/>
          </p:cNvPicPr>
          <p:nvPr/>
        </p:nvPicPr>
        <p:blipFill>
          <a:blip r:embed="rId4"/>
          <a:stretch>
            <a:fillRect/>
          </a:stretch>
        </p:blipFill>
        <p:spPr>
          <a:xfrm>
            <a:off x="4754880" y="1632963"/>
            <a:ext cx="1783080" cy="3948689"/>
          </a:xfrm>
          <a:prstGeom prst="rect">
            <a:avLst/>
          </a:prstGeom>
        </p:spPr>
      </p:pic>
      <p:sp>
        <p:nvSpPr>
          <p:cNvPr id="21" name="Rectangle 20"/>
          <p:cNvSpPr/>
          <p:nvPr/>
        </p:nvSpPr>
        <p:spPr>
          <a:xfrm>
            <a:off x="4754880" y="1632963"/>
            <a:ext cx="1783080" cy="3948689"/>
          </a:xfrm>
          <a:prstGeom prst="rect">
            <a:avLst/>
          </a:prstGeom>
          <a:noFill/>
          <a:ln w="9525">
            <a:solidFill>
              <a:srgbClr val="D6DCE3"/>
            </a:solidFill>
          </a:ln>
          <a:effectLst/>
        </p:spPr>
        <p:txBody>
          <a:bodyPr rtlCol="0" anchor="ctr"/>
          <a:lstStyle/>
          <a:p>
            <a:pPr algn="ctr"/>
          </a:p>
        </p:txBody>
      </p:sp>
      <p:sp>
        <p:nvSpPr>
          <p:cNvPr id="22" name="TextBox 21"/>
          <p:cNvSpPr txBox="1"/>
          <p:nvPr/>
        </p:nvSpPr>
        <p:spPr>
          <a:xfrm>
            <a:off x="4754880"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Pasted</a:t>
            </a:r>
          </a:p>
        </p:txBody>
      </p:sp>
      <p:sp>
        <p:nvSpPr>
          <p:cNvPr id="23" name="Rounded Rectangle 22"/>
          <p:cNvSpPr/>
          <p:nvPr/>
        </p:nvSpPr>
        <p:spPr>
          <a:xfrm>
            <a:off x="673912" y="4811657"/>
            <a:ext cx="1569110" cy="169793"/>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545896" y="4768537"/>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545896" y="4773109"/>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2</a:t>
            </a:r>
          </a:p>
        </p:txBody>
      </p:sp>
      <p:sp>
        <p:nvSpPr>
          <p:cNvPr id="26" name="Rounded Rectangle 25"/>
          <p:cNvSpPr/>
          <p:nvPr/>
        </p:nvSpPr>
        <p:spPr>
          <a:xfrm>
            <a:off x="5004511" y="3725768"/>
            <a:ext cx="1283817" cy="189537"/>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7" name="Oval 26"/>
          <p:cNvSpPr/>
          <p:nvPr/>
        </p:nvSpPr>
        <p:spPr>
          <a:xfrm>
            <a:off x="4876495" y="3692520"/>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8" name="TextBox 27"/>
          <p:cNvSpPr txBox="1"/>
          <p:nvPr/>
        </p:nvSpPr>
        <p:spPr>
          <a:xfrm>
            <a:off x="4876495" y="3697092"/>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4</a:t>
            </a:r>
          </a:p>
        </p:txBody>
      </p:sp>
      <p:sp>
        <p:nvSpPr>
          <p:cNvPr id="29" name="Oval 28"/>
          <p:cNvSpPr/>
          <p:nvPr/>
        </p:nvSpPr>
        <p:spPr>
          <a:xfrm>
            <a:off x="6940296" y="159105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6940296"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31" name="TextBox 30"/>
          <p:cNvSpPr txBox="1"/>
          <p:nvPr/>
        </p:nvSpPr>
        <p:spPr>
          <a:xfrm>
            <a:off x="7360920" y="1572768"/>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Create a bot in Telegram with @BotFather</a:t>
            </a:r>
          </a:p>
          <a:p>
            <a:pPr algn="l">
              <a:spcBef>
                <a:spcPts val="200"/>
              </a:spcBef>
              <a:spcAft>
                <a:spcPts val="0"/>
              </a:spcAft>
            </a:pPr>
            <a:r>
              <a:rPr sz="1200" b="0" i="0">
                <a:solidFill>
                  <a:srgbClr val="3C4450"/>
                </a:solidFill>
                <a:latin typeface="Segoe UI"/>
              </a:rPr>
              <a:t>It replies with a token. Send your new bot a message or two so the sync has something to read.</a:t>
            </a:r>
          </a:p>
        </p:txBody>
      </p:sp>
      <p:sp>
        <p:nvSpPr>
          <p:cNvPr id="32" name="Oval 31"/>
          <p:cNvSpPr/>
          <p:nvPr/>
        </p:nvSpPr>
        <p:spPr>
          <a:xfrm>
            <a:off x="6940296" y="2326232"/>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6940296"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4" name="TextBox 33"/>
          <p:cNvSpPr txBox="1"/>
          <p:nvPr/>
        </p:nvSpPr>
        <p:spPr>
          <a:xfrm>
            <a:off x="7360920" y="2307944"/>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Profile tab &gt; Integrations &gt; Telegram Bot</a:t>
            </a:r>
          </a:p>
          <a:p>
            <a:pPr algn="l">
              <a:spcBef>
                <a:spcPts val="200"/>
              </a:spcBef>
              <a:spcAft>
                <a:spcPts val="0"/>
              </a:spcAft>
            </a:pPr>
            <a:r>
              <a:rPr sz="1200" b="0" i="0">
                <a:solidFill>
                  <a:srgbClr val="3C4450"/>
                </a:solidFill>
                <a:latin typeface="Segoe UI"/>
              </a:rPr>
              <a:t>The row shows its current state: Connected, Using build config, or Not connected.</a:t>
            </a:r>
          </a:p>
        </p:txBody>
      </p:sp>
      <p:sp>
        <p:nvSpPr>
          <p:cNvPr id="35" name="Oval 34"/>
          <p:cNvSpPr/>
          <p:nvPr/>
        </p:nvSpPr>
        <p:spPr>
          <a:xfrm>
            <a:off x="6940296" y="3061408"/>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6940296" y="306598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7" name="TextBox 36"/>
          <p:cNvSpPr txBox="1"/>
          <p:nvPr/>
        </p:nvSpPr>
        <p:spPr>
          <a:xfrm>
            <a:off x="7360920" y="3043120"/>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Paste the token into the dialog</a:t>
            </a:r>
          </a:p>
          <a:p>
            <a:pPr algn="l">
              <a:spcBef>
                <a:spcPts val="200"/>
              </a:spcBef>
              <a:spcAft>
                <a:spcPts val="0"/>
              </a:spcAft>
            </a:pPr>
            <a:r>
              <a:rPr sz="1200" b="0" i="0">
                <a:solidFill>
                  <a:srgbClr val="3C4450"/>
                </a:solidFill>
                <a:latin typeface="Segoe UI"/>
              </a:rPr>
              <a:t>It is written to encrypted device storage and never displayed again - the field shows dots from then on.</a:t>
            </a:r>
          </a:p>
        </p:txBody>
      </p:sp>
      <p:sp>
        <p:nvSpPr>
          <p:cNvPr id="38" name="Oval 37"/>
          <p:cNvSpPr/>
          <p:nvPr/>
        </p:nvSpPr>
        <p:spPr>
          <a:xfrm>
            <a:off x="6940296" y="3796584"/>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6940296" y="380115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40" name="TextBox 39"/>
          <p:cNvSpPr txBox="1"/>
          <p:nvPr/>
        </p:nvSpPr>
        <p:spPr>
          <a:xfrm>
            <a:off x="7360920" y="3778296"/>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Save</a:t>
            </a:r>
          </a:p>
          <a:p>
            <a:pPr algn="l">
              <a:spcBef>
                <a:spcPts val="200"/>
              </a:spcBef>
              <a:spcAft>
                <a:spcPts val="0"/>
              </a:spcAft>
            </a:pPr>
            <a:r>
              <a:rPr sz="1200" b="0" i="0">
                <a:solidFill>
                  <a:srgbClr val="3C4450"/>
                </a:solidFill>
                <a:latin typeface="Segoe UI"/>
              </a:rPr>
              <a:t>A saved token overrides any build-time one. Remove saved token also resets the sync position, so a new token starts clean.</a:t>
            </a:r>
          </a:p>
        </p:txBody>
      </p:sp>
      <p:sp>
        <p:nvSpPr>
          <p:cNvPr id="41" name="Oval 40"/>
          <p:cNvSpPr/>
          <p:nvPr/>
        </p:nvSpPr>
        <p:spPr>
          <a:xfrm>
            <a:off x="6940296" y="4531760"/>
            <a:ext cx="274320" cy="274320"/>
          </a:xfrm>
          <a:prstGeom prst="ellipse">
            <a:avLst/>
          </a:prstGeom>
          <a:solidFill>
            <a:srgbClr val="B07A2B"/>
          </a:solidFill>
          <a:ln>
            <a:noFill/>
          </a:ln>
          <a:effectLst/>
        </p:spPr>
        <p:txBody>
          <a:bodyPr rtlCol="0" anchor="ctr"/>
          <a:lstStyle/>
          <a:p>
            <a:pPr algn="ctr"/>
          </a:p>
        </p:txBody>
      </p:sp>
      <p:sp>
        <p:nvSpPr>
          <p:cNvPr id="42" name="TextBox 41"/>
          <p:cNvSpPr txBox="1"/>
          <p:nvPr/>
        </p:nvSpPr>
        <p:spPr>
          <a:xfrm>
            <a:off x="6940296" y="4536332"/>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43" name="TextBox 42"/>
          <p:cNvSpPr txBox="1"/>
          <p:nvPr/>
        </p:nvSpPr>
        <p:spPr>
          <a:xfrm>
            <a:off x="7360920" y="4513472"/>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Run a sync to confirm</a:t>
            </a:r>
          </a:p>
          <a:p>
            <a:pPr algn="l">
              <a:spcBef>
                <a:spcPts val="200"/>
              </a:spcBef>
              <a:spcAft>
                <a:spcPts val="0"/>
              </a:spcAft>
            </a:pPr>
            <a:r>
              <a:rPr sz="1200" b="0" i="0">
                <a:solidFill>
                  <a:srgbClr val="3C4450"/>
                </a:solidFill>
                <a:latin typeface="Segoe UI"/>
              </a:rPr>
              <a:t>Assistant &gt; tool menu &gt; Telegram updates, or type "check telegram". Only messages newer than the last sync are 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2D6A4F"/>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Help</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2D6A4F"/>
                </a:solidFill>
                <a:latin typeface="Segoe UI"/>
              </a:rPr>
              <a:t>8</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2D6A4F"/>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06</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2D6A4F"/>
                </a:solidFill>
                <a:latin typeface="Segoe UI"/>
              </a:rPr>
              <a:t>SUPPORT</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Reach out for help</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One dialog with the support address, a copy action and a direct route into your mail app.</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2D6A4F"/>
                </a:solidFill>
                <a:latin typeface="Segoe UI"/>
              </a:rPr>
              <a:t>User</a:t>
            </a:r>
          </a:p>
        </p:txBody>
      </p:sp>
      <p:pic>
        <p:nvPicPr>
          <p:cNvPr id="14" name="Picture 13" descr="DarkMode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Profile</a:t>
            </a:r>
          </a:p>
        </p:txBody>
      </p:sp>
      <p:pic>
        <p:nvPicPr>
          <p:cNvPr id="17" name="Picture 16" descr="ReachOutForHelp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Need help?</a:t>
            </a:r>
          </a:p>
        </p:txBody>
      </p:sp>
      <p:sp>
        <p:nvSpPr>
          <p:cNvPr id="20" name="Rounded Rectangle 19"/>
          <p:cNvSpPr/>
          <p:nvPr/>
        </p:nvSpPr>
        <p:spPr>
          <a:xfrm>
            <a:off x="2767888" y="4286482"/>
            <a:ext cx="1569110" cy="169793"/>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2639872" y="4243362"/>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2639872" y="4247934"/>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Oval 22"/>
          <p:cNvSpPr/>
          <p:nvPr/>
        </p:nvSpPr>
        <p:spPr>
          <a:xfrm>
            <a:off x="4007129" y="3520436"/>
            <a:ext cx="160477" cy="205331"/>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3705377" y="3495085"/>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3705377" y="3499657"/>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3</a:t>
            </a:r>
          </a:p>
        </p:txBody>
      </p:sp>
      <p:sp>
        <p:nvSpPr>
          <p:cNvPr id="26" name="Oval 25"/>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8" name="TextBox 27"/>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Profile tab &gt; Support &gt; Help</a:t>
            </a:r>
          </a:p>
          <a:p>
            <a:pPr algn="l">
              <a:spcBef>
                <a:spcPts val="200"/>
              </a:spcBef>
              <a:spcAft>
                <a:spcPts val="0"/>
              </a:spcAft>
            </a:pPr>
            <a:r>
              <a:rPr sz="1200" b="0" i="0">
                <a:solidFill>
                  <a:srgbClr val="3C4450"/>
                </a:solidFill>
                <a:latin typeface="Segoe UI"/>
              </a:rPr>
              <a:t>The question-mark row, under About.</a:t>
            </a:r>
          </a:p>
        </p:txBody>
      </p:sp>
      <p:sp>
        <p:nvSpPr>
          <p:cNvPr id="29" name="Oval 28"/>
          <p:cNvSpPr/>
          <p:nvPr/>
        </p:nvSpPr>
        <p:spPr>
          <a:xfrm>
            <a:off x="4846320" y="212323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212780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1" name="TextBox 30"/>
          <p:cNvSpPr txBox="1"/>
          <p:nvPr/>
        </p:nvSpPr>
        <p:spPr>
          <a:xfrm>
            <a:off x="5266944" y="210494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The support address is shown and selectable</a:t>
            </a:r>
          </a:p>
          <a:p>
            <a:pPr algn="l">
              <a:spcBef>
                <a:spcPts val="200"/>
              </a:spcBef>
              <a:spcAft>
                <a:spcPts val="0"/>
              </a:spcAft>
            </a:pPr>
            <a:r>
              <a:rPr sz="1200" b="0" i="0">
                <a:solidFill>
                  <a:srgbClr val="3C4450"/>
                </a:solidFill>
                <a:latin typeface="Segoe UI"/>
              </a:rPr>
              <a:t>You can long-press to select the text directly if you would rather not use either button.</a:t>
            </a:r>
          </a:p>
        </p:txBody>
      </p:sp>
      <p:sp>
        <p:nvSpPr>
          <p:cNvPr id="32" name="Oval 31"/>
          <p:cNvSpPr/>
          <p:nvPr/>
        </p:nvSpPr>
        <p:spPr>
          <a:xfrm>
            <a:off x="4846320" y="2655416"/>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265998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4" name="TextBox 33"/>
          <p:cNvSpPr txBox="1"/>
          <p:nvPr/>
        </p:nvSpPr>
        <p:spPr>
          <a:xfrm>
            <a:off x="5266944" y="263712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the copy icon to share the address</a:t>
            </a:r>
          </a:p>
          <a:p>
            <a:pPr algn="l">
              <a:spcBef>
                <a:spcPts val="200"/>
              </a:spcBef>
              <a:spcAft>
                <a:spcPts val="0"/>
              </a:spcAft>
            </a:pPr>
            <a:r>
              <a:rPr sz="1200" b="0" i="0">
                <a:solidFill>
                  <a:srgbClr val="3C4450"/>
                </a:solidFill>
                <a:latin typeface="Segoe UI"/>
              </a:rPr>
              <a:t>It opens the phone's share sheet with the address as the message, so you can send it to yourself or paste it elsewhere.</a:t>
            </a:r>
          </a:p>
        </p:txBody>
      </p:sp>
      <p:sp>
        <p:nvSpPr>
          <p:cNvPr id="35" name="Oval 34"/>
          <p:cNvSpPr/>
          <p:nvPr/>
        </p:nvSpPr>
        <p:spPr>
          <a:xfrm>
            <a:off x="4846320" y="3390592"/>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4846320" y="339516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7" name="TextBox 36"/>
          <p:cNvSpPr txBox="1"/>
          <p:nvPr/>
        </p:nvSpPr>
        <p:spPr>
          <a:xfrm>
            <a:off x="5266944" y="337230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Or tap Open mail app</a:t>
            </a:r>
          </a:p>
          <a:p>
            <a:pPr algn="l">
              <a:spcBef>
                <a:spcPts val="200"/>
              </a:spcBef>
              <a:spcAft>
                <a:spcPts val="0"/>
              </a:spcAft>
            </a:pPr>
            <a:r>
              <a:rPr sz="1200" b="0" i="0">
                <a:solidFill>
                  <a:srgbClr val="3C4450"/>
                </a:solidFill>
                <a:latin typeface="Segoe UI"/>
              </a:rPr>
              <a:t>This composes a new email to support with the subject line "Pico Help" already filled in.</a:t>
            </a:r>
          </a:p>
        </p:txBody>
      </p:sp>
      <p:sp>
        <p:nvSpPr>
          <p:cNvPr id="38" name="Oval 37"/>
          <p:cNvSpPr/>
          <p:nvPr/>
        </p:nvSpPr>
        <p:spPr>
          <a:xfrm>
            <a:off x="4846320" y="3922772"/>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4846320" y="392734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40" name="TextBox 39"/>
          <p:cNvSpPr txBox="1"/>
          <p:nvPr/>
        </p:nvSpPr>
        <p:spPr>
          <a:xfrm>
            <a:off x="5266944" y="390448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Close returns you to Profile</a:t>
            </a:r>
          </a:p>
          <a:p>
            <a:pPr algn="l">
              <a:spcBef>
                <a:spcPts val="200"/>
              </a:spcBef>
              <a:spcAft>
                <a:spcPts val="0"/>
              </a:spcAft>
            </a:pPr>
            <a:r>
              <a:rPr sz="1200" b="0" i="0">
                <a:solidFill>
                  <a:srgbClr val="3C4450"/>
                </a:solidFill>
                <a:latin typeface="Segoe UI"/>
              </a:rPr>
              <a:t>About, on the row above, opens the project's GitHub page in your browser instead.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0E6B63"/>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Model download</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0E6B63"/>
                </a:solidFill>
                <a:latin typeface="Segoe UI"/>
              </a:rPr>
              <a:t>9</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0E6B63"/>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07</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0E6B63"/>
                </a:solidFill>
                <a:latin typeface="Segoe UI"/>
              </a:rPr>
              <a:t>THE ASSISTANT</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Download an on-device model</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Until a model is on the phone, Pico answers only from the fast path. This is the one step that needs the internet.</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0E6B63"/>
                </a:solidFill>
                <a:latin typeface="Segoe UI"/>
              </a:rPr>
              <a:t>User</a:t>
            </a:r>
          </a:p>
        </p:txBody>
      </p:sp>
      <p:pic>
        <p:nvPicPr>
          <p:cNvPr id="14" name="Picture 13" descr="ModelDownload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Assistant tab</a:t>
            </a:r>
          </a:p>
        </p:txBody>
      </p:sp>
      <p:pic>
        <p:nvPicPr>
          <p:cNvPr id="17" name="Picture 16" descr="ModelDownload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The model list</a:t>
            </a:r>
          </a:p>
        </p:txBody>
      </p:sp>
      <p:pic>
        <p:nvPicPr>
          <p:cNvPr id="20" name="Picture 19" descr="ModelDownload3.jpg"/>
          <p:cNvPicPr>
            <a:picLocks noChangeAspect="1"/>
          </p:cNvPicPr>
          <p:nvPr/>
        </p:nvPicPr>
        <p:blipFill>
          <a:blip r:embed="rId4"/>
          <a:stretch>
            <a:fillRect/>
          </a:stretch>
        </p:blipFill>
        <p:spPr>
          <a:xfrm>
            <a:off x="4754880" y="1632963"/>
            <a:ext cx="1783080" cy="3948689"/>
          </a:xfrm>
          <a:prstGeom prst="rect">
            <a:avLst/>
          </a:prstGeom>
        </p:spPr>
      </p:pic>
      <p:sp>
        <p:nvSpPr>
          <p:cNvPr id="21" name="Rectangle 20"/>
          <p:cNvSpPr/>
          <p:nvPr/>
        </p:nvSpPr>
        <p:spPr>
          <a:xfrm>
            <a:off x="4754880" y="1632963"/>
            <a:ext cx="1783080" cy="3948689"/>
          </a:xfrm>
          <a:prstGeom prst="rect">
            <a:avLst/>
          </a:prstGeom>
          <a:noFill/>
          <a:ln w="9525">
            <a:solidFill>
              <a:srgbClr val="D6DCE3"/>
            </a:solidFill>
          </a:ln>
          <a:effectLst/>
        </p:spPr>
        <p:txBody>
          <a:bodyPr rtlCol="0" anchor="ctr"/>
          <a:lstStyle/>
          <a:p>
            <a:pPr algn="ctr"/>
          </a:p>
        </p:txBody>
      </p:sp>
      <p:sp>
        <p:nvSpPr>
          <p:cNvPr id="22" name="TextBox 21"/>
          <p:cNvSpPr txBox="1"/>
          <p:nvPr/>
        </p:nvSpPr>
        <p:spPr>
          <a:xfrm>
            <a:off x="4754880"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Downloading</a:t>
            </a:r>
          </a:p>
        </p:txBody>
      </p:sp>
      <p:sp>
        <p:nvSpPr>
          <p:cNvPr id="23" name="Oval 22"/>
          <p:cNvSpPr/>
          <p:nvPr/>
        </p:nvSpPr>
        <p:spPr>
          <a:xfrm>
            <a:off x="2020138" y="3496744"/>
            <a:ext cx="196138" cy="213229"/>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1718386" y="3475342"/>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1718386" y="3479914"/>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6" name="Oval 25"/>
          <p:cNvSpPr/>
          <p:nvPr/>
        </p:nvSpPr>
        <p:spPr>
          <a:xfrm>
            <a:off x="4069537" y="4025868"/>
            <a:ext cx="169392" cy="205331"/>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27" name="Oval 26"/>
          <p:cNvSpPr/>
          <p:nvPr/>
        </p:nvSpPr>
        <p:spPr>
          <a:xfrm>
            <a:off x="3767785" y="4000517"/>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8" name="TextBox 27"/>
          <p:cNvSpPr txBox="1"/>
          <p:nvPr/>
        </p:nvSpPr>
        <p:spPr>
          <a:xfrm>
            <a:off x="3767785" y="4005089"/>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3</a:t>
            </a:r>
          </a:p>
        </p:txBody>
      </p:sp>
      <p:sp>
        <p:nvSpPr>
          <p:cNvPr id="29" name="Rounded Rectangle 28"/>
          <p:cNvSpPr/>
          <p:nvPr/>
        </p:nvSpPr>
        <p:spPr>
          <a:xfrm>
            <a:off x="2839212" y="3311155"/>
            <a:ext cx="1426464" cy="185588"/>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30" name="Oval 29"/>
          <p:cNvSpPr/>
          <p:nvPr/>
        </p:nvSpPr>
        <p:spPr>
          <a:xfrm>
            <a:off x="2711196" y="3275933"/>
            <a:ext cx="256032" cy="256032"/>
          </a:xfrm>
          <a:prstGeom prst="ellipse">
            <a:avLst/>
          </a:prstGeom>
          <a:solidFill>
            <a:srgbClr val="B07A2B"/>
          </a:solidFill>
          <a:ln w="15875">
            <a:solidFill>
              <a:srgbClr val="FFFFFF"/>
            </a:solidFill>
          </a:ln>
          <a:effectLst/>
        </p:spPr>
        <p:txBody>
          <a:bodyPr rtlCol="0" anchor="ctr"/>
          <a:lstStyle/>
          <a:p>
            <a:pPr algn="ctr"/>
          </a:p>
        </p:txBody>
      </p:sp>
      <p:sp>
        <p:nvSpPr>
          <p:cNvPr id="31" name="TextBox 30"/>
          <p:cNvSpPr txBox="1"/>
          <p:nvPr/>
        </p:nvSpPr>
        <p:spPr>
          <a:xfrm>
            <a:off x="2711196" y="3280505"/>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4</a:t>
            </a:r>
          </a:p>
        </p:txBody>
      </p:sp>
      <p:sp>
        <p:nvSpPr>
          <p:cNvPr id="32" name="Oval 31"/>
          <p:cNvSpPr/>
          <p:nvPr/>
        </p:nvSpPr>
        <p:spPr>
          <a:xfrm>
            <a:off x="6940296" y="1591056"/>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6940296"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34" name="TextBox 33"/>
          <p:cNvSpPr txBox="1"/>
          <p:nvPr/>
        </p:nvSpPr>
        <p:spPr>
          <a:xfrm>
            <a:off x="7360920" y="1572768"/>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Open the Assistant tab and tap +</a:t>
            </a:r>
          </a:p>
          <a:p>
            <a:pPr algn="l">
              <a:spcBef>
                <a:spcPts val="200"/>
              </a:spcBef>
              <a:spcAft>
                <a:spcPts val="0"/>
              </a:spcAft>
            </a:pPr>
            <a:r>
              <a:rPr sz="1200" b="0" i="0">
                <a:solidFill>
                  <a:srgbClr val="3C4450"/>
                </a:solidFill>
                <a:latin typeface="Segoe UI"/>
              </a:rPr>
              <a:t>The plus beside the chat box opens the model sheet. It is the only way in - there is no model setting in Profile.</a:t>
            </a:r>
          </a:p>
        </p:txBody>
      </p:sp>
      <p:sp>
        <p:nvSpPr>
          <p:cNvPr id="35" name="Oval 34"/>
          <p:cNvSpPr/>
          <p:nvPr/>
        </p:nvSpPr>
        <p:spPr>
          <a:xfrm>
            <a:off x="6940296" y="2326232"/>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6940296"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7" name="TextBox 36"/>
          <p:cNvSpPr txBox="1"/>
          <p:nvPr/>
        </p:nvSpPr>
        <p:spPr>
          <a:xfrm>
            <a:off x="7360920" y="2307944"/>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Pick from the five models offered</a:t>
            </a:r>
          </a:p>
          <a:p>
            <a:pPr algn="l">
              <a:spcBef>
                <a:spcPts val="200"/>
              </a:spcBef>
              <a:spcAft>
                <a:spcPts val="0"/>
              </a:spcAft>
            </a:pPr>
            <a:r>
              <a:rPr sz="1200" b="0" i="0">
                <a:solidFill>
                  <a:srgbClr val="3C4450"/>
                </a:solidFill>
                <a:latin typeface="Segoe UI"/>
              </a:rPr>
              <a:t>Gemma 3 1B Instruct, SmolLM2 1.7B, Qwen2.5 1.5B, Llama 3.2 1B and Qwen2.5 3B. Smaller models answer faster.</a:t>
            </a:r>
          </a:p>
        </p:txBody>
      </p:sp>
      <p:sp>
        <p:nvSpPr>
          <p:cNvPr id="38" name="Oval 37"/>
          <p:cNvSpPr/>
          <p:nvPr/>
        </p:nvSpPr>
        <p:spPr>
          <a:xfrm>
            <a:off x="6940296" y="3061408"/>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6940296" y="306598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40" name="TextBox 39"/>
          <p:cNvSpPr txBox="1"/>
          <p:nvPr/>
        </p:nvSpPr>
        <p:spPr>
          <a:xfrm>
            <a:off x="7360920" y="3043120"/>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the cloud icon and stay on Wi-Fi</a:t>
            </a:r>
          </a:p>
          <a:p>
            <a:pPr algn="l">
              <a:spcBef>
                <a:spcPts val="200"/>
              </a:spcBef>
              <a:spcAft>
                <a:spcPts val="0"/>
              </a:spcAft>
            </a:pPr>
            <a:r>
              <a:rPr sz="1200" b="0" i="0">
                <a:solidFill>
                  <a:srgbClr val="3C4450"/>
                </a:solidFill>
                <a:latin typeface="Segoe UI"/>
              </a:rPr>
              <a:t>Models run from roughly 800 MB upward. Only one downloads at a time - the other rows disable until it finishes.</a:t>
            </a:r>
          </a:p>
        </p:txBody>
      </p:sp>
      <p:sp>
        <p:nvSpPr>
          <p:cNvPr id="41" name="Oval 40"/>
          <p:cNvSpPr/>
          <p:nvPr/>
        </p:nvSpPr>
        <p:spPr>
          <a:xfrm>
            <a:off x="6940296" y="3796584"/>
            <a:ext cx="274320" cy="274320"/>
          </a:xfrm>
          <a:prstGeom prst="ellipse">
            <a:avLst/>
          </a:prstGeom>
          <a:solidFill>
            <a:srgbClr val="B07A2B"/>
          </a:solidFill>
          <a:ln>
            <a:noFill/>
          </a:ln>
          <a:effectLst/>
        </p:spPr>
        <p:txBody>
          <a:bodyPr rtlCol="0" anchor="ctr"/>
          <a:lstStyle/>
          <a:p>
            <a:pPr algn="ctr"/>
          </a:p>
        </p:txBody>
      </p:sp>
      <p:sp>
        <p:nvSpPr>
          <p:cNvPr id="42" name="TextBox 41"/>
          <p:cNvSpPr txBox="1"/>
          <p:nvPr/>
        </p:nvSpPr>
        <p:spPr>
          <a:xfrm>
            <a:off x="6940296" y="380115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43" name="TextBox 42"/>
          <p:cNvSpPr txBox="1"/>
          <p:nvPr/>
        </p:nvSpPr>
        <p:spPr>
          <a:xfrm>
            <a:off x="7360920" y="3778296"/>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A tick means it is on the device</a:t>
            </a:r>
          </a:p>
          <a:p>
            <a:pPr algn="l">
              <a:spcBef>
                <a:spcPts val="200"/>
              </a:spcBef>
              <a:spcAft>
                <a:spcPts val="0"/>
              </a:spcAft>
            </a:pPr>
            <a:r>
              <a:rPr sz="1200" b="0" i="0">
                <a:solidFill>
                  <a:srgbClr val="3C4450"/>
                </a:solidFill>
                <a:latin typeface="Segoe UI"/>
              </a:rPr>
              <a:t>Downloading does not select it. Tap the model's name to activate it - an asterisk marks whichever model is live.</a:t>
            </a:r>
          </a:p>
        </p:txBody>
      </p:sp>
      <p:sp>
        <p:nvSpPr>
          <p:cNvPr id="44" name="Oval 43"/>
          <p:cNvSpPr/>
          <p:nvPr/>
        </p:nvSpPr>
        <p:spPr>
          <a:xfrm>
            <a:off x="6940296" y="4531760"/>
            <a:ext cx="274320" cy="274320"/>
          </a:xfrm>
          <a:prstGeom prst="ellipse">
            <a:avLst/>
          </a:prstGeom>
          <a:solidFill>
            <a:srgbClr val="B07A2B"/>
          </a:solidFill>
          <a:ln>
            <a:noFill/>
          </a:ln>
          <a:effectLst/>
        </p:spPr>
        <p:txBody>
          <a:bodyPr rtlCol="0" anchor="ctr"/>
          <a:lstStyle/>
          <a:p>
            <a:pPr algn="ctr"/>
          </a:p>
        </p:txBody>
      </p:sp>
      <p:sp>
        <p:nvSpPr>
          <p:cNvPr id="45" name="TextBox 44"/>
          <p:cNvSpPr txBox="1"/>
          <p:nvPr/>
        </p:nvSpPr>
        <p:spPr>
          <a:xfrm>
            <a:off x="6940296" y="4536332"/>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46" name="TextBox 45"/>
          <p:cNvSpPr txBox="1"/>
          <p:nvPr/>
        </p:nvSpPr>
        <p:spPr>
          <a:xfrm>
            <a:off x="7360920" y="4513472"/>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Watch the percentage while it runs</a:t>
            </a:r>
          </a:p>
          <a:p>
            <a:pPr algn="l">
              <a:spcBef>
                <a:spcPts val="200"/>
              </a:spcBef>
              <a:spcAft>
                <a:spcPts val="0"/>
              </a:spcAft>
            </a:pPr>
            <a:r>
              <a:rPr sz="1200" b="0" i="0">
                <a:solidFill>
                  <a:srgbClr val="3C4450"/>
                </a:solidFill>
                <a:latin typeface="Segoe UI"/>
              </a:rPr>
              <a:t>Leaving the sheet does not cancel the download. Switching models later keeps both on the phone.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6B3F62"/>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Available tools</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6B3F62"/>
                </a:solidFill>
                <a:latin typeface="Segoe UI"/>
              </a:rPr>
              <a:t>10</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6B3F62"/>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08</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6B3F62"/>
                </a:solidFill>
                <a:latin typeface="Segoe UI"/>
              </a:rPr>
              <a:t>THE ASSISTANT</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The tool menu</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Everything Pico can do to the phone, on a button - for when you want the action without composing a sentence.</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6B3F62"/>
                </a:solidFill>
                <a:latin typeface="Segoe UI"/>
              </a:rPr>
              <a:t>User</a:t>
            </a:r>
          </a:p>
        </p:txBody>
      </p:sp>
      <p:pic>
        <p:nvPicPr>
          <p:cNvPr id="14" name="Picture 13" descr="AvailableTool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Assistant tab</a:t>
            </a:r>
          </a:p>
        </p:txBody>
      </p:sp>
      <p:pic>
        <p:nvPicPr>
          <p:cNvPr id="17" name="Picture 16" descr="AvailableTool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Tools, top</a:t>
            </a:r>
          </a:p>
        </p:txBody>
      </p:sp>
      <p:pic>
        <p:nvPicPr>
          <p:cNvPr id="20" name="Picture 19" descr="AvailableTool3.jpg"/>
          <p:cNvPicPr>
            <a:picLocks noChangeAspect="1"/>
          </p:cNvPicPr>
          <p:nvPr/>
        </p:nvPicPr>
        <p:blipFill>
          <a:blip r:embed="rId4"/>
          <a:stretch>
            <a:fillRect/>
          </a:stretch>
        </p:blipFill>
        <p:spPr>
          <a:xfrm>
            <a:off x="4754880" y="1632963"/>
            <a:ext cx="1783080" cy="3948689"/>
          </a:xfrm>
          <a:prstGeom prst="rect">
            <a:avLst/>
          </a:prstGeom>
        </p:spPr>
      </p:pic>
      <p:sp>
        <p:nvSpPr>
          <p:cNvPr id="21" name="Rectangle 20"/>
          <p:cNvSpPr/>
          <p:nvPr/>
        </p:nvSpPr>
        <p:spPr>
          <a:xfrm>
            <a:off x="4754880" y="1632963"/>
            <a:ext cx="1783080" cy="3948689"/>
          </a:xfrm>
          <a:prstGeom prst="rect">
            <a:avLst/>
          </a:prstGeom>
          <a:noFill/>
          <a:ln w="9525">
            <a:solidFill>
              <a:srgbClr val="D6DCE3"/>
            </a:solidFill>
          </a:ln>
          <a:effectLst/>
        </p:spPr>
        <p:txBody>
          <a:bodyPr rtlCol="0" anchor="ctr"/>
          <a:lstStyle/>
          <a:p>
            <a:pPr algn="ctr"/>
          </a:p>
        </p:txBody>
      </p:sp>
      <p:sp>
        <p:nvSpPr>
          <p:cNvPr id="22" name="TextBox 21"/>
          <p:cNvSpPr txBox="1"/>
          <p:nvPr/>
        </p:nvSpPr>
        <p:spPr>
          <a:xfrm>
            <a:off x="4754880"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Tools, scrolled</a:t>
            </a:r>
          </a:p>
        </p:txBody>
      </p:sp>
      <p:sp>
        <p:nvSpPr>
          <p:cNvPr id="23" name="Oval 22"/>
          <p:cNvSpPr/>
          <p:nvPr/>
        </p:nvSpPr>
        <p:spPr>
          <a:xfrm>
            <a:off x="2073630" y="1885679"/>
            <a:ext cx="160477" cy="181639"/>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1771878" y="1848482"/>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1771878" y="1853054"/>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6" name="Oval 25"/>
          <p:cNvSpPr/>
          <p:nvPr/>
        </p:nvSpPr>
        <p:spPr>
          <a:xfrm>
            <a:off x="6940296" y="1591056"/>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6940296"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8" name="TextBox 27"/>
          <p:cNvSpPr txBox="1"/>
          <p:nvPr/>
        </p:nvSpPr>
        <p:spPr>
          <a:xfrm>
            <a:off x="7360920" y="1572768"/>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the menu icon, top right</a:t>
            </a:r>
          </a:p>
          <a:p>
            <a:pPr algn="l">
              <a:spcBef>
                <a:spcPts val="200"/>
              </a:spcBef>
              <a:spcAft>
                <a:spcPts val="0"/>
              </a:spcAft>
            </a:pPr>
            <a:r>
              <a:rPr sz="1200" b="0" i="0">
                <a:solidFill>
                  <a:srgbClr val="3C4450"/>
                </a:solidFill>
                <a:latin typeface="Segoe UI"/>
              </a:rPr>
              <a:t>It sits above the chat, clear of the message list.</a:t>
            </a:r>
          </a:p>
        </p:txBody>
      </p:sp>
      <p:sp>
        <p:nvSpPr>
          <p:cNvPr id="29" name="Oval 28"/>
          <p:cNvSpPr/>
          <p:nvPr/>
        </p:nvSpPr>
        <p:spPr>
          <a:xfrm>
            <a:off x="6940296" y="212323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6940296" y="212780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1" name="TextBox 30"/>
          <p:cNvSpPr txBox="1"/>
          <p:nvPr/>
        </p:nvSpPr>
        <p:spPr>
          <a:xfrm>
            <a:off x="7360920" y="2104948"/>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Eight actions are visible at first</a:t>
            </a:r>
          </a:p>
          <a:p>
            <a:pPr algn="l">
              <a:spcBef>
                <a:spcPts val="200"/>
              </a:spcBef>
              <a:spcAft>
                <a:spcPts val="0"/>
              </a:spcAft>
            </a:pPr>
            <a:r>
              <a:rPr sz="1200" b="0" i="0">
                <a:solidFill>
                  <a:srgbClr val="3C4450"/>
                </a:solidFill>
                <a:latin typeface="Segoe UI"/>
              </a:rPr>
              <a:t>Live Weather, 15m Timer, Daily Briefing, Plan a Project, Add Quick Task, My Tasks, Flashlight and Battery status.</a:t>
            </a:r>
          </a:p>
        </p:txBody>
      </p:sp>
      <p:sp>
        <p:nvSpPr>
          <p:cNvPr id="32" name="Oval 31"/>
          <p:cNvSpPr/>
          <p:nvPr/>
        </p:nvSpPr>
        <p:spPr>
          <a:xfrm>
            <a:off x="6940296" y="2858412"/>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6940296" y="286298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4" name="TextBox 33"/>
          <p:cNvSpPr txBox="1"/>
          <p:nvPr/>
        </p:nvSpPr>
        <p:spPr>
          <a:xfrm>
            <a:off x="7360920" y="2840124"/>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Scroll for the other eight</a:t>
            </a:r>
          </a:p>
          <a:p>
            <a:pPr algn="l">
              <a:spcBef>
                <a:spcPts val="200"/>
              </a:spcBef>
              <a:spcAft>
                <a:spcPts val="0"/>
              </a:spcAft>
            </a:pPr>
            <a:r>
              <a:rPr sz="1200" b="0" i="0">
                <a:solidFill>
                  <a:srgbClr val="3C4450"/>
                </a:solidFill>
                <a:latin typeface="Segoe UI"/>
              </a:rPr>
              <a:t>Upcoming events, My location, Reschedule reminder, Open Maps, Distance &amp; ETA, Search YouTube, Search the Web and Telegram updates.</a:t>
            </a:r>
          </a:p>
        </p:txBody>
      </p:sp>
      <p:sp>
        <p:nvSpPr>
          <p:cNvPr id="35" name="Oval 34"/>
          <p:cNvSpPr/>
          <p:nvPr/>
        </p:nvSpPr>
        <p:spPr>
          <a:xfrm>
            <a:off x="6940296" y="3796584"/>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6940296" y="380115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7" name="TextBox 36"/>
          <p:cNvSpPr txBox="1"/>
          <p:nvPr/>
        </p:nvSpPr>
        <p:spPr>
          <a:xfrm>
            <a:off x="7360920" y="3778296"/>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one and it runs immediately</a:t>
            </a:r>
          </a:p>
          <a:p>
            <a:pPr algn="l">
              <a:spcBef>
                <a:spcPts val="200"/>
              </a:spcBef>
              <a:spcAft>
                <a:spcPts val="0"/>
              </a:spcAft>
            </a:pPr>
            <a:r>
              <a:rPr sz="1200" b="0" i="0">
                <a:solidFill>
                  <a:srgbClr val="3C4450"/>
                </a:solidFill>
                <a:latin typeface="Segoe UI"/>
              </a:rPr>
              <a:t>A spinner shows on that row while it works, then the menu closes and the result is posted into the chat as Pico's reply.</a:t>
            </a:r>
          </a:p>
        </p:txBody>
      </p:sp>
      <p:sp>
        <p:nvSpPr>
          <p:cNvPr id="38" name="Oval 37"/>
          <p:cNvSpPr/>
          <p:nvPr/>
        </p:nvSpPr>
        <p:spPr>
          <a:xfrm>
            <a:off x="6940296" y="4531760"/>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6940296" y="4536332"/>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40" name="TextBox 39"/>
          <p:cNvSpPr txBox="1"/>
          <p:nvPr/>
        </p:nvSpPr>
        <p:spPr>
          <a:xfrm>
            <a:off x="7360920" y="4513472"/>
            <a:ext cx="4263847"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The model is never consulted here</a:t>
            </a:r>
          </a:p>
          <a:p>
            <a:pPr algn="l">
              <a:spcBef>
                <a:spcPts val="200"/>
              </a:spcBef>
              <a:spcAft>
                <a:spcPts val="0"/>
              </a:spcAft>
            </a:pPr>
            <a:r>
              <a:rPr sz="1200" b="0" i="0">
                <a:solidFill>
                  <a:srgbClr val="3C4450"/>
                </a:solidFill>
                <a:latin typeface="Segoe UI"/>
              </a:rPr>
              <a:t>Buttons call the tools directly, so every one of them works even with no model downloaded.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6B3F62"/>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Available tools</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6B3F62"/>
                </a:solidFill>
                <a:latin typeface="Segoe UI"/>
              </a:rPr>
              <a:t>11</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6B3F62"/>
                </a:solidFill>
                <a:latin typeface="Segoe UI"/>
              </a:rPr>
              <a:t>THE ASSISTANT</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What each of the sixteen tools does</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 same tools the model calls when you phrase a request in chat.</a:t>
            </a:r>
          </a:p>
        </p:txBody>
      </p:sp>
      <p:graphicFrame>
        <p:nvGraphicFramePr>
          <p:cNvPr id="10" name="Table 9"/>
          <p:cNvGraphicFramePr>
            <a:graphicFrameLocks noGrp="1"/>
          </p:cNvGraphicFramePr>
          <p:nvPr/>
        </p:nvGraphicFramePr>
        <p:xfrm>
          <a:off x="566928" y="1627632"/>
          <a:ext cx="5504688" cy="3291840"/>
        </p:xfrm>
        <a:graphic>
          <a:graphicData uri="http://schemas.openxmlformats.org/drawingml/2006/table">
            <a:tbl>
              <a:tblPr firstRow="1" bandRow="1">
                <a:tableStyleId>{5C22544A-7EE6-4342-B048-85BDC9FD1C3A}</a:tableStyleId>
              </a:tblPr>
              <a:tblGrid>
                <a:gridCol w="1371600"/>
                <a:gridCol w="3035808"/>
                <a:gridCol w="1097280"/>
              </a:tblGrid>
              <a:tr h="365760">
                <a:tc>
                  <a:txBody>
                    <a:bodyPr/>
                    <a:lstStyle/>
                    <a:p>
                      <a:pPr algn="l">
                        <a:spcBef>
                          <a:spcPts val="0"/>
                        </a:spcBef>
                        <a:spcAft>
                          <a:spcPts val="0"/>
                        </a:spcAft>
                      </a:pPr>
                      <a:r>
                        <a:rPr sz="950" b="1" i="0">
                          <a:solidFill>
                            <a:srgbClr val="FFFFFF"/>
                          </a:solidFill>
                          <a:latin typeface="Segoe UI"/>
                        </a:rPr>
                        <a:t>Tool</a:t>
                      </a:r>
                    </a:p>
                  </a:txBody>
                  <a:tcPr marL="109728" marR="109728" anchor="ctr">
                    <a:solidFill>
                      <a:srgbClr val="6B3F62"/>
                    </a:solidFill>
                  </a:tcPr>
                </a:tc>
                <a:tc>
                  <a:txBody>
                    <a:bodyPr/>
                    <a:lstStyle/>
                    <a:p>
                      <a:pPr algn="l">
                        <a:spcBef>
                          <a:spcPts val="0"/>
                        </a:spcBef>
                        <a:spcAft>
                          <a:spcPts val="0"/>
                        </a:spcAft>
                      </a:pPr>
                      <a:r>
                        <a:rPr sz="950" b="1" i="0">
                          <a:solidFill>
                            <a:srgbClr val="FFFFFF"/>
                          </a:solidFill>
                          <a:latin typeface="Segoe UI"/>
                        </a:rPr>
                        <a:t>What it does</a:t>
                      </a:r>
                    </a:p>
                  </a:txBody>
                  <a:tcPr marL="109728" marR="109728" anchor="ctr">
                    <a:solidFill>
                      <a:srgbClr val="6B3F62"/>
                    </a:solidFill>
                  </a:tcPr>
                </a:tc>
                <a:tc>
                  <a:txBody>
                    <a:bodyPr/>
                    <a:lstStyle/>
                    <a:p>
                      <a:pPr algn="l">
                        <a:spcBef>
                          <a:spcPts val="0"/>
                        </a:spcBef>
                        <a:spcAft>
                          <a:spcPts val="0"/>
                        </a:spcAft>
                      </a:pPr>
                      <a:r>
                        <a:rPr sz="950" b="1" i="0">
                          <a:solidFill>
                            <a:srgbClr val="FFFFFF"/>
                          </a:solidFill>
                          <a:latin typeface="Segoe UI"/>
                        </a:rPr>
                        <a:t>Needs</a:t>
                      </a:r>
                    </a:p>
                  </a:txBody>
                  <a:tcPr marL="109728" marR="109728" anchor="ctr">
                    <a:solidFill>
                      <a:srgbClr val="6B3F62"/>
                    </a:solidFill>
                  </a:tcPr>
                </a:tc>
              </a:tr>
              <a:tr h="365760">
                <a:tc>
                  <a:txBody>
                    <a:bodyPr/>
                    <a:lstStyle/>
                    <a:p>
                      <a:pPr algn="l">
                        <a:spcBef>
                          <a:spcPts val="0"/>
                        </a:spcBef>
                        <a:spcAft>
                          <a:spcPts val="0"/>
                        </a:spcAft>
                      </a:pPr>
                      <a:r>
                        <a:rPr sz="950" b="1" i="0">
                          <a:solidFill>
                            <a:srgbClr val="14181F"/>
                          </a:solidFill>
                          <a:latin typeface="Segoe UI"/>
                        </a:rPr>
                        <a:t>Live Weather</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Temperature, feels-like, high and low, humidity, wind, rain chance</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Internet + location</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15m Timer</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A 15-minute focus timer that rings as a notification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Notifications</a:t>
                      </a:r>
                    </a:p>
                  </a:txBody>
                  <a:tcPr marL="109728" marR="109728" anchor="ctr">
                    <a:solidFill>
                      <a:srgbClr val="F6F8FA"/>
                    </a:solidFill>
                  </a:tcPr>
                </a:tc>
              </a:tr>
              <a:tr h="365760">
                <a:tc>
                  <a:txBody>
                    <a:bodyPr/>
                    <a:lstStyle/>
                    <a:p>
                      <a:pPr algn="l">
                        <a:spcBef>
                          <a:spcPts val="0"/>
                        </a:spcBef>
                        <a:spcAft>
                          <a:spcPts val="0"/>
                        </a:spcAft>
                      </a:pPr>
                      <a:r>
                        <a:rPr sz="950" b="1" i="0">
                          <a:solidFill>
                            <a:srgbClr val="14181F"/>
                          </a:solidFill>
                          <a:latin typeface="Segoe UI"/>
                        </a:rPr>
                        <a:t>Daily Briefing</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Battery, weather, today's events and pending tasks in one card</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Offline</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Plan a Project</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Breaks a goal into 3-4 subtasks and saves them to your list</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Model or cloud</a:t>
                      </a:r>
                    </a:p>
                  </a:txBody>
                  <a:tcPr marL="109728" marR="109728" anchor="ctr">
                    <a:solidFill>
                      <a:srgbClr val="F6F8FA"/>
                    </a:solidFill>
                  </a:tcPr>
                </a:tc>
              </a:tr>
              <a:tr h="365760">
                <a:tc>
                  <a:txBody>
                    <a:bodyPr/>
                    <a:lstStyle/>
                    <a:p>
                      <a:pPr algn="l">
                        <a:spcBef>
                          <a:spcPts val="0"/>
                        </a:spcBef>
                        <a:spcAft>
                          <a:spcPts val="0"/>
                        </a:spcAft>
                      </a:pPr>
                      <a:r>
                        <a:rPr sz="950" b="1" i="0">
                          <a:solidFill>
                            <a:srgbClr val="14181F"/>
                          </a:solidFill>
                          <a:latin typeface="Segoe UI"/>
                        </a:rPr>
                        <a:t>Add Quick Task</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Writes one fixed demo task at High priority</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Offline</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My Tasks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Lists your pending tasks, five at a time</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Offline</a:t>
                      </a:r>
                    </a:p>
                  </a:txBody>
                  <a:tcPr marL="109728" marR="109728" anchor="ctr">
                    <a:solidFill>
                      <a:srgbClr val="F6F8FA"/>
                    </a:solidFill>
                  </a:tcPr>
                </a:tc>
              </a:tr>
              <a:tr h="365760">
                <a:tc>
                  <a:txBody>
                    <a:bodyPr/>
                    <a:lstStyle/>
                    <a:p>
                      <a:pPr algn="l">
                        <a:spcBef>
                          <a:spcPts val="0"/>
                        </a:spcBef>
                        <a:spcAft>
                          <a:spcPts val="0"/>
                        </a:spcAft>
                      </a:pPr>
                      <a:r>
                        <a:rPr sz="950" b="1" i="0">
                          <a:solidFill>
                            <a:srgbClr val="14181F"/>
                          </a:solidFill>
                          <a:latin typeface="Segoe UI"/>
                        </a:rPr>
                        <a:t>Flashlight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Toggles the torch, reading its current state first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Camera</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Battery status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Charge level and whether the phone is charging</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Offline</a:t>
                      </a:r>
                    </a:p>
                  </a:txBody>
                  <a:tcPr marL="109728" marR="109728" anchor="ctr">
                    <a:solidFill>
                      <a:srgbClr val="F6F8FA"/>
                    </a:solidFill>
                  </a:tcPr>
                </a:tc>
              </a:tr>
            </a:tbl>
          </a:graphicData>
        </a:graphic>
      </p:graphicFrame>
      <p:graphicFrame>
        <p:nvGraphicFramePr>
          <p:cNvPr id="11" name="Table 10"/>
          <p:cNvGraphicFramePr>
            <a:graphicFrameLocks noGrp="1"/>
          </p:cNvGraphicFramePr>
          <p:nvPr/>
        </p:nvGraphicFramePr>
        <p:xfrm>
          <a:off x="6483096" y="1627632"/>
          <a:ext cx="5138928" cy="3291840"/>
        </p:xfrm>
        <a:graphic>
          <a:graphicData uri="http://schemas.openxmlformats.org/drawingml/2006/table">
            <a:tbl>
              <a:tblPr firstRow="1" bandRow="1">
                <a:tableStyleId>{5C22544A-7EE6-4342-B048-85BDC9FD1C3A}</a:tableStyleId>
              </a:tblPr>
              <a:tblGrid>
                <a:gridCol w="1371600"/>
                <a:gridCol w="2670048"/>
                <a:gridCol w="1097280"/>
              </a:tblGrid>
              <a:tr h="365760">
                <a:tc>
                  <a:txBody>
                    <a:bodyPr/>
                    <a:lstStyle/>
                    <a:p>
                      <a:pPr algn="l">
                        <a:spcBef>
                          <a:spcPts val="0"/>
                        </a:spcBef>
                        <a:spcAft>
                          <a:spcPts val="0"/>
                        </a:spcAft>
                      </a:pPr>
                      <a:r>
                        <a:rPr sz="950" b="1" i="0">
                          <a:solidFill>
                            <a:srgbClr val="FFFFFF"/>
                          </a:solidFill>
                          <a:latin typeface="Segoe UI"/>
                        </a:rPr>
                        <a:t>Tool</a:t>
                      </a:r>
                    </a:p>
                  </a:txBody>
                  <a:tcPr marL="109728" marR="109728" anchor="ctr">
                    <a:solidFill>
                      <a:srgbClr val="6B3F62"/>
                    </a:solidFill>
                  </a:tcPr>
                </a:tc>
                <a:tc>
                  <a:txBody>
                    <a:bodyPr/>
                    <a:lstStyle/>
                    <a:p>
                      <a:pPr algn="l">
                        <a:spcBef>
                          <a:spcPts val="0"/>
                        </a:spcBef>
                        <a:spcAft>
                          <a:spcPts val="0"/>
                        </a:spcAft>
                      </a:pPr>
                      <a:r>
                        <a:rPr sz="950" b="1" i="0">
                          <a:solidFill>
                            <a:srgbClr val="FFFFFF"/>
                          </a:solidFill>
                          <a:latin typeface="Segoe UI"/>
                        </a:rPr>
                        <a:t>What it does</a:t>
                      </a:r>
                    </a:p>
                  </a:txBody>
                  <a:tcPr marL="109728" marR="109728" anchor="ctr">
                    <a:solidFill>
                      <a:srgbClr val="6B3F62"/>
                    </a:solidFill>
                  </a:tcPr>
                </a:tc>
                <a:tc>
                  <a:txBody>
                    <a:bodyPr/>
                    <a:lstStyle/>
                    <a:p>
                      <a:pPr algn="l">
                        <a:spcBef>
                          <a:spcPts val="0"/>
                        </a:spcBef>
                        <a:spcAft>
                          <a:spcPts val="0"/>
                        </a:spcAft>
                      </a:pPr>
                      <a:r>
                        <a:rPr sz="950" b="1" i="0">
                          <a:solidFill>
                            <a:srgbClr val="FFFFFF"/>
                          </a:solidFill>
                          <a:latin typeface="Segoe UI"/>
                        </a:rPr>
                        <a:t>Needs</a:t>
                      </a:r>
                    </a:p>
                  </a:txBody>
                  <a:tcPr marL="109728" marR="109728" anchor="ctr">
                    <a:solidFill>
                      <a:srgbClr val="6B3F62"/>
                    </a:solidFill>
                  </a:tcPr>
                </a:tc>
              </a:tr>
              <a:tr h="365760">
                <a:tc>
                  <a:txBody>
                    <a:bodyPr/>
                    <a:lstStyle/>
                    <a:p>
                      <a:pPr algn="l">
                        <a:spcBef>
                          <a:spcPts val="0"/>
                        </a:spcBef>
                        <a:spcAft>
                          <a:spcPts val="0"/>
                        </a:spcAft>
                      </a:pPr>
                      <a:r>
                        <a:rPr sz="950" b="1" i="0">
                          <a:solidFill>
                            <a:srgbClr val="14181F"/>
                          </a:solidFill>
                          <a:latin typeface="Segoe UI"/>
                        </a:rPr>
                        <a:t>Upcoming events</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Device calendar events for the next seven days</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Calendar</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My location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Current GPS latitude and longitude</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Location</a:t>
                      </a:r>
                    </a:p>
                  </a:txBody>
                  <a:tcPr marL="109728" marR="109728" anchor="ctr">
                    <a:solidFill>
                      <a:srgbClr val="F6F8FA"/>
                    </a:solidFill>
                  </a:tcPr>
                </a:tc>
              </a:tr>
              <a:tr h="365760">
                <a:tc>
                  <a:txBody>
                    <a:bodyPr/>
                    <a:lstStyle/>
                    <a:p>
                      <a:pPr algn="l">
                        <a:spcBef>
                          <a:spcPts val="0"/>
                        </a:spcBef>
                        <a:spcAft>
                          <a:spcPts val="0"/>
                        </a:spcAft>
                      </a:pPr>
                      <a:r>
                        <a:rPr sz="950" b="1" i="0">
                          <a:solidFill>
                            <a:srgbClr val="14181F"/>
                          </a:solidFill>
                          <a:latin typeface="Segoe UI"/>
                        </a:rPr>
                        <a:t>Reschedule reminder</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Fires a notification carrying Yes / No buttons</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Notifications</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Open Maps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Hands off to the Google Maps app</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Internet</a:t>
                      </a:r>
                    </a:p>
                  </a:txBody>
                  <a:tcPr marL="109728" marR="109728" anchor="ctr">
                    <a:solidFill>
                      <a:srgbClr val="F6F8FA"/>
                    </a:solidFill>
                  </a:tcPr>
                </a:tc>
              </a:tr>
              <a:tr h="365760">
                <a:tc>
                  <a:txBody>
                    <a:bodyPr/>
                    <a:lstStyle/>
                    <a:p>
                      <a:pPr algn="l">
                        <a:spcBef>
                          <a:spcPts val="0"/>
                        </a:spcBef>
                        <a:spcAft>
                          <a:spcPts val="0"/>
                        </a:spcAft>
                      </a:pPr>
                      <a:r>
                        <a:rPr sz="950" b="1" i="0">
                          <a:solidFill>
                            <a:srgbClr val="14181F"/>
                          </a:solidFill>
                          <a:latin typeface="Segoe UI"/>
                        </a:rPr>
                        <a:t>Distance &amp; ETA</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Road distance and drive time, without live traffic</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Internet + location</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Search YouTube</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Opens YouTube search results for a query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Internet</a:t>
                      </a:r>
                    </a:p>
                  </a:txBody>
                  <a:tcPr marL="109728" marR="109728" anchor="ctr">
                    <a:solidFill>
                      <a:srgbClr val="F6F8FA"/>
                    </a:solidFill>
                  </a:tcPr>
                </a:tc>
              </a:tr>
              <a:tr h="365760">
                <a:tc>
                  <a:txBody>
                    <a:bodyPr/>
                    <a:lstStyle/>
                    <a:p>
                      <a:pPr algn="l">
                        <a:spcBef>
                          <a:spcPts val="0"/>
                        </a:spcBef>
                        <a:spcAft>
                          <a:spcPts val="0"/>
                        </a:spcAft>
                      </a:pPr>
                      <a:r>
                        <a:rPr sz="950" b="1" i="0">
                          <a:solidFill>
                            <a:srgbClr val="14181F"/>
                          </a:solidFill>
                          <a:latin typeface="Segoe UI"/>
                        </a:rPr>
                        <a:t>Search the Web</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Opens a Google search in the browser</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Internet</a:t>
                      </a:r>
                    </a:p>
                  </a:txBody>
                  <a:tcPr marL="109728" marR="109728" anchor="ctr">
                    <a:solidFill>
                      <a:srgbClr val="FFFFFF"/>
                    </a:solidFill>
                  </a:tcPr>
                </a:tc>
              </a:tr>
              <a:tr h="365760">
                <a:tc>
                  <a:txBody>
                    <a:bodyPr/>
                    <a:lstStyle/>
                    <a:p>
                      <a:pPr algn="l">
                        <a:spcBef>
                          <a:spcPts val="0"/>
                        </a:spcBef>
                        <a:spcAft>
                          <a:spcPts val="0"/>
                        </a:spcAft>
                      </a:pPr>
                      <a:r>
                        <a:rPr sz="950" b="1" i="0">
                          <a:solidFill>
                            <a:srgbClr val="14181F"/>
                          </a:solidFill>
                          <a:latin typeface="Segoe UI"/>
                        </a:rPr>
                        <a:t>Telegram updates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Fetches bot notices and syncs them to tasks and events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Internet + token</a:t>
                      </a:r>
                    </a:p>
                  </a:txBody>
                  <a:tcPr marL="109728" marR="109728" anchor="ctr">
                    <a:solidFill>
                      <a:srgbClr val="F6F8FA"/>
                    </a:solidFill>
                  </a:tcPr>
                </a:tc>
              </a:tr>
            </a:tbl>
          </a:graphicData>
        </a:graphic>
      </p:graphicFrame>
      <p:sp>
        <p:nvSpPr>
          <p:cNvPr id="12" name="Rectangle 11"/>
          <p:cNvSpPr/>
          <p:nvPr/>
        </p:nvSpPr>
        <p:spPr>
          <a:xfrm>
            <a:off x="566928" y="5074920"/>
            <a:ext cx="11057839" cy="832104"/>
          </a:xfrm>
          <a:prstGeom prst="rect">
            <a:avLst/>
          </a:prstGeom>
          <a:solidFill>
            <a:srgbClr val="F4F6F9"/>
          </a:solidFill>
          <a:ln>
            <a:noFill/>
          </a:ln>
          <a:effectLst/>
        </p:spPr>
        <p:txBody>
          <a:bodyPr rtlCol="0" anchor="ctr"/>
          <a:lstStyle/>
          <a:p>
            <a:pPr algn="ctr"/>
          </a:p>
        </p:txBody>
      </p:sp>
      <p:sp>
        <p:nvSpPr>
          <p:cNvPr id="13" name="Rectangle 12"/>
          <p:cNvSpPr/>
          <p:nvPr/>
        </p:nvSpPr>
        <p:spPr>
          <a:xfrm>
            <a:off x="566928" y="5074920"/>
            <a:ext cx="41148" cy="832104"/>
          </a:xfrm>
          <a:prstGeom prst="rect">
            <a:avLst/>
          </a:prstGeom>
          <a:solidFill>
            <a:srgbClr val="6B3F62"/>
          </a:solidFill>
          <a:ln>
            <a:noFill/>
          </a:ln>
          <a:effectLst/>
        </p:spPr>
        <p:txBody>
          <a:bodyPr rtlCol="0" anchor="ctr"/>
          <a:lstStyle/>
          <a:p>
            <a:pPr algn="ctr"/>
          </a:p>
        </p:txBody>
      </p:sp>
      <p:sp>
        <p:nvSpPr>
          <p:cNvPr id="14" name="TextBox 13"/>
          <p:cNvSpPr txBox="1"/>
          <p:nvPr/>
        </p:nvSpPr>
        <p:spPr>
          <a:xfrm>
            <a:off x="768096" y="5184648"/>
            <a:ext cx="10673791" cy="649224"/>
          </a:xfrm>
          <a:prstGeom prst="rect">
            <a:avLst/>
          </a:prstGeom>
          <a:noFill/>
        </p:spPr>
        <p:txBody>
          <a:bodyPr wrap="square" anchor="t" lIns="0" rIns="0" tIns="0" bIns="0">
            <a:spAutoFit/>
          </a:bodyPr>
          <a:lstStyle/>
          <a:p>
            <a:pPr algn="l">
              <a:spcBef>
                <a:spcPts val="0"/>
              </a:spcBef>
              <a:spcAft>
                <a:spcPts val="0"/>
              </a:spcAft>
            </a:pPr>
            <a:r>
              <a:rPr sz="1200" b="1" i="0">
                <a:solidFill>
                  <a:srgbClr val="6B3F62"/>
                </a:solidFill>
                <a:latin typeface="Segoe UI"/>
              </a:rPr>
              <a:t>Four of these are button-only</a:t>
            </a:r>
          </a:p>
          <a:p>
            <a:pPr algn="l">
              <a:spcBef>
                <a:spcPts val="300"/>
              </a:spcBef>
              <a:spcAft>
                <a:spcPts val="0"/>
              </a:spcAft>
            </a:pPr>
            <a:r>
              <a:rPr sz="1100" b="0" i="0">
                <a:solidFill>
                  <a:srgbClr val="3C4450"/>
                </a:solidFill>
                <a:latin typeface="Segoe UI"/>
              </a:rPr>
              <a:t>Distance &amp; ETA, Open Maps, Search YouTube and Search the Web are not in the list the model is shown, so it cannot call them on its own. Reach them from this menu, or with the exact chat phrasings in the cheat-sheet - "how far is Gulshan 2", "navigate to...", "play...", "search for...".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A6B3D"/>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Add a task</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A6B3D"/>
                </a:solidFill>
                <a:latin typeface="Segoe UI"/>
              </a:rPr>
              <a:t>12</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4A6B3D"/>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09</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A6B3D"/>
                </a:solidFill>
                <a:latin typeface="Segoe UI"/>
              </a:rPr>
              <a:t>TASKS</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Add a task</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 form gives you every field. Chat and the tool menu reach the same list by other routes.</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4A6B3D"/>
                </a:solidFill>
                <a:latin typeface="Segoe UI"/>
              </a:rPr>
              <a:t>User</a:t>
            </a:r>
          </a:p>
        </p:txBody>
      </p:sp>
      <p:pic>
        <p:nvPicPr>
          <p:cNvPr id="14" name="Picture 13" descr="AddTask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Empty list</a:t>
            </a:r>
          </a:p>
        </p:txBody>
      </p:sp>
      <p:pic>
        <p:nvPicPr>
          <p:cNvPr id="17" name="Picture 16" descr="AddTask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New Task</a:t>
            </a:r>
          </a:p>
        </p:txBody>
      </p:sp>
      <p:pic>
        <p:nvPicPr>
          <p:cNvPr id="20" name="Picture 19" descr="AddTask3.jpg"/>
          <p:cNvPicPr>
            <a:picLocks noChangeAspect="1"/>
          </p:cNvPicPr>
          <p:nvPr/>
        </p:nvPicPr>
        <p:blipFill>
          <a:blip r:embed="rId4"/>
          <a:stretch>
            <a:fillRect/>
          </a:stretch>
        </p:blipFill>
        <p:spPr>
          <a:xfrm>
            <a:off x="4754880" y="1632963"/>
            <a:ext cx="1783080" cy="3948689"/>
          </a:xfrm>
          <a:prstGeom prst="rect">
            <a:avLst/>
          </a:prstGeom>
        </p:spPr>
      </p:pic>
      <p:sp>
        <p:nvSpPr>
          <p:cNvPr id="21" name="Rectangle 20"/>
          <p:cNvSpPr/>
          <p:nvPr/>
        </p:nvSpPr>
        <p:spPr>
          <a:xfrm>
            <a:off x="4754880" y="1632963"/>
            <a:ext cx="1783080" cy="3948689"/>
          </a:xfrm>
          <a:prstGeom prst="rect">
            <a:avLst/>
          </a:prstGeom>
          <a:noFill/>
          <a:ln w="9525">
            <a:solidFill>
              <a:srgbClr val="D6DCE3"/>
            </a:solidFill>
          </a:ln>
          <a:effectLst/>
        </p:spPr>
        <p:txBody>
          <a:bodyPr rtlCol="0" anchor="ctr"/>
          <a:lstStyle/>
          <a:p>
            <a:pPr algn="ctr"/>
          </a:p>
        </p:txBody>
      </p:sp>
      <p:sp>
        <p:nvSpPr>
          <p:cNvPr id="22" name="TextBox 21"/>
          <p:cNvSpPr txBox="1"/>
          <p:nvPr/>
        </p:nvSpPr>
        <p:spPr>
          <a:xfrm>
            <a:off x="4754880"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Saved</a:t>
            </a:r>
          </a:p>
        </p:txBody>
      </p:sp>
      <p:sp>
        <p:nvSpPr>
          <p:cNvPr id="23" name="Oval 22"/>
          <p:cNvSpPr/>
          <p:nvPr/>
        </p:nvSpPr>
        <p:spPr>
          <a:xfrm>
            <a:off x="2043318" y="1881730"/>
            <a:ext cx="167609" cy="181639"/>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1741566" y="1844533"/>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1741566" y="1849105"/>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6" name="Rounded Rectangle 25"/>
          <p:cNvSpPr/>
          <p:nvPr/>
        </p:nvSpPr>
        <p:spPr>
          <a:xfrm>
            <a:off x="2803550" y="3232182"/>
            <a:ext cx="1497787" cy="197434"/>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7" name="Oval 26"/>
          <p:cNvSpPr/>
          <p:nvPr/>
        </p:nvSpPr>
        <p:spPr>
          <a:xfrm>
            <a:off x="2675534" y="3202883"/>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8" name="TextBox 27"/>
          <p:cNvSpPr txBox="1"/>
          <p:nvPr/>
        </p:nvSpPr>
        <p:spPr>
          <a:xfrm>
            <a:off x="2675534" y="3207455"/>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2</a:t>
            </a:r>
          </a:p>
        </p:txBody>
      </p:sp>
      <p:sp>
        <p:nvSpPr>
          <p:cNvPr id="29" name="Oval 28"/>
          <p:cNvSpPr/>
          <p:nvPr/>
        </p:nvSpPr>
        <p:spPr>
          <a:xfrm>
            <a:off x="6940296" y="159105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6940296"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31" name="TextBox 30"/>
          <p:cNvSpPr txBox="1"/>
          <p:nvPr/>
        </p:nvSpPr>
        <p:spPr>
          <a:xfrm>
            <a:off x="7360920" y="1572768"/>
            <a:ext cx="4263847"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Tasks tab &gt; the + button</a:t>
            </a:r>
          </a:p>
          <a:p>
            <a:pPr algn="l">
              <a:spcBef>
                <a:spcPts val="200"/>
              </a:spcBef>
              <a:spcAft>
                <a:spcPts val="0"/>
              </a:spcAft>
            </a:pPr>
            <a:r>
              <a:rPr sz="1150" b="0" i="0">
                <a:solidFill>
                  <a:srgbClr val="3C4450"/>
                </a:solidFill>
                <a:latin typeface="Segoe UI"/>
              </a:rPr>
              <a:t>Top right. A New Task sheet slides up from the bottom.</a:t>
            </a:r>
          </a:p>
        </p:txBody>
      </p:sp>
      <p:sp>
        <p:nvSpPr>
          <p:cNvPr id="32" name="Oval 31"/>
          <p:cNvSpPr/>
          <p:nvPr/>
        </p:nvSpPr>
        <p:spPr>
          <a:xfrm>
            <a:off x="6940296" y="2123236"/>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6940296" y="212780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4" name="TextBox 33"/>
          <p:cNvSpPr txBox="1"/>
          <p:nvPr/>
        </p:nvSpPr>
        <p:spPr>
          <a:xfrm>
            <a:off x="7360920" y="2104948"/>
            <a:ext cx="4263847"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Give it a title</a:t>
            </a:r>
          </a:p>
          <a:p>
            <a:pPr algn="l">
              <a:spcBef>
                <a:spcPts val="200"/>
              </a:spcBef>
              <a:spcAft>
                <a:spcPts val="0"/>
              </a:spcAft>
            </a:pPr>
            <a:r>
              <a:rPr sz="1150" b="0" i="0">
                <a:solidFill>
                  <a:srgbClr val="3C4450"/>
                </a:solidFill>
                <a:latin typeface="Segoe UI"/>
              </a:rPr>
              <a:t>The only required field. Saving without one raises "Add a title" and nothing is written.</a:t>
            </a:r>
          </a:p>
        </p:txBody>
      </p:sp>
      <p:sp>
        <p:nvSpPr>
          <p:cNvPr id="35" name="Oval 34"/>
          <p:cNvSpPr/>
          <p:nvPr/>
        </p:nvSpPr>
        <p:spPr>
          <a:xfrm>
            <a:off x="6940296" y="2858412"/>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6940296" y="286298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7" name="TextBox 36"/>
          <p:cNvSpPr txBox="1"/>
          <p:nvPr/>
        </p:nvSpPr>
        <p:spPr>
          <a:xfrm>
            <a:off x="7360920" y="2840124"/>
            <a:ext cx="4263847"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Choose a priority</a:t>
            </a:r>
          </a:p>
          <a:p>
            <a:pPr algn="l">
              <a:spcBef>
                <a:spcPts val="200"/>
              </a:spcBef>
              <a:spcAft>
                <a:spcPts val="0"/>
              </a:spcAft>
            </a:pPr>
            <a:r>
              <a:rPr sz="1150" b="0" i="0">
                <a:solidFill>
                  <a:srgbClr val="3C4450"/>
                </a:solidFill>
                <a:latin typeface="Segoe UI"/>
              </a:rPr>
              <a:t>Low, Medium or High, defaulting to Medium. This drives the colour of the pill in the list and the High Priority count on Home.</a:t>
            </a:r>
          </a:p>
        </p:txBody>
      </p:sp>
      <p:sp>
        <p:nvSpPr>
          <p:cNvPr id="38" name="Oval 37"/>
          <p:cNvSpPr/>
          <p:nvPr/>
        </p:nvSpPr>
        <p:spPr>
          <a:xfrm>
            <a:off x="6940296" y="3593588"/>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6940296" y="359816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40" name="TextBox 39"/>
          <p:cNvSpPr txBox="1"/>
          <p:nvPr/>
        </p:nvSpPr>
        <p:spPr>
          <a:xfrm>
            <a:off x="7360920" y="3575300"/>
            <a:ext cx="4263847"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Set a category</a:t>
            </a:r>
          </a:p>
          <a:p>
            <a:pPr algn="l">
              <a:spcBef>
                <a:spcPts val="200"/>
              </a:spcBef>
              <a:spcAft>
                <a:spcPts val="0"/>
              </a:spcAft>
            </a:pPr>
            <a:r>
              <a:rPr sz="1150" b="0" i="0">
                <a:solidFill>
                  <a:srgbClr val="3C4450"/>
                </a:solidFill>
                <a:latin typeface="Segoe UI"/>
              </a:rPr>
              <a:t>Free text, defaulting to General. Tasks created by the Telegram sync arrive tagged Telegram.</a:t>
            </a:r>
          </a:p>
        </p:txBody>
      </p:sp>
      <p:sp>
        <p:nvSpPr>
          <p:cNvPr id="41" name="Oval 40"/>
          <p:cNvSpPr/>
          <p:nvPr/>
        </p:nvSpPr>
        <p:spPr>
          <a:xfrm>
            <a:off x="6940296" y="4328764"/>
            <a:ext cx="274320" cy="274320"/>
          </a:xfrm>
          <a:prstGeom prst="ellipse">
            <a:avLst/>
          </a:prstGeom>
          <a:solidFill>
            <a:srgbClr val="B07A2B"/>
          </a:solidFill>
          <a:ln>
            <a:noFill/>
          </a:ln>
          <a:effectLst/>
        </p:spPr>
        <p:txBody>
          <a:bodyPr rtlCol="0" anchor="ctr"/>
          <a:lstStyle/>
          <a:p>
            <a:pPr algn="ctr"/>
          </a:p>
        </p:txBody>
      </p:sp>
      <p:sp>
        <p:nvSpPr>
          <p:cNvPr id="42" name="TextBox 41"/>
          <p:cNvSpPr txBox="1"/>
          <p:nvPr/>
        </p:nvSpPr>
        <p:spPr>
          <a:xfrm>
            <a:off x="6940296" y="433333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43" name="TextBox 42"/>
          <p:cNvSpPr txBox="1"/>
          <p:nvPr/>
        </p:nvSpPr>
        <p:spPr>
          <a:xfrm>
            <a:off x="7360920" y="4310476"/>
            <a:ext cx="4263847"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Pick a due date, and add notes if you want</a:t>
            </a:r>
          </a:p>
          <a:p>
            <a:pPr algn="l">
              <a:spcBef>
                <a:spcPts val="200"/>
              </a:spcBef>
              <a:spcAft>
                <a:spcPts val="0"/>
              </a:spcAft>
            </a:pPr>
            <a:r>
              <a:rPr sz="1150" b="0" i="0">
                <a:solidFill>
                  <a:srgbClr val="3C4450"/>
                </a:solidFill>
                <a:latin typeface="Segoe UI"/>
              </a:rPr>
              <a:t>None, Today, Tomorrow, In 3 days or In 1 week - each resolved to midnight on that day. Notes are optional.</a:t>
            </a:r>
          </a:p>
        </p:txBody>
      </p:sp>
      <p:sp>
        <p:nvSpPr>
          <p:cNvPr id="44" name="Oval 43"/>
          <p:cNvSpPr/>
          <p:nvPr/>
        </p:nvSpPr>
        <p:spPr>
          <a:xfrm>
            <a:off x="6940296" y="5063940"/>
            <a:ext cx="274320" cy="274320"/>
          </a:xfrm>
          <a:prstGeom prst="ellipse">
            <a:avLst/>
          </a:prstGeom>
          <a:solidFill>
            <a:srgbClr val="B07A2B"/>
          </a:solidFill>
          <a:ln>
            <a:noFill/>
          </a:ln>
          <a:effectLst/>
        </p:spPr>
        <p:txBody>
          <a:bodyPr rtlCol="0" anchor="ctr"/>
          <a:lstStyle/>
          <a:p>
            <a:pPr algn="ctr"/>
          </a:p>
        </p:txBody>
      </p:sp>
      <p:sp>
        <p:nvSpPr>
          <p:cNvPr id="45" name="TextBox 44"/>
          <p:cNvSpPr txBox="1"/>
          <p:nvPr/>
        </p:nvSpPr>
        <p:spPr>
          <a:xfrm>
            <a:off x="6940296" y="5068512"/>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6</a:t>
            </a:r>
          </a:p>
        </p:txBody>
      </p:sp>
      <p:sp>
        <p:nvSpPr>
          <p:cNvPr id="46" name="TextBox 45"/>
          <p:cNvSpPr txBox="1"/>
          <p:nvPr/>
        </p:nvSpPr>
        <p:spPr>
          <a:xfrm>
            <a:off x="7360920" y="5045652"/>
            <a:ext cx="4263847"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Tap Add Task</a:t>
            </a:r>
          </a:p>
          <a:p>
            <a:pPr algn="l">
              <a:spcBef>
                <a:spcPts val="200"/>
              </a:spcBef>
              <a:spcAft>
                <a:spcPts val="0"/>
              </a:spcAft>
            </a:pPr>
            <a:r>
              <a:rPr sz="1150" b="0" i="0">
                <a:solidFill>
                  <a:srgbClr val="3C4450"/>
                </a:solidFill>
                <a:latin typeface="Segoe UI"/>
              </a:rPr>
              <a:t>It appears in the list immediately, and every counter in the app updates with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A6B3D"/>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Delete a task</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A6B3D"/>
                </a:solidFill>
                <a:latin typeface="Segoe UI"/>
              </a:rPr>
              <a:t>13</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4A6B3D"/>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10</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A6B3D"/>
                </a:solidFill>
                <a:latin typeface="Segoe UI"/>
              </a:rPr>
              <a:t>TASKS</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Delete a task</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Deliberately two steps, because there is no undo.</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4A6B3D"/>
                </a:solidFill>
                <a:latin typeface="Segoe UI"/>
              </a:rPr>
              <a:t>User</a:t>
            </a:r>
          </a:p>
        </p:txBody>
      </p:sp>
      <p:pic>
        <p:nvPicPr>
          <p:cNvPr id="14" name="Picture 13" descr="AddTask3.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The task list</a:t>
            </a:r>
          </a:p>
        </p:txBody>
      </p:sp>
      <p:pic>
        <p:nvPicPr>
          <p:cNvPr id="17" name="Picture 16" descr="DeleteTask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Confirm</a:t>
            </a:r>
          </a:p>
        </p:txBody>
      </p:sp>
      <p:sp>
        <p:nvSpPr>
          <p:cNvPr id="20" name="Oval 19"/>
          <p:cNvSpPr/>
          <p:nvPr/>
        </p:nvSpPr>
        <p:spPr>
          <a:xfrm>
            <a:off x="1950598" y="2742544"/>
            <a:ext cx="178307" cy="205331"/>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1648846" y="2717193"/>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1648846" y="2721765"/>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Oval 22"/>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4" name="TextBox 23"/>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5" name="TextBox 24"/>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the bin icon on the task</a:t>
            </a:r>
          </a:p>
          <a:p>
            <a:pPr algn="l">
              <a:spcBef>
                <a:spcPts val="200"/>
              </a:spcBef>
              <a:spcAft>
                <a:spcPts val="0"/>
              </a:spcAft>
            </a:pPr>
            <a:r>
              <a:rPr sz="1200" b="0" i="0">
                <a:solidFill>
                  <a:srgbClr val="3C4450"/>
                </a:solidFill>
                <a:latin typeface="Segoe UI"/>
              </a:rPr>
              <a:t>On the right-hand edge of the card. It has a generous tap target, so it is hard to miss and hard to hit by accident.</a:t>
            </a:r>
          </a:p>
        </p:txBody>
      </p:sp>
      <p:sp>
        <p:nvSpPr>
          <p:cNvPr id="26" name="Oval 25"/>
          <p:cNvSpPr/>
          <p:nvPr/>
        </p:nvSpPr>
        <p:spPr>
          <a:xfrm>
            <a:off x="4846320" y="2326232"/>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28" name="TextBox 27"/>
          <p:cNvSpPr txBox="1"/>
          <p:nvPr/>
        </p:nvSpPr>
        <p:spPr>
          <a:xfrm>
            <a:off x="5266944" y="230794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Read the confirmation - it names the task</a:t>
            </a:r>
          </a:p>
          <a:p>
            <a:pPr algn="l">
              <a:spcBef>
                <a:spcPts val="200"/>
              </a:spcBef>
              <a:spcAft>
                <a:spcPts val="0"/>
              </a:spcAft>
            </a:pPr>
            <a:r>
              <a:rPr sz="1200" b="0" i="0">
                <a:solidFill>
                  <a:srgbClr val="3C4450"/>
                </a:solidFill>
                <a:latin typeface="Segoe UI"/>
              </a:rPr>
              <a:t>"Delete 'SDP2 Presentation'? This can't be undone." Naming the task means you cannot delete the wrong one by muscle memory.</a:t>
            </a:r>
          </a:p>
        </p:txBody>
      </p:sp>
      <p:sp>
        <p:nvSpPr>
          <p:cNvPr id="29" name="Oval 28"/>
          <p:cNvSpPr/>
          <p:nvPr/>
        </p:nvSpPr>
        <p:spPr>
          <a:xfrm>
            <a:off x="4846320" y="3061408"/>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306598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1" name="TextBox 30"/>
          <p:cNvSpPr txBox="1"/>
          <p:nvPr/>
        </p:nvSpPr>
        <p:spPr>
          <a:xfrm>
            <a:off x="5266944" y="304312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DELETE to remove it, CANCEL to back out</a:t>
            </a:r>
          </a:p>
          <a:p>
            <a:pPr algn="l">
              <a:spcBef>
                <a:spcPts val="200"/>
              </a:spcBef>
              <a:spcAft>
                <a:spcPts val="0"/>
              </a:spcAft>
            </a:pPr>
            <a:r>
              <a:rPr sz="1200" b="0" i="0">
                <a:solidFill>
                  <a:srgbClr val="3C4450"/>
                </a:solidFill>
                <a:latin typeface="Segoe UI"/>
              </a:rPr>
              <a:t>Deletion is permanent - there is no bin to recover it from, and the data export will not contain it afterwards.</a:t>
            </a:r>
          </a:p>
        </p:txBody>
      </p:sp>
      <p:sp>
        <p:nvSpPr>
          <p:cNvPr id="32" name="Oval 31"/>
          <p:cNvSpPr/>
          <p:nvPr/>
        </p:nvSpPr>
        <p:spPr>
          <a:xfrm>
            <a:off x="4846320" y="3796584"/>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380115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4" name="TextBox 33"/>
          <p:cNvSpPr txBox="1"/>
          <p:nvPr/>
        </p:nvSpPr>
        <p:spPr>
          <a:xfrm>
            <a:off x="5266944" y="3778296"/>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To keep a task but mark it done, use the checkbox instead</a:t>
            </a:r>
          </a:p>
          <a:p>
            <a:pPr algn="l">
              <a:spcBef>
                <a:spcPts val="200"/>
              </a:spcBef>
              <a:spcAft>
                <a:spcPts val="0"/>
              </a:spcAft>
            </a:pPr>
            <a:r>
              <a:rPr sz="1200" b="0" i="0">
                <a:solidFill>
                  <a:srgbClr val="3C4450"/>
                </a:solidFill>
                <a:latin typeface="Segoe UI"/>
              </a:rPr>
              <a:t>Completed tasks stay in the list with a strikethrough and show under the Completed filter.</a:t>
            </a:r>
          </a:p>
        </p:txBody>
      </p:sp>
      <p:sp>
        <p:nvSpPr>
          <p:cNvPr id="35" name="Rectangle 34"/>
          <p:cNvSpPr/>
          <p:nvPr/>
        </p:nvSpPr>
        <p:spPr>
          <a:xfrm>
            <a:off x="4846320" y="4251960"/>
            <a:ext cx="6778447" cy="832104"/>
          </a:xfrm>
          <a:prstGeom prst="rect">
            <a:avLst/>
          </a:prstGeom>
          <a:solidFill>
            <a:srgbClr val="F4F6F9"/>
          </a:solidFill>
          <a:ln>
            <a:noFill/>
          </a:ln>
          <a:effectLst/>
        </p:spPr>
        <p:txBody>
          <a:bodyPr rtlCol="0" anchor="ctr"/>
          <a:lstStyle/>
          <a:p>
            <a:pPr algn="ctr"/>
          </a:p>
        </p:txBody>
      </p:sp>
      <p:sp>
        <p:nvSpPr>
          <p:cNvPr id="36" name="Rectangle 35"/>
          <p:cNvSpPr/>
          <p:nvPr/>
        </p:nvSpPr>
        <p:spPr>
          <a:xfrm>
            <a:off x="4846320" y="4251960"/>
            <a:ext cx="41148" cy="832104"/>
          </a:xfrm>
          <a:prstGeom prst="rect">
            <a:avLst/>
          </a:prstGeom>
          <a:solidFill>
            <a:srgbClr val="4A6B3D"/>
          </a:solidFill>
          <a:ln>
            <a:noFill/>
          </a:ln>
          <a:effectLst/>
        </p:spPr>
        <p:txBody>
          <a:bodyPr rtlCol="0" anchor="ctr"/>
          <a:lstStyle/>
          <a:p>
            <a:pPr algn="ctr"/>
          </a:p>
        </p:txBody>
      </p:sp>
      <p:sp>
        <p:nvSpPr>
          <p:cNvPr id="37" name="TextBox 36"/>
          <p:cNvSpPr txBox="1"/>
          <p:nvPr/>
        </p:nvSpPr>
        <p:spPr>
          <a:xfrm>
            <a:off x="5047488" y="4361688"/>
            <a:ext cx="6394399" cy="649224"/>
          </a:xfrm>
          <a:prstGeom prst="rect">
            <a:avLst/>
          </a:prstGeom>
          <a:noFill/>
        </p:spPr>
        <p:txBody>
          <a:bodyPr wrap="square" anchor="t" lIns="0" rIns="0" tIns="0" bIns="0">
            <a:spAutoFit/>
          </a:bodyPr>
          <a:lstStyle/>
          <a:p>
            <a:pPr algn="l">
              <a:spcBef>
                <a:spcPts val="0"/>
              </a:spcBef>
              <a:spcAft>
                <a:spcPts val="0"/>
              </a:spcAft>
            </a:pPr>
            <a:r>
              <a:rPr sz="1200" b="1" i="0">
                <a:solidFill>
                  <a:srgbClr val="4A6B3D"/>
                </a:solidFill>
                <a:latin typeface="Segoe UI"/>
              </a:rPr>
              <a:t>Deleting everything at once</a:t>
            </a:r>
          </a:p>
          <a:p>
            <a:pPr algn="l">
              <a:spcBef>
                <a:spcPts val="300"/>
              </a:spcBef>
              <a:spcAft>
                <a:spcPts val="0"/>
              </a:spcAft>
            </a:pPr>
            <a:r>
              <a:rPr sz="1100" b="0" i="0">
                <a:solidFill>
                  <a:srgbClr val="3C4450"/>
                </a:solidFill>
                <a:latin typeface="Segoe UI"/>
              </a:rPr>
              <a:t>Profile &gt; Account Security &gt; Delete all data erases every task, event and reminder together, along with your account. Step 14 covers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8A6A3B"/>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Calendar</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8A6A3B"/>
                </a:solidFill>
                <a:latin typeface="Segoe UI"/>
              </a:rPr>
              <a:t>14</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8A6A3B"/>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11</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8A6A3B"/>
                </a:solidFill>
                <a:latin typeface="Segoe UI"/>
              </a:rPr>
              <a:t>CALENDAR</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View the calendar</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A month at a glance, then the agenda for whichever day you tap.</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8A6A3B"/>
                </a:solidFill>
                <a:latin typeface="Segoe UI"/>
              </a:rPr>
              <a:t>User</a:t>
            </a:r>
          </a:p>
        </p:txBody>
      </p:sp>
      <p:pic>
        <p:nvPicPr>
          <p:cNvPr id="14" name="Picture 13" descr="ViewCalender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Calendar</a:t>
            </a:r>
          </a:p>
        </p:txBody>
      </p:sp>
      <p:sp>
        <p:nvSpPr>
          <p:cNvPr id="17" name="Oval 16"/>
          <p:cNvSpPr/>
          <p:nvPr/>
        </p:nvSpPr>
        <p:spPr>
          <a:xfrm>
            <a:off x="1993392" y="2730698"/>
            <a:ext cx="160477" cy="165844"/>
          </a:xfrm>
          <a:prstGeom prst="ellipse">
            <a:avLst/>
          </a:prstGeom>
          <a:solidFill>
            <a:srgbClr val="B07A2B">
              <a:alpha val="16000"/>
            </a:srgbClr>
          </a:solidFill>
          <a:ln w="15875">
            <a:solidFill>
              <a:srgbClr val="B07A2B"/>
            </a:solidFill>
          </a:ln>
          <a:effectLst/>
        </p:spPr>
        <p:txBody>
          <a:bodyPr rtlCol="0" anchor="ctr"/>
          <a:lstStyle/>
          <a:p>
            <a:pPr algn="ctr"/>
          </a:p>
        </p:txBody>
      </p:sp>
      <p:sp>
        <p:nvSpPr>
          <p:cNvPr id="18" name="Oval 17"/>
          <p:cNvSpPr/>
          <p:nvPr/>
        </p:nvSpPr>
        <p:spPr>
          <a:xfrm>
            <a:off x="1691640" y="2685604"/>
            <a:ext cx="256032" cy="256032"/>
          </a:xfrm>
          <a:prstGeom prst="ellipse">
            <a:avLst/>
          </a:prstGeom>
          <a:solidFill>
            <a:srgbClr val="B07A2B"/>
          </a:solidFill>
          <a:ln w="15875">
            <a:solidFill>
              <a:srgbClr val="FFFFFF"/>
            </a:solidFill>
          </a:ln>
          <a:effectLst/>
        </p:spPr>
        <p:txBody>
          <a:bodyPr rtlCol="0" anchor="ctr"/>
          <a:lstStyle/>
          <a:p>
            <a:pPr algn="ctr"/>
          </a:p>
        </p:txBody>
      </p:sp>
      <p:sp>
        <p:nvSpPr>
          <p:cNvPr id="19" name="TextBox 18"/>
          <p:cNvSpPr txBox="1"/>
          <p:nvPr/>
        </p:nvSpPr>
        <p:spPr>
          <a:xfrm>
            <a:off x="1691640" y="2690176"/>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3</a:t>
            </a:r>
          </a:p>
        </p:txBody>
      </p:sp>
      <p:sp>
        <p:nvSpPr>
          <p:cNvPr id="20" name="Rounded Rectangle 19"/>
          <p:cNvSpPr/>
          <p:nvPr/>
        </p:nvSpPr>
        <p:spPr>
          <a:xfrm>
            <a:off x="638251" y="4081150"/>
            <a:ext cx="1622602" cy="323792"/>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510235" y="4115030"/>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510235" y="4119602"/>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5</a:t>
            </a:r>
          </a:p>
        </p:txBody>
      </p:sp>
      <p:sp>
        <p:nvSpPr>
          <p:cNvPr id="23" name="Oval 22"/>
          <p:cNvSpPr/>
          <p:nvPr/>
        </p:nvSpPr>
        <p:spPr>
          <a:xfrm>
            <a:off x="2752344" y="1591056"/>
            <a:ext cx="274320" cy="274320"/>
          </a:xfrm>
          <a:prstGeom prst="ellipse">
            <a:avLst/>
          </a:prstGeom>
          <a:solidFill>
            <a:srgbClr val="B07A2B"/>
          </a:solidFill>
          <a:ln>
            <a:noFill/>
          </a:ln>
          <a:effectLst/>
        </p:spPr>
        <p:txBody>
          <a:bodyPr rtlCol="0" anchor="ctr"/>
          <a:lstStyle/>
          <a:p>
            <a:pPr algn="ctr"/>
          </a:p>
        </p:txBody>
      </p:sp>
      <p:sp>
        <p:nvSpPr>
          <p:cNvPr id="24" name="TextBox 23"/>
          <p:cNvSpPr txBox="1"/>
          <p:nvPr/>
        </p:nvSpPr>
        <p:spPr>
          <a:xfrm>
            <a:off x="2752344"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5" name="TextBox 24"/>
          <p:cNvSpPr txBox="1"/>
          <p:nvPr/>
        </p:nvSpPr>
        <p:spPr>
          <a:xfrm>
            <a:off x="3172968" y="1572768"/>
            <a:ext cx="8451799"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Open the Calendar tab</a:t>
            </a:r>
          </a:p>
          <a:p>
            <a:pPr algn="l">
              <a:spcBef>
                <a:spcPts val="200"/>
              </a:spcBef>
              <a:spcAft>
                <a:spcPts val="0"/>
              </a:spcAft>
            </a:pPr>
            <a:r>
              <a:rPr sz="1150" b="0" i="0">
                <a:solidFill>
                  <a:srgbClr val="3C4450"/>
                </a:solidFill>
                <a:latin typeface="Segoe UI"/>
              </a:rPr>
              <a:t>It asks for calendar permission the first time. Refuse it and the screen shows a lock with a Grant access button instead of a grid.</a:t>
            </a:r>
          </a:p>
        </p:txBody>
      </p:sp>
      <p:sp>
        <p:nvSpPr>
          <p:cNvPr id="26" name="Oval 25"/>
          <p:cNvSpPr/>
          <p:nvPr/>
        </p:nvSpPr>
        <p:spPr>
          <a:xfrm>
            <a:off x="2752344" y="2326232"/>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2752344"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28" name="TextBox 27"/>
          <p:cNvSpPr txBox="1"/>
          <p:nvPr/>
        </p:nvSpPr>
        <p:spPr>
          <a:xfrm>
            <a:off x="3172968" y="2307944"/>
            <a:ext cx="8451799"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Move between months with the arrows</a:t>
            </a:r>
          </a:p>
          <a:p>
            <a:pPr algn="l">
              <a:spcBef>
                <a:spcPts val="200"/>
              </a:spcBef>
              <a:spcAft>
                <a:spcPts val="0"/>
              </a:spcAft>
            </a:pPr>
            <a:r>
              <a:rPr sz="1150" b="0" i="0">
                <a:solidFill>
                  <a:srgbClr val="3C4450"/>
                </a:solidFill>
                <a:latin typeface="Segoe UI"/>
              </a:rPr>
              <a:t>Jumping to another month selects day 1; coming back to this month re-selects today.</a:t>
            </a:r>
          </a:p>
        </p:txBody>
      </p:sp>
      <p:sp>
        <p:nvSpPr>
          <p:cNvPr id="29" name="Oval 28"/>
          <p:cNvSpPr/>
          <p:nvPr/>
        </p:nvSpPr>
        <p:spPr>
          <a:xfrm>
            <a:off x="2752344" y="2858412"/>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2752344" y="286298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1" name="TextBox 30"/>
          <p:cNvSpPr txBox="1"/>
          <p:nvPr/>
        </p:nvSpPr>
        <p:spPr>
          <a:xfrm>
            <a:off x="3172968" y="2840124"/>
            <a:ext cx="8451799"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Today is ringed, the selected day is filled</a:t>
            </a:r>
          </a:p>
          <a:p>
            <a:pPr algn="l">
              <a:spcBef>
                <a:spcPts val="200"/>
              </a:spcBef>
              <a:spcAft>
                <a:spcPts val="0"/>
              </a:spcAft>
            </a:pPr>
            <a:r>
              <a:rPr sz="1150" b="0" i="0">
                <a:solidFill>
                  <a:srgbClr val="3C4450"/>
                </a:solidFill>
                <a:latin typeface="Segoe UI"/>
              </a:rPr>
              <a:t>Two different states, so you never lose track of where today is while browsing ahead.</a:t>
            </a:r>
          </a:p>
        </p:txBody>
      </p:sp>
      <p:sp>
        <p:nvSpPr>
          <p:cNvPr id="32" name="Oval 31"/>
          <p:cNvSpPr/>
          <p:nvPr/>
        </p:nvSpPr>
        <p:spPr>
          <a:xfrm>
            <a:off x="2752344" y="3390592"/>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2752344" y="339516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4" name="TextBox 33"/>
          <p:cNvSpPr txBox="1"/>
          <p:nvPr/>
        </p:nvSpPr>
        <p:spPr>
          <a:xfrm>
            <a:off x="3172968" y="3372304"/>
            <a:ext cx="8451799"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Dots under a day count its events</a:t>
            </a:r>
          </a:p>
          <a:p>
            <a:pPr algn="l">
              <a:spcBef>
                <a:spcPts val="200"/>
              </a:spcBef>
              <a:spcAft>
                <a:spcPts val="0"/>
              </a:spcAft>
            </a:pPr>
            <a:r>
              <a:rPr sz="1150" b="0" i="0">
                <a:solidFill>
                  <a:srgbClr val="3C4450"/>
                </a:solidFill>
                <a:latin typeface="Segoe UI"/>
              </a:rPr>
              <a:t>Up to three, then it stops - the dots show how busy a day is, not an exact number.</a:t>
            </a:r>
          </a:p>
        </p:txBody>
      </p:sp>
      <p:sp>
        <p:nvSpPr>
          <p:cNvPr id="35" name="Oval 34"/>
          <p:cNvSpPr/>
          <p:nvPr/>
        </p:nvSpPr>
        <p:spPr>
          <a:xfrm>
            <a:off x="2752344" y="3922772"/>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2752344" y="392734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37" name="TextBox 36"/>
          <p:cNvSpPr txBox="1"/>
          <p:nvPr/>
        </p:nvSpPr>
        <p:spPr>
          <a:xfrm>
            <a:off x="3172968" y="3904484"/>
            <a:ext cx="8451799"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Tap a day to read its agenda</a:t>
            </a:r>
          </a:p>
          <a:p>
            <a:pPr algn="l">
              <a:spcBef>
                <a:spcPts val="200"/>
              </a:spcBef>
              <a:spcAft>
                <a:spcPts val="0"/>
              </a:spcAft>
            </a:pPr>
            <a:r>
              <a:rPr sz="1150" b="0" i="0">
                <a:solidFill>
                  <a:srgbClr val="3C4450"/>
                </a:solidFill>
                <a:latin typeface="Segoe UI"/>
              </a:rPr>
              <a:t>Listed under the grid, all-day events first and then by start time, each with its calendar's own colour down the left edge.</a:t>
            </a:r>
          </a:p>
        </p:txBody>
      </p:sp>
      <p:sp>
        <p:nvSpPr>
          <p:cNvPr id="38" name="Oval 37"/>
          <p:cNvSpPr/>
          <p:nvPr/>
        </p:nvSpPr>
        <p:spPr>
          <a:xfrm>
            <a:off x="2752344" y="4454952"/>
            <a:ext cx="274320" cy="274320"/>
          </a:xfrm>
          <a:prstGeom prst="ellipse">
            <a:avLst/>
          </a:prstGeom>
          <a:solidFill>
            <a:srgbClr val="B07A2B"/>
          </a:solidFill>
          <a:ln>
            <a:noFill/>
          </a:ln>
          <a:effectLst/>
        </p:spPr>
        <p:txBody>
          <a:bodyPr rtlCol="0" anchor="ctr"/>
          <a:lstStyle/>
          <a:p>
            <a:pPr algn="ctr"/>
          </a:p>
        </p:txBody>
      </p:sp>
      <p:sp>
        <p:nvSpPr>
          <p:cNvPr id="39" name="TextBox 38"/>
          <p:cNvSpPr txBox="1"/>
          <p:nvPr/>
        </p:nvSpPr>
        <p:spPr>
          <a:xfrm>
            <a:off x="2752344" y="445952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6</a:t>
            </a:r>
          </a:p>
        </p:txBody>
      </p:sp>
      <p:sp>
        <p:nvSpPr>
          <p:cNvPr id="40" name="TextBox 39"/>
          <p:cNvSpPr txBox="1"/>
          <p:nvPr/>
        </p:nvSpPr>
        <p:spPr>
          <a:xfrm>
            <a:off x="3172968" y="4436664"/>
            <a:ext cx="8451799" cy="274320"/>
          </a:xfrm>
          <a:prstGeom prst="rect">
            <a:avLst/>
          </a:prstGeom>
          <a:noFill/>
        </p:spPr>
        <p:txBody>
          <a:bodyPr wrap="square" anchor="t" lIns="0" rIns="0" tIns="0" bIns="0">
            <a:spAutoFit/>
          </a:bodyPr>
          <a:lstStyle/>
          <a:p>
            <a:pPr algn="l">
              <a:spcBef>
                <a:spcPts val="0"/>
              </a:spcBef>
              <a:spcAft>
                <a:spcPts val="0"/>
              </a:spcAft>
            </a:pPr>
            <a:r>
              <a:rPr sz="1300" b="1" i="0">
                <a:solidFill>
                  <a:srgbClr val="14181F"/>
                </a:solidFill>
                <a:latin typeface="Segoe UI"/>
              </a:rPr>
              <a:t>Tap an event to open it in the phone's calendar</a:t>
            </a:r>
          </a:p>
          <a:p>
            <a:pPr algn="l">
              <a:spcBef>
                <a:spcPts val="200"/>
              </a:spcBef>
              <a:spcAft>
                <a:spcPts val="0"/>
              </a:spcAft>
            </a:pPr>
            <a:r>
              <a:rPr sz="1150" b="0" i="0">
                <a:solidFill>
                  <a:srgbClr val="3C4450"/>
                </a:solidFill>
                <a:latin typeface="Segoe UI"/>
              </a:rPr>
              <a:t>Pico hands off to the native calendar app at that date. Pull down on the list to refresh.</a:t>
            </a:r>
          </a:p>
        </p:txBody>
      </p:sp>
      <p:sp>
        <p:nvSpPr>
          <p:cNvPr id="41" name="Rectangle 40"/>
          <p:cNvSpPr/>
          <p:nvPr/>
        </p:nvSpPr>
        <p:spPr>
          <a:xfrm>
            <a:off x="2752344" y="5166360"/>
            <a:ext cx="8872423" cy="832104"/>
          </a:xfrm>
          <a:prstGeom prst="rect">
            <a:avLst/>
          </a:prstGeom>
          <a:solidFill>
            <a:srgbClr val="F4F6F9"/>
          </a:solidFill>
          <a:ln>
            <a:noFill/>
          </a:ln>
          <a:effectLst/>
        </p:spPr>
        <p:txBody>
          <a:bodyPr rtlCol="0" anchor="ctr"/>
          <a:lstStyle/>
          <a:p>
            <a:pPr algn="ctr"/>
          </a:p>
        </p:txBody>
      </p:sp>
      <p:sp>
        <p:nvSpPr>
          <p:cNvPr id="42" name="Rectangle 41"/>
          <p:cNvSpPr/>
          <p:nvPr/>
        </p:nvSpPr>
        <p:spPr>
          <a:xfrm>
            <a:off x="2752344" y="5166360"/>
            <a:ext cx="41148" cy="832104"/>
          </a:xfrm>
          <a:prstGeom prst="rect">
            <a:avLst/>
          </a:prstGeom>
          <a:solidFill>
            <a:srgbClr val="8A6A3B"/>
          </a:solidFill>
          <a:ln>
            <a:noFill/>
          </a:ln>
          <a:effectLst/>
        </p:spPr>
        <p:txBody>
          <a:bodyPr rtlCol="0" anchor="ctr"/>
          <a:lstStyle/>
          <a:p>
            <a:pPr algn="ctr"/>
          </a:p>
        </p:txBody>
      </p:sp>
      <p:sp>
        <p:nvSpPr>
          <p:cNvPr id="43" name="TextBox 42"/>
          <p:cNvSpPr txBox="1"/>
          <p:nvPr/>
        </p:nvSpPr>
        <p:spPr>
          <a:xfrm>
            <a:off x="2953512" y="5276088"/>
            <a:ext cx="8488375" cy="649224"/>
          </a:xfrm>
          <a:prstGeom prst="rect">
            <a:avLst/>
          </a:prstGeom>
          <a:noFill/>
        </p:spPr>
        <p:txBody>
          <a:bodyPr wrap="square" anchor="t" lIns="0" rIns="0" tIns="0" bIns="0">
            <a:spAutoFit/>
          </a:bodyPr>
          <a:lstStyle/>
          <a:p>
            <a:pPr algn="l">
              <a:spcBef>
                <a:spcPts val="0"/>
              </a:spcBef>
              <a:spcAft>
                <a:spcPts val="0"/>
              </a:spcAft>
            </a:pPr>
            <a:r>
              <a:rPr sz="1200" b="1" i="0">
                <a:solidFill>
                  <a:srgbClr val="8A6A3B"/>
                </a:solidFill>
                <a:latin typeface="Segoe UI"/>
              </a:rPr>
              <a:t>Two calendars feed this screen</a:t>
            </a:r>
          </a:p>
          <a:p>
            <a:pPr algn="l">
              <a:spcBef>
                <a:spcPts val="300"/>
              </a:spcBef>
              <a:spcAft>
                <a:spcPts val="0"/>
              </a:spcAft>
            </a:pPr>
            <a:r>
              <a:rPr sz="1100" b="0" i="0">
                <a:solidFill>
                  <a:srgbClr val="3C4450"/>
                </a:solidFill>
                <a:latin typeface="Segoe UI"/>
              </a:rPr>
              <a:t>Your real Android calendar, and the separate store Pico writes to when it creates an event from chat. This screen merges both - but an event Pico made will not appear in Google Calendar.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C4A6B"/>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Tool call example</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C4A6B"/>
                </a:solidFill>
                <a:latin typeface="Segoe UI"/>
              </a:rPr>
              <a:t>15</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4C4A6B"/>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12</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C4A6B"/>
                </a:solidFill>
                <a:latin typeface="Segoe UI"/>
              </a:rPr>
              <a:t>THE ASSISTANT</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A tool call end to end: Plan My Day</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 clearest demonstration of the pipeline - one tap runs several tools and hands their output to the model.</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4C4A6B"/>
                </a:solidFill>
                <a:latin typeface="Segoe UI"/>
              </a:rPr>
              <a:t>On-device AI</a:t>
            </a:r>
          </a:p>
        </p:txBody>
      </p:sp>
      <p:pic>
        <p:nvPicPr>
          <p:cNvPr id="14" name="Picture 13" descr="ToolCallPlanMyDay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Planning...</a:t>
            </a:r>
          </a:p>
        </p:txBody>
      </p:sp>
      <p:pic>
        <p:nvPicPr>
          <p:cNvPr id="17" name="Picture 16" descr="ToolCallPlanMyDay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The plan, in chat</a:t>
            </a:r>
          </a:p>
        </p:txBody>
      </p:sp>
      <p:sp>
        <p:nvSpPr>
          <p:cNvPr id="20" name="Rounded Rectangle 19"/>
          <p:cNvSpPr/>
          <p:nvPr/>
        </p:nvSpPr>
        <p:spPr>
          <a:xfrm>
            <a:off x="763066" y="3192695"/>
            <a:ext cx="659739" cy="197434"/>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635050" y="3163396"/>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635050" y="3167968"/>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Oval 22"/>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4" name="TextBox 23"/>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5" name="TextBox 24"/>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Tap Plan My Day</a:t>
            </a:r>
          </a:p>
          <a:p>
            <a:pPr algn="l">
              <a:spcBef>
                <a:spcPts val="200"/>
              </a:spcBef>
              <a:spcAft>
                <a:spcPts val="0"/>
              </a:spcAft>
            </a:pPr>
            <a:r>
              <a:rPr sz="1200" b="0" i="0">
                <a:solidFill>
                  <a:srgbClr val="3C4450"/>
                </a:solidFill>
                <a:latin typeface="Segoe UI"/>
              </a:rPr>
              <a:t>On the Pico AI Assistant card, at the bottom of Tasks or on Home. Typing "plan my day" in the chat does exactly the same thing.</a:t>
            </a:r>
          </a:p>
        </p:txBody>
      </p:sp>
      <p:sp>
        <p:nvSpPr>
          <p:cNvPr id="26" name="Oval 25"/>
          <p:cNvSpPr/>
          <p:nvPr/>
        </p:nvSpPr>
        <p:spPr>
          <a:xfrm>
            <a:off x="4846320" y="2326232"/>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28" name="TextBox 27"/>
          <p:cNvSpPr txBox="1"/>
          <p:nvPr/>
        </p:nvSpPr>
        <p:spPr>
          <a:xfrm>
            <a:off x="5266944" y="230794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The button reads Planning... while it works</a:t>
            </a:r>
          </a:p>
          <a:p>
            <a:pPr algn="l">
              <a:spcBef>
                <a:spcPts val="200"/>
              </a:spcBef>
              <a:spcAft>
                <a:spcPts val="0"/>
              </a:spcAft>
            </a:pPr>
            <a:r>
              <a:rPr sz="1200" b="0" i="0">
                <a:solidFill>
                  <a:srgbClr val="3C4450"/>
                </a:solidFill>
                <a:latin typeface="Segoe UI"/>
              </a:rPr>
              <a:t>Behind it, a planner decides which read-only tools to run - normally your tasks, your calendar and the weather.</a:t>
            </a:r>
          </a:p>
        </p:txBody>
      </p:sp>
      <p:sp>
        <p:nvSpPr>
          <p:cNvPr id="29" name="Oval 28"/>
          <p:cNvSpPr/>
          <p:nvPr/>
        </p:nvSpPr>
        <p:spPr>
          <a:xfrm>
            <a:off x="4846320" y="3061408"/>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306598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1" name="TextBox 30"/>
          <p:cNvSpPr txBox="1"/>
          <p:nvPr/>
        </p:nvSpPr>
        <p:spPr>
          <a:xfrm>
            <a:off x="5266944" y="304312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Those tools run and their output is collected</a:t>
            </a:r>
          </a:p>
          <a:p>
            <a:pPr algn="l">
              <a:spcBef>
                <a:spcPts val="200"/>
              </a:spcBef>
              <a:spcAft>
                <a:spcPts val="0"/>
              </a:spcAft>
            </a:pPr>
            <a:r>
              <a:rPr sz="1200" b="0" i="0">
                <a:solidFill>
                  <a:srgbClr val="3C4450"/>
                </a:solidFill>
                <a:latin typeface="Segoe UI"/>
              </a:rPr>
              <a:t>A tool that cannot reach the internet is marked unavailable rather than failing the whole plan.</a:t>
            </a:r>
          </a:p>
        </p:txBody>
      </p:sp>
      <p:sp>
        <p:nvSpPr>
          <p:cNvPr id="32" name="Oval 31"/>
          <p:cNvSpPr/>
          <p:nvPr/>
        </p:nvSpPr>
        <p:spPr>
          <a:xfrm>
            <a:off x="4846320" y="3593588"/>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359816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4" name="TextBox 33"/>
          <p:cNvSpPr txBox="1"/>
          <p:nvPr/>
        </p:nvSpPr>
        <p:spPr>
          <a:xfrm>
            <a:off x="5266944" y="357530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The finished plan is posted into the Assistant</a:t>
            </a:r>
          </a:p>
          <a:p>
            <a:pPr algn="l">
              <a:spcBef>
                <a:spcPts val="200"/>
              </a:spcBef>
              <a:spcAft>
                <a:spcPts val="0"/>
              </a:spcAft>
            </a:pPr>
            <a:r>
              <a:rPr sz="1200" b="0" i="0">
                <a:solidFill>
                  <a:srgbClr val="3C4450"/>
                </a:solidFill>
                <a:latin typeface="Segoe UI"/>
              </a:rPr>
              <a:t>An hour-by-hour schedule built from what you actually have on, plus a note about anything that might disrupt it - here, a 90% rain chance against outdoor plans.</a:t>
            </a:r>
          </a:p>
        </p:txBody>
      </p:sp>
      <p:sp>
        <p:nvSpPr>
          <p:cNvPr id="35" name="Rectangle 34"/>
          <p:cNvSpPr/>
          <p:nvPr/>
        </p:nvSpPr>
        <p:spPr>
          <a:xfrm>
            <a:off x="4846320" y="4480560"/>
            <a:ext cx="6778447" cy="1019556"/>
          </a:xfrm>
          <a:prstGeom prst="rect">
            <a:avLst/>
          </a:prstGeom>
          <a:solidFill>
            <a:srgbClr val="F4F6F9"/>
          </a:solidFill>
          <a:ln>
            <a:noFill/>
          </a:ln>
          <a:effectLst/>
        </p:spPr>
        <p:txBody>
          <a:bodyPr rtlCol="0" anchor="ctr"/>
          <a:lstStyle/>
          <a:p>
            <a:pPr algn="ctr"/>
          </a:p>
        </p:txBody>
      </p:sp>
      <p:sp>
        <p:nvSpPr>
          <p:cNvPr id="36" name="Rectangle 35"/>
          <p:cNvSpPr/>
          <p:nvPr/>
        </p:nvSpPr>
        <p:spPr>
          <a:xfrm>
            <a:off x="4846320" y="4480560"/>
            <a:ext cx="41148" cy="1019556"/>
          </a:xfrm>
          <a:prstGeom prst="rect">
            <a:avLst/>
          </a:prstGeom>
          <a:solidFill>
            <a:srgbClr val="4C4A6B"/>
          </a:solidFill>
          <a:ln>
            <a:noFill/>
          </a:ln>
          <a:effectLst/>
        </p:spPr>
        <p:txBody>
          <a:bodyPr rtlCol="0" anchor="ctr"/>
          <a:lstStyle/>
          <a:p>
            <a:pPr algn="ctr"/>
          </a:p>
        </p:txBody>
      </p:sp>
      <p:sp>
        <p:nvSpPr>
          <p:cNvPr id="37" name="TextBox 36"/>
          <p:cNvSpPr txBox="1"/>
          <p:nvPr/>
        </p:nvSpPr>
        <p:spPr>
          <a:xfrm>
            <a:off x="5047488" y="4590288"/>
            <a:ext cx="6394399" cy="836676"/>
          </a:xfrm>
          <a:prstGeom prst="rect">
            <a:avLst/>
          </a:prstGeom>
          <a:noFill/>
        </p:spPr>
        <p:txBody>
          <a:bodyPr wrap="square" anchor="t" lIns="0" rIns="0" tIns="0" bIns="0">
            <a:spAutoFit/>
          </a:bodyPr>
          <a:lstStyle/>
          <a:p>
            <a:pPr algn="l">
              <a:spcBef>
                <a:spcPts val="0"/>
              </a:spcBef>
              <a:spcAft>
                <a:spcPts val="0"/>
              </a:spcAft>
            </a:pPr>
            <a:r>
              <a:rPr sz="1200" b="1" i="0">
                <a:solidFill>
                  <a:srgbClr val="4C4A6B"/>
                </a:solidFill>
                <a:latin typeface="Segoe UI"/>
              </a:rPr>
              <a:t>Where the writing happens</a:t>
            </a:r>
          </a:p>
          <a:p>
            <a:pPr algn="l">
              <a:spcBef>
                <a:spcPts val="300"/>
              </a:spcBef>
              <a:spcAft>
                <a:spcPts val="0"/>
              </a:spcAft>
            </a:pPr>
            <a:r>
              <a:rPr sz="1100" b="0" i="0">
                <a:solidFill>
                  <a:srgbClr val="3C4450"/>
                </a:solidFill>
                <a:latin typeface="Segoe UI"/>
              </a:rPr>
              <a:t>Plan My Day tries the cloud model first and falls back to the on-device one when there is no key or no signal. If both are unreachable it still answers, using the deterministic daily briefing instead - so the button never simply fails.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6B3F62"/>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Normal chat</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6B3F62"/>
                </a:solidFill>
                <a:latin typeface="Segoe UI"/>
              </a:rPr>
              <a:t>16</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6B3F62"/>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13</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6B3F62"/>
                </a:solidFill>
                <a:latin typeface="Segoe UI"/>
              </a:rPr>
              <a:t>THE ASSISTANT</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Just talking to Pico</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When nothing needs doing, the on-device model answers in plain prose.</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6B3F62"/>
                </a:solidFill>
                <a:latin typeface="Segoe UI"/>
              </a:rPr>
              <a:t>On-device AI</a:t>
            </a:r>
          </a:p>
        </p:txBody>
      </p:sp>
      <p:pic>
        <p:nvPicPr>
          <p:cNvPr id="14" name="Picture 13" descr="NormalChat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Typing</a:t>
            </a:r>
          </a:p>
        </p:txBody>
      </p:sp>
      <p:pic>
        <p:nvPicPr>
          <p:cNvPr id="17" name="Picture 16" descr="NormalChat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The answer</a:t>
            </a:r>
          </a:p>
        </p:txBody>
      </p:sp>
      <p:sp>
        <p:nvSpPr>
          <p:cNvPr id="20" name="Rounded Rectangle 19"/>
          <p:cNvSpPr/>
          <p:nvPr/>
        </p:nvSpPr>
        <p:spPr>
          <a:xfrm>
            <a:off x="638251" y="3548077"/>
            <a:ext cx="1640433" cy="177691"/>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510235" y="3508906"/>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510235" y="3513478"/>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1</a:t>
            </a:r>
          </a:p>
        </p:txBody>
      </p:sp>
      <p:sp>
        <p:nvSpPr>
          <p:cNvPr id="23" name="Oval 22"/>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4" name="TextBox 23"/>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5" name="TextBox 24"/>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Type into Ask Pico and send</a:t>
            </a:r>
          </a:p>
          <a:p>
            <a:pPr algn="l">
              <a:spcBef>
                <a:spcPts val="200"/>
              </a:spcBef>
              <a:spcAft>
                <a:spcPts val="0"/>
              </a:spcAft>
            </a:pPr>
            <a:r>
              <a:rPr sz="1200" b="0" i="0">
                <a:solidFill>
                  <a:srgbClr val="3C4450"/>
                </a:solidFill>
                <a:latin typeface="Segoe UI"/>
              </a:rPr>
              <a:t>The send key on the keyboard submits. Input locks while Pico is working, so a question cannot be sent twice.</a:t>
            </a:r>
          </a:p>
        </p:txBody>
      </p:sp>
      <p:sp>
        <p:nvSpPr>
          <p:cNvPr id="26" name="Oval 25"/>
          <p:cNvSpPr/>
          <p:nvPr/>
        </p:nvSpPr>
        <p:spPr>
          <a:xfrm>
            <a:off x="4846320" y="2326232"/>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233080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28" name="TextBox 27"/>
          <p:cNvSpPr txBox="1"/>
          <p:nvPr/>
        </p:nvSpPr>
        <p:spPr>
          <a:xfrm>
            <a:off x="5266944" y="230794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Pico is thinking means the model is running</a:t>
            </a:r>
          </a:p>
          <a:p>
            <a:pPr algn="l">
              <a:spcBef>
                <a:spcPts val="200"/>
              </a:spcBef>
              <a:spcAft>
                <a:spcPts val="0"/>
              </a:spcAft>
            </a:pPr>
            <a:r>
              <a:rPr sz="1200" b="0" i="0">
                <a:solidFill>
                  <a:srgbClr val="3C4450"/>
                </a:solidFill>
                <a:latin typeface="Segoe UI"/>
              </a:rPr>
              <a:t>It only appears on this path. Fast-path commands answer with no indicator at all, because there is no wait.</a:t>
            </a:r>
          </a:p>
        </p:txBody>
      </p:sp>
      <p:sp>
        <p:nvSpPr>
          <p:cNvPr id="29" name="Oval 28"/>
          <p:cNvSpPr/>
          <p:nvPr/>
        </p:nvSpPr>
        <p:spPr>
          <a:xfrm>
            <a:off x="4846320" y="3061408"/>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306598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1" name="TextBox 30"/>
          <p:cNvSpPr txBox="1"/>
          <p:nvPr/>
        </p:nvSpPr>
        <p:spPr>
          <a:xfrm>
            <a:off x="5266944" y="304312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Your message is the blue bubble on the right</a:t>
            </a:r>
          </a:p>
          <a:p>
            <a:pPr algn="l">
              <a:spcBef>
                <a:spcPts val="200"/>
              </a:spcBef>
              <a:spcAft>
                <a:spcPts val="0"/>
              </a:spcAft>
            </a:pPr>
            <a:r>
              <a:rPr sz="1200" b="0" i="0">
                <a:solidFill>
                  <a:srgbClr val="3C4450"/>
                </a:solidFill>
                <a:latin typeface="Segoe UI"/>
              </a:rPr>
              <a:t>Pico's replies are the dark bubbles on the left.</a:t>
            </a:r>
          </a:p>
        </p:txBody>
      </p:sp>
      <p:sp>
        <p:nvSpPr>
          <p:cNvPr id="32" name="Oval 31"/>
          <p:cNvSpPr/>
          <p:nvPr/>
        </p:nvSpPr>
        <p:spPr>
          <a:xfrm>
            <a:off x="4846320" y="3593588"/>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359816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4" name="TextBox 33"/>
          <p:cNvSpPr txBox="1"/>
          <p:nvPr/>
        </p:nvSpPr>
        <p:spPr>
          <a:xfrm>
            <a:off x="5266944" y="357530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The answer comes from the model on the phone</a:t>
            </a:r>
          </a:p>
          <a:p>
            <a:pPr algn="l">
              <a:spcBef>
                <a:spcPts val="200"/>
              </a:spcBef>
              <a:spcAft>
                <a:spcPts val="0"/>
              </a:spcAft>
            </a:pPr>
            <a:r>
              <a:rPr sz="1200" b="0" i="0">
                <a:solidFill>
                  <a:srgbClr val="3C4450"/>
                </a:solidFill>
                <a:latin typeface="Segoe UI"/>
              </a:rPr>
              <a:t>Nothing is looked up and nothing is transmitted - which also means answers are limited to what a 1B-parameter model knows, and it can be confidently wrong.</a:t>
            </a:r>
          </a:p>
        </p:txBody>
      </p:sp>
      <p:sp>
        <p:nvSpPr>
          <p:cNvPr id="35" name="Oval 34"/>
          <p:cNvSpPr/>
          <p:nvPr/>
        </p:nvSpPr>
        <p:spPr>
          <a:xfrm>
            <a:off x="4846320" y="4328764"/>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4846320" y="4333336"/>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5</a:t>
            </a:r>
          </a:p>
        </p:txBody>
      </p:sp>
      <p:sp>
        <p:nvSpPr>
          <p:cNvPr id="37" name="TextBox 36"/>
          <p:cNvSpPr txBox="1"/>
          <p:nvPr/>
        </p:nvSpPr>
        <p:spPr>
          <a:xfrm>
            <a:off x="5266944" y="4310476"/>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For anything live, ask it to search</a:t>
            </a:r>
          </a:p>
          <a:p>
            <a:pPr algn="l">
              <a:spcBef>
                <a:spcPts val="200"/>
              </a:spcBef>
              <a:spcAft>
                <a:spcPts val="0"/>
              </a:spcAft>
            </a:pPr>
            <a:r>
              <a:rPr sz="1200" b="0" i="0">
                <a:solidFill>
                  <a:srgbClr val="3C4450"/>
                </a:solidFill>
                <a:latin typeface="Segoe UI"/>
              </a:rPr>
              <a:t>"search for..." opens a real web search in the browser instead of guessing from the model's memory.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7A3B47"/>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Your data</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7A3B47"/>
                </a:solidFill>
                <a:latin typeface="Segoe UI"/>
              </a:rPr>
              <a:t>17</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Rounded Rectangle 6"/>
          <p:cNvSpPr/>
          <p:nvPr/>
        </p:nvSpPr>
        <p:spPr>
          <a:xfrm>
            <a:off x="566928" y="274320"/>
            <a:ext cx="420624" cy="420624"/>
          </a:xfrm>
          <a:prstGeom prst="roundRect">
            <a:avLst/>
          </a:prstGeom>
          <a:solidFill>
            <a:srgbClr val="7A3B47"/>
          </a:solidFill>
          <a:ln>
            <a:noFill/>
          </a:ln>
          <a:effectLst/>
        </p:spPr>
        <p:txBody>
          <a:bodyPr rtlCol="0" anchor="ctr"/>
          <a:lstStyle/>
          <a:p>
            <a:pPr algn="ctr"/>
          </a:p>
        </p:txBody>
      </p:sp>
      <p:sp>
        <p:nvSpPr>
          <p:cNvPr id="8" name="TextBox 7"/>
          <p:cNvSpPr txBox="1"/>
          <p:nvPr/>
        </p:nvSpPr>
        <p:spPr>
          <a:xfrm>
            <a:off x="566928" y="288036"/>
            <a:ext cx="420624" cy="420624"/>
          </a:xfrm>
          <a:prstGeom prst="rect">
            <a:avLst/>
          </a:prstGeom>
          <a:noFill/>
        </p:spPr>
        <p:txBody>
          <a:bodyPr wrap="square" anchor="ctr" lIns="0" rIns="0" tIns="0" bIns="0">
            <a:spAutoFit/>
          </a:bodyPr>
          <a:lstStyle/>
          <a:p>
            <a:pPr algn="ctr">
              <a:spcBef>
                <a:spcPts val="0"/>
              </a:spcBef>
              <a:spcAft>
                <a:spcPts val="0"/>
              </a:spcAft>
            </a:pPr>
            <a:r>
              <a:rPr sz="1300" b="1" i="0">
                <a:solidFill>
                  <a:srgbClr val="FFFFFF"/>
                </a:solidFill>
                <a:latin typeface="Segoe UI"/>
              </a:rPr>
              <a:t>14</a:t>
            </a:r>
          </a:p>
        </p:txBody>
      </p:sp>
      <p:sp>
        <p:nvSpPr>
          <p:cNvPr id="9" name="TextBox 8"/>
          <p:cNvSpPr txBox="1"/>
          <p:nvPr/>
        </p:nvSpPr>
        <p:spPr>
          <a:xfrm>
            <a:off x="1170432"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7A3B47"/>
                </a:solidFill>
                <a:latin typeface="Segoe UI"/>
              </a:rPr>
              <a:t>PRIVACY</a:t>
            </a:r>
          </a:p>
        </p:txBody>
      </p:sp>
      <p:sp>
        <p:nvSpPr>
          <p:cNvPr id="10" name="TextBox 9"/>
          <p:cNvSpPr txBox="1"/>
          <p:nvPr/>
        </p:nvSpPr>
        <p:spPr>
          <a:xfrm>
            <a:off x="1170432"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Download or delete your data</a:t>
            </a:r>
          </a:p>
        </p:txBody>
      </p:sp>
      <p:sp>
        <p:nvSpPr>
          <p:cNvPr id="11" name="TextBox 10"/>
          <p:cNvSpPr txBox="1"/>
          <p:nvPr/>
        </p:nvSpPr>
        <p:spPr>
          <a:xfrm>
            <a:off x="1170432"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Both controls sit behind one row, and one of them is irreversible.</a:t>
            </a:r>
          </a:p>
        </p:txBody>
      </p:sp>
      <p:sp>
        <p:nvSpPr>
          <p:cNvPr id="12" name="Rounded Rectangle 11"/>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3" name="TextBox 12"/>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7A3B47"/>
                </a:solidFill>
                <a:latin typeface="Segoe UI"/>
              </a:rPr>
              <a:t>User</a:t>
            </a:r>
          </a:p>
        </p:txBody>
      </p:sp>
      <p:pic>
        <p:nvPicPr>
          <p:cNvPr id="14" name="Picture 13" descr="DeleteOrDownloadData1.jpg"/>
          <p:cNvPicPr>
            <a:picLocks noChangeAspect="1"/>
          </p:cNvPicPr>
          <p:nvPr/>
        </p:nvPicPr>
        <p:blipFill>
          <a:blip r:embed="rId2"/>
          <a:stretch>
            <a:fillRect/>
          </a:stretch>
        </p:blipFill>
        <p:spPr>
          <a:xfrm>
            <a:off x="566928" y="1632963"/>
            <a:ext cx="1783080" cy="3948689"/>
          </a:xfrm>
          <a:prstGeom prst="rect">
            <a:avLst/>
          </a:prstGeom>
        </p:spPr>
      </p:pic>
      <p:sp>
        <p:nvSpPr>
          <p:cNvPr id="15" name="Rectangle 14"/>
          <p:cNvSpPr/>
          <p:nvPr/>
        </p:nvSpPr>
        <p:spPr>
          <a:xfrm>
            <a:off x="566928" y="1632963"/>
            <a:ext cx="1783080" cy="3948689"/>
          </a:xfrm>
          <a:prstGeom prst="rect">
            <a:avLst/>
          </a:prstGeom>
          <a:noFill/>
          <a:ln w="9525">
            <a:solidFill>
              <a:srgbClr val="D6DCE3"/>
            </a:solidFill>
          </a:ln>
          <a:effectLst/>
        </p:spPr>
        <p:txBody>
          <a:bodyPr rtlCol="0" anchor="ctr"/>
          <a:lstStyle/>
          <a:p>
            <a:pPr algn="ctr"/>
          </a:p>
        </p:txBody>
      </p:sp>
      <p:sp>
        <p:nvSpPr>
          <p:cNvPr id="16" name="TextBox 15"/>
          <p:cNvSpPr txBox="1"/>
          <p:nvPr/>
        </p:nvSpPr>
        <p:spPr>
          <a:xfrm>
            <a:off x="566928"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Profile &gt; Security</a:t>
            </a:r>
          </a:p>
        </p:txBody>
      </p:sp>
      <p:pic>
        <p:nvPicPr>
          <p:cNvPr id="17" name="Picture 16" descr="DeleteOrDownloadData2.jpg"/>
          <p:cNvPicPr>
            <a:picLocks noChangeAspect="1"/>
          </p:cNvPicPr>
          <p:nvPr/>
        </p:nvPicPr>
        <p:blipFill>
          <a:blip r:embed="rId3"/>
          <a:stretch>
            <a:fillRect/>
          </a:stretch>
        </p:blipFill>
        <p:spPr>
          <a:xfrm>
            <a:off x="2660904" y="1632963"/>
            <a:ext cx="1783080" cy="3948689"/>
          </a:xfrm>
          <a:prstGeom prst="rect">
            <a:avLst/>
          </a:prstGeom>
        </p:spPr>
      </p:pic>
      <p:sp>
        <p:nvSpPr>
          <p:cNvPr id="18" name="Rectangle 17"/>
          <p:cNvSpPr/>
          <p:nvPr/>
        </p:nvSpPr>
        <p:spPr>
          <a:xfrm>
            <a:off x="2660904" y="1632963"/>
            <a:ext cx="1783080" cy="3948689"/>
          </a:xfrm>
          <a:prstGeom prst="rect">
            <a:avLst/>
          </a:prstGeom>
          <a:noFill/>
          <a:ln w="9525">
            <a:solidFill>
              <a:srgbClr val="D6DCE3"/>
            </a:solidFill>
          </a:ln>
          <a:effectLst/>
        </p:spPr>
        <p:txBody>
          <a:bodyPr rtlCol="0" anchor="ctr"/>
          <a:lstStyle/>
          <a:p>
            <a:pPr algn="ctr"/>
          </a:p>
        </p:txBody>
      </p:sp>
      <p:sp>
        <p:nvSpPr>
          <p:cNvPr id="19" name="TextBox 18"/>
          <p:cNvSpPr txBox="1"/>
          <p:nvPr/>
        </p:nvSpPr>
        <p:spPr>
          <a:xfrm>
            <a:off x="2660904" y="5705856"/>
            <a:ext cx="178308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Account Security</a:t>
            </a:r>
          </a:p>
        </p:txBody>
      </p:sp>
      <p:sp>
        <p:nvSpPr>
          <p:cNvPr id="20" name="Rounded Rectangle 19"/>
          <p:cNvSpPr/>
          <p:nvPr/>
        </p:nvSpPr>
        <p:spPr>
          <a:xfrm>
            <a:off x="3552444" y="4002176"/>
            <a:ext cx="748893" cy="189537"/>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1" name="Oval 20"/>
          <p:cNvSpPr/>
          <p:nvPr/>
        </p:nvSpPr>
        <p:spPr>
          <a:xfrm>
            <a:off x="3424428" y="3968928"/>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2" name="TextBox 21"/>
          <p:cNvSpPr txBox="1"/>
          <p:nvPr/>
        </p:nvSpPr>
        <p:spPr>
          <a:xfrm>
            <a:off x="3424428" y="3973500"/>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2</a:t>
            </a:r>
          </a:p>
        </p:txBody>
      </p:sp>
      <p:sp>
        <p:nvSpPr>
          <p:cNvPr id="23" name="Rounded Rectangle 22"/>
          <p:cNvSpPr/>
          <p:nvPr/>
        </p:nvSpPr>
        <p:spPr>
          <a:xfrm>
            <a:off x="3552444" y="3749460"/>
            <a:ext cx="748893" cy="189537"/>
          </a:xfrm>
          <a:prstGeom prst="roundRect">
            <a:avLst>
              <a:gd name="adj" fmla="val 20000"/>
            </a:avLst>
          </a:prstGeom>
          <a:solidFill>
            <a:srgbClr val="B07A2B">
              <a:alpha val="16000"/>
            </a:srgbClr>
          </a:solidFill>
          <a:ln w="15875">
            <a:solidFill>
              <a:srgbClr val="B07A2B"/>
            </a:solidFill>
          </a:ln>
          <a:effectLst/>
        </p:spPr>
        <p:txBody>
          <a:bodyPr rtlCol="0" anchor="ctr"/>
          <a:lstStyle/>
          <a:p>
            <a:pPr algn="ctr"/>
          </a:p>
        </p:txBody>
      </p:sp>
      <p:sp>
        <p:nvSpPr>
          <p:cNvPr id="24" name="Oval 23"/>
          <p:cNvSpPr/>
          <p:nvPr/>
        </p:nvSpPr>
        <p:spPr>
          <a:xfrm>
            <a:off x="3424428" y="3716212"/>
            <a:ext cx="256032" cy="256032"/>
          </a:xfrm>
          <a:prstGeom prst="ellipse">
            <a:avLst/>
          </a:prstGeom>
          <a:solidFill>
            <a:srgbClr val="B07A2B"/>
          </a:solidFill>
          <a:ln w="15875">
            <a:solidFill>
              <a:srgbClr val="FFFFFF"/>
            </a:solidFill>
          </a:ln>
          <a:effectLst/>
        </p:spPr>
        <p:txBody>
          <a:bodyPr rtlCol="0" anchor="ctr"/>
          <a:lstStyle/>
          <a:p>
            <a:pPr algn="ctr"/>
          </a:p>
        </p:txBody>
      </p:sp>
      <p:sp>
        <p:nvSpPr>
          <p:cNvPr id="25" name="TextBox 24"/>
          <p:cNvSpPr txBox="1"/>
          <p:nvPr/>
        </p:nvSpPr>
        <p:spPr>
          <a:xfrm>
            <a:off x="3424428" y="3720784"/>
            <a:ext cx="256032" cy="256032"/>
          </a:xfrm>
          <a:prstGeom prst="rect">
            <a:avLst/>
          </a:prstGeom>
          <a:noFill/>
        </p:spPr>
        <p:txBody>
          <a:bodyPr wrap="square" anchor="ctr" lIns="0" rIns="0" tIns="0" bIns="0">
            <a:spAutoFit/>
          </a:bodyPr>
          <a:lstStyle/>
          <a:p>
            <a:pPr algn="ctr">
              <a:spcBef>
                <a:spcPts val="0"/>
              </a:spcBef>
              <a:spcAft>
                <a:spcPts val="0"/>
              </a:spcAft>
            </a:pPr>
            <a:r>
              <a:rPr sz="1050" b="1" i="0">
                <a:solidFill>
                  <a:srgbClr val="FFFFFF"/>
                </a:solidFill>
                <a:latin typeface="Segoe UI"/>
              </a:rPr>
              <a:t>3</a:t>
            </a:r>
          </a:p>
        </p:txBody>
      </p:sp>
      <p:sp>
        <p:nvSpPr>
          <p:cNvPr id="26" name="Oval 25"/>
          <p:cNvSpPr/>
          <p:nvPr/>
        </p:nvSpPr>
        <p:spPr>
          <a:xfrm>
            <a:off x="4846320" y="1591056"/>
            <a:ext cx="274320" cy="274320"/>
          </a:xfrm>
          <a:prstGeom prst="ellipse">
            <a:avLst/>
          </a:prstGeom>
          <a:solidFill>
            <a:srgbClr val="B07A2B"/>
          </a:solidFill>
          <a:ln>
            <a:noFill/>
          </a:ln>
          <a:effectLst/>
        </p:spPr>
        <p:txBody>
          <a:bodyPr rtlCol="0" anchor="ctr"/>
          <a:lstStyle/>
          <a:p>
            <a:pPr algn="ctr"/>
          </a:p>
        </p:txBody>
      </p:sp>
      <p:sp>
        <p:nvSpPr>
          <p:cNvPr id="27" name="TextBox 26"/>
          <p:cNvSpPr txBox="1"/>
          <p:nvPr/>
        </p:nvSpPr>
        <p:spPr>
          <a:xfrm>
            <a:off x="4846320" y="159562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1</a:t>
            </a:r>
          </a:p>
        </p:txBody>
      </p:sp>
      <p:sp>
        <p:nvSpPr>
          <p:cNvPr id="28" name="TextBox 27"/>
          <p:cNvSpPr txBox="1"/>
          <p:nvPr/>
        </p:nvSpPr>
        <p:spPr>
          <a:xfrm>
            <a:off x="5266944" y="157276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Profile tab &gt; Security &gt; Account Security</a:t>
            </a:r>
          </a:p>
          <a:p>
            <a:pPr algn="l">
              <a:spcBef>
                <a:spcPts val="200"/>
              </a:spcBef>
              <a:spcAft>
                <a:spcPts val="0"/>
              </a:spcAft>
            </a:pPr>
            <a:r>
              <a:rPr sz="1200" b="0" i="0">
                <a:solidFill>
                  <a:srgbClr val="3C4450"/>
                </a:solidFill>
                <a:latin typeface="Segoe UI"/>
              </a:rPr>
              <a:t>The padlock row. The dialog opens with a reminder that your data stays on this device.</a:t>
            </a:r>
          </a:p>
        </p:txBody>
      </p:sp>
      <p:sp>
        <p:nvSpPr>
          <p:cNvPr id="29" name="Oval 28"/>
          <p:cNvSpPr/>
          <p:nvPr/>
        </p:nvSpPr>
        <p:spPr>
          <a:xfrm>
            <a:off x="4846320" y="2123236"/>
            <a:ext cx="274320" cy="274320"/>
          </a:xfrm>
          <a:prstGeom prst="ellipse">
            <a:avLst/>
          </a:prstGeom>
          <a:solidFill>
            <a:srgbClr val="B07A2B"/>
          </a:solidFill>
          <a:ln>
            <a:noFill/>
          </a:ln>
          <a:effectLst/>
        </p:spPr>
        <p:txBody>
          <a:bodyPr rtlCol="0" anchor="ctr"/>
          <a:lstStyle/>
          <a:p>
            <a:pPr algn="ctr"/>
          </a:p>
        </p:txBody>
      </p:sp>
      <p:sp>
        <p:nvSpPr>
          <p:cNvPr id="30" name="TextBox 29"/>
          <p:cNvSpPr txBox="1"/>
          <p:nvPr/>
        </p:nvSpPr>
        <p:spPr>
          <a:xfrm>
            <a:off x="4846320" y="2127808"/>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2</a:t>
            </a:r>
          </a:p>
        </p:txBody>
      </p:sp>
      <p:sp>
        <p:nvSpPr>
          <p:cNvPr id="31" name="TextBox 30"/>
          <p:cNvSpPr txBox="1"/>
          <p:nvPr/>
        </p:nvSpPr>
        <p:spPr>
          <a:xfrm>
            <a:off x="5266944" y="2104948"/>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Download my data exports everything as JSON</a:t>
            </a:r>
          </a:p>
          <a:p>
            <a:pPr algn="l">
              <a:spcBef>
                <a:spcPts val="200"/>
              </a:spcBef>
              <a:spcAft>
                <a:spcPts val="0"/>
              </a:spcAft>
            </a:pPr>
            <a:r>
              <a:rPr sz="1200" b="0" i="0">
                <a:solidFill>
                  <a:srgbClr val="3C4450"/>
                </a:solidFill>
                <a:latin typeface="Segoe UI"/>
              </a:rPr>
              <a:t>Your tasks, events and reminders, with a timestamp, handed to the phone's share sheet so you can mail it to yourself or save it.</a:t>
            </a:r>
          </a:p>
        </p:txBody>
      </p:sp>
      <p:sp>
        <p:nvSpPr>
          <p:cNvPr id="32" name="Oval 31"/>
          <p:cNvSpPr/>
          <p:nvPr/>
        </p:nvSpPr>
        <p:spPr>
          <a:xfrm>
            <a:off x="4846320" y="2858412"/>
            <a:ext cx="274320" cy="274320"/>
          </a:xfrm>
          <a:prstGeom prst="ellipse">
            <a:avLst/>
          </a:prstGeom>
          <a:solidFill>
            <a:srgbClr val="B07A2B"/>
          </a:solidFill>
          <a:ln>
            <a:noFill/>
          </a:ln>
          <a:effectLst/>
        </p:spPr>
        <p:txBody>
          <a:bodyPr rtlCol="0" anchor="ctr"/>
          <a:lstStyle/>
          <a:p>
            <a:pPr algn="ctr"/>
          </a:p>
        </p:txBody>
      </p:sp>
      <p:sp>
        <p:nvSpPr>
          <p:cNvPr id="33" name="TextBox 32"/>
          <p:cNvSpPr txBox="1"/>
          <p:nvPr/>
        </p:nvSpPr>
        <p:spPr>
          <a:xfrm>
            <a:off x="4846320" y="2862984"/>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3</a:t>
            </a:r>
          </a:p>
        </p:txBody>
      </p:sp>
      <p:sp>
        <p:nvSpPr>
          <p:cNvPr id="34" name="TextBox 33"/>
          <p:cNvSpPr txBox="1"/>
          <p:nvPr/>
        </p:nvSpPr>
        <p:spPr>
          <a:xfrm>
            <a:off x="5266944" y="2840124"/>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Delete all data erases the lot</a:t>
            </a:r>
          </a:p>
          <a:p>
            <a:pPr algn="l">
              <a:spcBef>
                <a:spcPts val="200"/>
              </a:spcBef>
              <a:spcAft>
                <a:spcPts val="0"/>
              </a:spcAft>
            </a:pPr>
            <a:r>
              <a:rPr sz="1200" b="0" i="0">
                <a:solidFill>
                  <a:srgbClr val="3C4450"/>
                </a:solidFill>
                <a:latin typeface="Segoe UI"/>
              </a:rPr>
              <a:t>Tasks, events, reminders, the saved Telegram token, the Telegram sync position, every account on the device - and it signs you out.</a:t>
            </a:r>
          </a:p>
        </p:txBody>
      </p:sp>
      <p:sp>
        <p:nvSpPr>
          <p:cNvPr id="35" name="Oval 34"/>
          <p:cNvSpPr/>
          <p:nvPr/>
        </p:nvSpPr>
        <p:spPr>
          <a:xfrm>
            <a:off x="4846320" y="3593588"/>
            <a:ext cx="274320" cy="274320"/>
          </a:xfrm>
          <a:prstGeom prst="ellipse">
            <a:avLst/>
          </a:prstGeom>
          <a:solidFill>
            <a:srgbClr val="B07A2B"/>
          </a:solidFill>
          <a:ln>
            <a:noFill/>
          </a:ln>
          <a:effectLst/>
        </p:spPr>
        <p:txBody>
          <a:bodyPr rtlCol="0" anchor="ctr"/>
          <a:lstStyle/>
          <a:p>
            <a:pPr algn="ctr"/>
          </a:p>
        </p:txBody>
      </p:sp>
      <p:sp>
        <p:nvSpPr>
          <p:cNvPr id="36" name="TextBox 35"/>
          <p:cNvSpPr txBox="1"/>
          <p:nvPr/>
        </p:nvSpPr>
        <p:spPr>
          <a:xfrm>
            <a:off x="4846320" y="3598160"/>
            <a:ext cx="27432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FFFFFF"/>
                </a:solidFill>
                <a:latin typeface="Segoe UI"/>
              </a:rPr>
              <a:t>4</a:t>
            </a:r>
          </a:p>
        </p:txBody>
      </p:sp>
      <p:sp>
        <p:nvSpPr>
          <p:cNvPr id="37" name="TextBox 36"/>
          <p:cNvSpPr txBox="1"/>
          <p:nvPr/>
        </p:nvSpPr>
        <p:spPr>
          <a:xfrm>
            <a:off x="5266944" y="3575300"/>
            <a:ext cx="6357823" cy="274320"/>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There is no undo and no grace period</a:t>
            </a:r>
          </a:p>
          <a:p>
            <a:pPr algn="l">
              <a:spcBef>
                <a:spcPts val="200"/>
              </a:spcBef>
              <a:spcAft>
                <a:spcPts val="0"/>
              </a:spcAft>
            </a:pPr>
            <a:r>
              <a:rPr sz="1200" b="0" i="0">
                <a:solidFill>
                  <a:srgbClr val="3C4450"/>
                </a:solidFill>
                <a:latin typeface="Segoe UI"/>
              </a:rPr>
              <a:t>The erase happens the moment you confirm. Export first if you want a copy.</a:t>
            </a:r>
          </a:p>
        </p:txBody>
      </p:sp>
      <p:sp>
        <p:nvSpPr>
          <p:cNvPr id="38" name="Rectangle 37"/>
          <p:cNvSpPr/>
          <p:nvPr/>
        </p:nvSpPr>
        <p:spPr>
          <a:xfrm>
            <a:off x="4846320" y="4480560"/>
            <a:ext cx="6778447" cy="832104"/>
          </a:xfrm>
          <a:prstGeom prst="rect">
            <a:avLst/>
          </a:prstGeom>
          <a:solidFill>
            <a:srgbClr val="F4F6F9"/>
          </a:solidFill>
          <a:ln>
            <a:noFill/>
          </a:ln>
          <a:effectLst/>
        </p:spPr>
        <p:txBody>
          <a:bodyPr rtlCol="0" anchor="ctr"/>
          <a:lstStyle/>
          <a:p>
            <a:pPr algn="ctr"/>
          </a:p>
        </p:txBody>
      </p:sp>
      <p:sp>
        <p:nvSpPr>
          <p:cNvPr id="39" name="Rectangle 38"/>
          <p:cNvSpPr/>
          <p:nvPr/>
        </p:nvSpPr>
        <p:spPr>
          <a:xfrm>
            <a:off x="4846320" y="4480560"/>
            <a:ext cx="41148" cy="832104"/>
          </a:xfrm>
          <a:prstGeom prst="rect">
            <a:avLst/>
          </a:prstGeom>
          <a:solidFill>
            <a:srgbClr val="7A3B47"/>
          </a:solidFill>
          <a:ln>
            <a:noFill/>
          </a:ln>
          <a:effectLst/>
        </p:spPr>
        <p:txBody>
          <a:bodyPr rtlCol="0" anchor="ctr"/>
          <a:lstStyle/>
          <a:p>
            <a:pPr algn="ctr"/>
          </a:p>
        </p:txBody>
      </p:sp>
      <p:sp>
        <p:nvSpPr>
          <p:cNvPr id="40" name="TextBox 39"/>
          <p:cNvSpPr txBox="1"/>
          <p:nvPr/>
        </p:nvSpPr>
        <p:spPr>
          <a:xfrm>
            <a:off x="5047488" y="4590288"/>
            <a:ext cx="6394399" cy="649224"/>
          </a:xfrm>
          <a:prstGeom prst="rect">
            <a:avLst/>
          </a:prstGeom>
          <a:noFill/>
        </p:spPr>
        <p:txBody>
          <a:bodyPr wrap="square" anchor="t" lIns="0" rIns="0" tIns="0" bIns="0">
            <a:spAutoFit/>
          </a:bodyPr>
          <a:lstStyle/>
          <a:p>
            <a:pPr algn="l">
              <a:spcBef>
                <a:spcPts val="0"/>
              </a:spcBef>
              <a:spcAft>
                <a:spcPts val="0"/>
              </a:spcAft>
            </a:pPr>
            <a:r>
              <a:rPr sz="1200" b="1" i="0">
                <a:solidFill>
                  <a:srgbClr val="7A3B47"/>
                </a:solidFill>
                <a:latin typeface="Segoe UI"/>
              </a:rPr>
              <a:t>What the export never contains</a:t>
            </a:r>
          </a:p>
          <a:p>
            <a:pPr algn="l">
              <a:spcBef>
                <a:spcPts val="300"/>
              </a:spcBef>
              <a:spcAft>
                <a:spcPts val="0"/>
              </a:spcAft>
            </a:pPr>
            <a:r>
              <a:rPr sz="1100" b="0" i="0">
                <a:solidFill>
                  <a:srgbClr val="3C4450"/>
                </a:solidFill>
                <a:latin typeface="Segoe UI"/>
              </a:rPr>
              <a:t>Passwords are not included. They are held separately, and the export is written from your tasks, events and reminders only.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C4A6B"/>
          </a:solidFill>
          <a:ln>
            <a:noFill/>
          </a:ln>
          <a:effectLst/>
        </p:spPr>
        <p:txBody>
          <a:bodyPr rtlCol="0" anchor="ctr"/>
          <a:lstStyle/>
          <a:p>
            <a:pPr algn="ctr"/>
          </a:p>
        </p:txBody>
      </p:sp>
      <p:sp>
        <p:nvSpPr>
          <p:cNvPr id="4" name="Rectangle 3"/>
          <p:cNvSpPr/>
          <p:nvPr/>
        </p:nvSpPr>
        <p:spPr>
          <a:xfrm>
            <a:off x="0" y="0"/>
            <a:ext cx="384048" cy="6858000"/>
          </a:xfrm>
          <a:prstGeom prst="rect">
            <a:avLst/>
          </a:prstGeom>
          <a:solidFill>
            <a:srgbClr val="4C4A6B"/>
          </a:solidFill>
          <a:ln>
            <a:noFill/>
          </a:ln>
          <a:effectLst/>
        </p:spPr>
        <p:txBody>
          <a:bodyPr rtlCol="0" anchor="ctr"/>
          <a:lstStyle/>
          <a:p>
            <a:pPr algn="ctr"/>
          </a:p>
        </p:txBody>
      </p:sp>
      <p:sp>
        <p:nvSpPr>
          <p:cNvPr id="5" name="TextBox 4"/>
          <p:cNvSpPr txBox="1"/>
          <p:nvPr/>
        </p:nvSpPr>
        <p:spPr>
          <a:xfrm>
            <a:off x="1143000" y="1371600"/>
            <a:ext cx="1828800" cy="1005840"/>
          </a:xfrm>
          <a:prstGeom prst="rect">
            <a:avLst/>
          </a:prstGeom>
          <a:noFill/>
        </p:spPr>
        <p:txBody>
          <a:bodyPr wrap="square" anchor="t" lIns="0" rIns="0" tIns="0" bIns="0">
            <a:spAutoFit/>
          </a:bodyPr>
          <a:lstStyle/>
          <a:p>
            <a:pPr algn="l">
              <a:spcBef>
                <a:spcPts val="0"/>
              </a:spcBef>
              <a:spcAft>
                <a:spcPts val="0"/>
              </a:spcAft>
            </a:pPr>
            <a:r>
              <a:rPr sz="5800" b="1" i="0">
                <a:solidFill>
                  <a:srgbClr val="4C4A6B"/>
                </a:solidFill>
                <a:latin typeface="Segoe UI"/>
              </a:rPr>
              <a:t>R</a:t>
            </a:r>
          </a:p>
        </p:txBody>
      </p:sp>
      <p:sp>
        <p:nvSpPr>
          <p:cNvPr id="6" name="TextBox 5"/>
          <p:cNvSpPr txBox="1"/>
          <p:nvPr/>
        </p:nvSpPr>
        <p:spPr>
          <a:xfrm>
            <a:off x="1143000" y="2395728"/>
            <a:ext cx="5760720" cy="914400"/>
          </a:xfrm>
          <a:prstGeom prst="rect">
            <a:avLst/>
          </a:prstGeom>
          <a:noFill/>
        </p:spPr>
        <p:txBody>
          <a:bodyPr wrap="square" anchor="t" lIns="0" rIns="0" tIns="0" bIns="0">
            <a:spAutoFit/>
          </a:bodyPr>
          <a:lstStyle/>
          <a:p>
            <a:pPr algn="l">
              <a:spcBef>
                <a:spcPts val="0"/>
              </a:spcBef>
              <a:spcAft>
                <a:spcPts val="0"/>
              </a:spcAft>
            </a:pPr>
            <a:r>
              <a:rPr sz="3400" b="1" i="0">
                <a:solidFill>
                  <a:srgbClr val="14181F"/>
                </a:solidFill>
                <a:latin typeface="Segoe UI"/>
              </a:rPr>
              <a:t>Reference</a:t>
            </a:r>
          </a:p>
        </p:txBody>
      </p:sp>
      <p:sp>
        <p:nvSpPr>
          <p:cNvPr id="7" name="TextBox 6"/>
          <p:cNvSpPr txBox="1"/>
          <p:nvPr/>
        </p:nvSpPr>
        <p:spPr>
          <a:xfrm>
            <a:off x="1143000" y="3328416"/>
            <a:ext cx="5486400" cy="822960"/>
          </a:xfrm>
          <a:prstGeom prst="rect">
            <a:avLst/>
          </a:prstGeom>
          <a:noFill/>
        </p:spPr>
        <p:txBody>
          <a:bodyPr wrap="square" anchor="t" lIns="0" rIns="0" tIns="0" bIns="0">
            <a:spAutoFit/>
          </a:bodyPr>
          <a:lstStyle/>
          <a:p>
            <a:pPr algn="l">
              <a:spcBef>
                <a:spcPts val="0"/>
              </a:spcBef>
              <a:spcAft>
                <a:spcPts val="0"/>
              </a:spcAft>
            </a:pPr>
            <a:r>
              <a:rPr sz="1350" b="0" i="0">
                <a:solidFill>
                  <a:srgbClr val="7A8393"/>
                </a:solidFill>
                <a:latin typeface="Segoe UI"/>
              </a:rPr>
              <a:t>Where each feature lives, everything you can say to the Assistant, and what to do when something misbehaves.</a:t>
            </a:r>
          </a:p>
        </p:txBody>
      </p:sp>
      <p:sp>
        <p:nvSpPr>
          <p:cNvPr id="8" name="Oval 7"/>
          <p:cNvSpPr/>
          <p:nvPr/>
        </p:nvSpPr>
        <p:spPr>
          <a:xfrm>
            <a:off x="1188720" y="4329684"/>
            <a:ext cx="91440" cy="91440"/>
          </a:xfrm>
          <a:prstGeom prst="ellipse">
            <a:avLst/>
          </a:prstGeom>
          <a:solidFill>
            <a:srgbClr val="4C4A6B"/>
          </a:solidFill>
          <a:ln>
            <a:noFill/>
          </a:ln>
          <a:effectLst/>
        </p:spPr>
        <p:txBody>
          <a:bodyPr rtlCol="0" anchor="ctr"/>
          <a:lstStyle/>
          <a:p>
            <a:pPr algn="ctr"/>
          </a:p>
        </p:txBody>
      </p:sp>
      <p:sp>
        <p:nvSpPr>
          <p:cNvPr id="9" name="TextBox 8"/>
          <p:cNvSpPr txBox="1"/>
          <p:nvPr/>
        </p:nvSpPr>
        <p:spPr>
          <a:xfrm>
            <a:off x="1444752" y="4261104"/>
            <a:ext cx="5394960" cy="292608"/>
          </a:xfrm>
          <a:prstGeom prst="rect">
            <a:avLst/>
          </a:prstGeom>
          <a:noFill/>
        </p:spPr>
        <p:txBody>
          <a:bodyPr wrap="square" anchor="t" lIns="0" rIns="0" tIns="0" bIns="0">
            <a:spAutoFit/>
          </a:bodyPr>
          <a:lstStyle/>
          <a:p>
            <a:pPr algn="l">
              <a:spcBef>
                <a:spcPts val="0"/>
              </a:spcBef>
              <a:spcAft>
                <a:spcPts val="0"/>
              </a:spcAft>
            </a:pPr>
            <a:r>
              <a:rPr sz="1300" b="0" i="0">
                <a:solidFill>
                  <a:srgbClr val="3C4450"/>
                </a:solidFill>
                <a:latin typeface="Segoe UI"/>
              </a:rPr>
              <a:t>A feature-to-screen lookup table</a:t>
            </a:r>
          </a:p>
        </p:txBody>
      </p:sp>
      <p:sp>
        <p:nvSpPr>
          <p:cNvPr id="10" name="Oval 9"/>
          <p:cNvSpPr/>
          <p:nvPr/>
        </p:nvSpPr>
        <p:spPr>
          <a:xfrm>
            <a:off x="1188720" y="4695444"/>
            <a:ext cx="91440" cy="91440"/>
          </a:xfrm>
          <a:prstGeom prst="ellipse">
            <a:avLst/>
          </a:prstGeom>
          <a:solidFill>
            <a:srgbClr val="4C4A6B"/>
          </a:solidFill>
          <a:ln>
            <a:noFill/>
          </a:ln>
          <a:effectLst/>
        </p:spPr>
        <p:txBody>
          <a:bodyPr rtlCol="0" anchor="ctr"/>
          <a:lstStyle/>
          <a:p>
            <a:pPr algn="ctr"/>
          </a:p>
        </p:txBody>
      </p:sp>
      <p:sp>
        <p:nvSpPr>
          <p:cNvPr id="11" name="TextBox 10"/>
          <p:cNvSpPr txBox="1"/>
          <p:nvPr/>
        </p:nvSpPr>
        <p:spPr>
          <a:xfrm>
            <a:off x="1444752" y="4626864"/>
            <a:ext cx="5394960" cy="292608"/>
          </a:xfrm>
          <a:prstGeom prst="rect">
            <a:avLst/>
          </a:prstGeom>
          <a:noFill/>
        </p:spPr>
        <p:txBody>
          <a:bodyPr wrap="square" anchor="t" lIns="0" rIns="0" tIns="0" bIns="0">
            <a:spAutoFit/>
          </a:bodyPr>
          <a:lstStyle/>
          <a:p>
            <a:pPr algn="l">
              <a:spcBef>
                <a:spcPts val="0"/>
              </a:spcBef>
              <a:spcAft>
                <a:spcPts val="0"/>
              </a:spcAft>
            </a:pPr>
            <a:r>
              <a:rPr sz="1300" b="0" i="0">
                <a:solidFill>
                  <a:srgbClr val="3C4450"/>
                </a:solidFill>
                <a:latin typeface="Segoe UI"/>
              </a:rPr>
              <a:t>The complete Assistant command cheat-sheet</a:t>
            </a:r>
          </a:p>
        </p:txBody>
      </p:sp>
      <p:sp>
        <p:nvSpPr>
          <p:cNvPr id="12" name="Oval 11"/>
          <p:cNvSpPr/>
          <p:nvPr/>
        </p:nvSpPr>
        <p:spPr>
          <a:xfrm>
            <a:off x="1188720" y="5061204"/>
            <a:ext cx="91440" cy="91440"/>
          </a:xfrm>
          <a:prstGeom prst="ellipse">
            <a:avLst/>
          </a:prstGeom>
          <a:solidFill>
            <a:srgbClr val="4C4A6B"/>
          </a:solidFill>
          <a:ln>
            <a:noFill/>
          </a:ln>
          <a:effectLst/>
        </p:spPr>
        <p:txBody>
          <a:bodyPr rtlCol="0" anchor="ctr"/>
          <a:lstStyle/>
          <a:p>
            <a:pPr algn="ctr"/>
          </a:p>
        </p:txBody>
      </p:sp>
      <p:sp>
        <p:nvSpPr>
          <p:cNvPr id="13" name="TextBox 12"/>
          <p:cNvSpPr txBox="1"/>
          <p:nvPr/>
        </p:nvSpPr>
        <p:spPr>
          <a:xfrm>
            <a:off x="1444752" y="4992624"/>
            <a:ext cx="5394960" cy="292608"/>
          </a:xfrm>
          <a:prstGeom prst="rect">
            <a:avLst/>
          </a:prstGeom>
          <a:noFill/>
        </p:spPr>
        <p:txBody>
          <a:bodyPr wrap="square" anchor="t" lIns="0" rIns="0" tIns="0" bIns="0">
            <a:spAutoFit/>
          </a:bodyPr>
          <a:lstStyle/>
          <a:p>
            <a:pPr algn="l">
              <a:spcBef>
                <a:spcPts val="0"/>
              </a:spcBef>
              <a:spcAft>
                <a:spcPts val="0"/>
              </a:spcAft>
            </a:pPr>
            <a:r>
              <a:rPr sz="1300" b="0" i="0">
                <a:solidFill>
                  <a:srgbClr val="3C4450"/>
                </a:solidFill>
                <a:latin typeface="Segoe UI"/>
              </a:rPr>
              <a:t>Offline and online, feature by feature</a:t>
            </a:r>
          </a:p>
        </p:txBody>
      </p:sp>
      <p:sp>
        <p:nvSpPr>
          <p:cNvPr id="14" name="Oval 13"/>
          <p:cNvSpPr/>
          <p:nvPr/>
        </p:nvSpPr>
        <p:spPr>
          <a:xfrm>
            <a:off x="1188720" y="5426964"/>
            <a:ext cx="91440" cy="91440"/>
          </a:xfrm>
          <a:prstGeom prst="ellipse">
            <a:avLst/>
          </a:prstGeom>
          <a:solidFill>
            <a:srgbClr val="4C4A6B"/>
          </a:solidFill>
          <a:ln>
            <a:noFill/>
          </a:ln>
          <a:effectLst/>
        </p:spPr>
        <p:txBody>
          <a:bodyPr rtlCol="0" anchor="ctr"/>
          <a:lstStyle/>
          <a:p>
            <a:pPr algn="ctr"/>
          </a:p>
        </p:txBody>
      </p:sp>
      <p:sp>
        <p:nvSpPr>
          <p:cNvPr id="15" name="TextBox 14"/>
          <p:cNvSpPr txBox="1"/>
          <p:nvPr/>
        </p:nvSpPr>
        <p:spPr>
          <a:xfrm>
            <a:off x="1444752" y="5358384"/>
            <a:ext cx="5394960" cy="292608"/>
          </a:xfrm>
          <a:prstGeom prst="rect">
            <a:avLst/>
          </a:prstGeom>
          <a:noFill/>
        </p:spPr>
        <p:txBody>
          <a:bodyPr wrap="square" anchor="t" lIns="0" rIns="0" tIns="0" bIns="0">
            <a:spAutoFit/>
          </a:bodyPr>
          <a:lstStyle/>
          <a:p>
            <a:pPr algn="l">
              <a:spcBef>
                <a:spcPts val="0"/>
              </a:spcBef>
              <a:spcAft>
                <a:spcPts val="0"/>
              </a:spcAft>
            </a:pPr>
            <a:r>
              <a:rPr sz="1300" b="0" i="0">
                <a:solidFill>
                  <a:srgbClr val="3C4450"/>
                </a:solidFill>
                <a:latin typeface="Segoe UI"/>
              </a:rPr>
              <a:t>Troubleshooting for what actually goes wrong</a:t>
            </a:r>
          </a:p>
        </p:txBody>
      </p:sp>
      <p:pic>
        <p:nvPicPr>
          <p:cNvPr id="16" name="Picture 15" descr="AvailableTool2.jpg"/>
          <p:cNvPicPr>
            <a:picLocks noChangeAspect="1"/>
          </p:cNvPicPr>
          <p:nvPr/>
        </p:nvPicPr>
        <p:blipFill>
          <a:blip r:embed="rId2"/>
          <a:stretch>
            <a:fillRect/>
          </a:stretch>
        </p:blipFill>
        <p:spPr>
          <a:xfrm>
            <a:off x="8074866" y="960120"/>
            <a:ext cx="2229707" cy="4937760"/>
          </a:xfrm>
          <a:prstGeom prst="rect">
            <a:avLst/>
          </a:prstGeom>
        </p:spPr>
      </p:pic>
      <p:sp>
        <p:nvSpPr>
          <p:cNvPr id="17" name="Rectangle 16"/>
          <p:cNvSpPr/>
          <p:nvPr/>
        </p:nvSpPr>
        <p:spPr>
          <a:xfrm>
            <a:off x="8074866" y="960120"/>
            <a:ext cx="2229707" cy="4937760"/>
          </a:xfrm>
          <a:prstGeom prst="rect">
            <a:avLst/>
          </a:prstGeom>
          <a:noFill/>
          <a:ln w="9525">
            <a:solidFill>
              <a:srgbClr val="D6DCE3"/>
            </a:solidFill>
          </a:ln>
          <a:effectLst/>
        </p:spPr>
        <p:txBody>
          <a:bodyPr rtlCol="0" anchor="ctr"/>
          <a:lstStyle/>
          <a:p>
            <a:pPr algn="ctr"/>
          </a:p>
        </p:txBody>
      </p:sp>
      <p:sp>
        <p:nvSpPr>
          <p:cNvPr id="18" name="TextBox 17"/>
          <p:cNvSpPr txBox="1"/>
          <p:nvPr/>
        </p:nvSpPr>
        <p:spPr>
          <a:xfrm>
            <a:off x="7818120" y="5961888"/>
            <a:ext cx="2743200" cy="228600"/>
          </a:xfrm>
          <a:prstGeom prst="rect">
            <a:avLst/>
          </a:prstGeom>
          <a:noFill/>
        </p:spPr>
        <p:txBody>
          <a:bodyPr wrap="square" anchor="t" lIns="0" rIns="0" tIns="0" bIns="0">
            <a:spAutoFit/>
          </a:bodyPr>
          <a:lstStyle/>
          <a:p>
            <a:pPr algn="ctr">
              <a:spcBef>
                <a:spcPts val="0"/>
              </a:spcBef>
              <a:spcAft>
                <a:spcPts val="0"/>
              </a:spcAft>
            </a:pPr>
            <a:r>
              <a:rPr sz="950" b="1" i="0">
                <a:solidFill>
                  <a:srgbClr val="14181F"/>
                </a:solidFill>
                <a:latin typeface="Segoe UI"/>
              </a:rPr>
              <a:t>Tool 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C4A6B"/>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Feature lookup</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C4A6B"/>
                </a:solidFill>
                <a:latin typeface="Segoe UI"/>
              </a:rPr>
              <a:t>18</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C4A6B"/>
                </a:solidFill>
                <a:latin typeface="Segoe UI"/>
              </a:rPr>
              <a:t>REFERENCE</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Where everything lives</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Every feature in Pico and the shortest route to it.</a:t>
            </a:r>
          </a:p>
        </p:txBody>
      </p:sp>
      <p:graphicFrame>
        <p:nvGraphicFramePr>
          <p:cNvPr id="10" name="Table 9"/>
          <p:cNvGraphicFramePr>
            <a:graphicFrameLocks noGrp="1"/>
          </p:cNvGraphicFramePr>
          <p:nvPr/>
        </p:nvGraphicFramePr>
        <p:xfrm>
          <a:off x="566928" y="1627632"/>
          <a:ext cx="11055096" cy="4457700"/>
        </p:xfrm>
        <a:graphic>
          <a:graphicData uri="http://schemas.openxmlformats.org/drawingml/2006/table">
            <a:tbl>
              <a:tblPr firstRow="1" bandRow="1">
                <a:tableStyleId>{5C22544A-7EE6-4342-B048-85BDC9FD1C3A}</a:tableStyleId>
              </a:tblPr>
              <a:tblGrid>
                <a:gridCol w="3611880"/>
                <a:gridCol w="3063240"/>
                <a:gridCol w="4379976"/>
              </a:tblGrid>
              <a:tr h="297180">
                <a:tc>
                  <a:txBody>
                    <a:bodyPr/>
                    <a:lstStyle/>
                    <a:p>
                      <a:pPr algn="l">
                        <a:spcBef>
                          <a:spcPts val="0"/>
                        </a:spcBef>
                        <a:spcAft>
                          <a:spcPts val="0"/>
                        </a:spcAft>
                      </a:pPr>
                      <a:r>
                        <a:rPr sz="950" b="1" i="0">
                          <a:solidFill>
                            <a:srgbClr val="FFFFFF"/>
                          </a:solidFill>
                          <a:latin typeface="Segoe UI"/>
                        </a:rPr>
                        <a:t>I want to...</a:t>
                      </a:r>
                    </a:p>
                  </a:txBody>
                  <a:tcPr marL="109728" marR="109728" anchor="ctr">
                    <a:solidFill>
                      <a:srgbClr val="4C4A6B"/>
                    </a:solidFill>
                  </a:tcPr>
                </a:tc>
                <a:tc>
                  <a:txBody>
                    <a:bodyPr/>
                    <a:lstStyle/>
                    <a:p>
                      <a:pPr algn="l">
                        <a:spcBef>
                          <a:spcPts val="0"/>
                        </a:spcBef>
                        <a:spcAft>
                          <a:spcPts val="0"/>
                        </a:spcAft>
                      </a:pPr>
                      <a:r>
                        <a:rPr sz="950" b="1" i="0">
                          <a:solidFill>
                            <a:srgbClr val="FFFFFF"/>
                          </a:solidFill>
                          <a:latin typeface="Segoe UI"/>
                        </a:rPr>
                        <a:t>Go to</a:t>
                      </a:r>
                    </a:p>
                  </a:txBody>
                  <a:tcPr marL="109728" marR="109728" anchor="ctr">
                    <a:solidFill>
                      <a:srgbClr val="4C4A6B"/>
                    </a:solidFill>
                  </a:tcPr>
                </a:tc>
                <a:tc>
                  <a:txBody>
                    <a:bodyPr/>
                    <a:lstStyle/>
                    <a:p>
                      <a:pPr algn="l">
                        <a:spcBef>
                          <a:spcPts val="0"/>
                        </a:spcBef>
                        <a:spcAft>
                          <a:spcPts val="0"/>
                        </a:spcAft>
                      </a:pPr>
                      <a:r>
                        <a:rPr sz="950" b="1" i="0">
                          <a:solidFill>
                            <a:srgbClr val="FFFFFF"/>
                          </a:solidFill>
                          <a:latin typeface="Segoe UI"/>
                        </a:rPr>
                        <a:t>Notes</a:t>
                      </a:r>
                    </a:p>
                  </a:txBody>
                  <a:tcPr marL="109728" marR="109728" anchor="ctr">
                    <a:solidFill>
                      <a:srgbClr val="4C4A6B"/>
                    </a:solidFill>
                  </a:tcPr>
                </a:tc>
              </a:tr>
              <a:tr h="297180">
                <a:tc>
                  <a:txBody>
                    <a:bodyPr/>
                    <a:lstStyle/>
                    <a:p>
                      <a:pPr algn="l">
                        <a:spcBef>
                          <a:spcPts val="0"/>
                        </a:spcBef>
                        <a:spcAft>
                          <a:spcPts val="0"/>
                        </a:spcAft>
                      </a:pPr>
                      <a:r>
                        <a:rPr sz="950" b="1" i="0">
                          <a:solidFill>
                            <a:srgbClr val="14181F"/>
                          </a:solidFill>
                          <a:latin typeface="Segoe UI"/>
                        </a:rPr>
                        <a:t>Create an account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Splash &gt; Get Started</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Local only - no email verification</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Log back in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Splash &gt; Login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Only needed after signing out</a:t>
                      </a:r>
                    </a:p>
                  </a:txBody>
                  <a:tcPr marL="109728" marR="109728" anchor="ctr">
                    <a:solidFill>
                      <a:srgbClr val="F6F8FA"/>
                    </a:solidFill>
                  </a:tcPr>
                </a:tc>
              </a:tr>
              <a:tr h="297180">
                <a:tc>
                  <a:txBody>
                    <a:bodyPr/>
                    <a:lstStyle/>
                    <a:p>
                      <a:pPr algn="l">
                        <a:spcBef>
                          <a:spcPts val="0"/>
                        </a:spcBef>
                        <a:spcAft>
                          <a:spcPts val="0"/>
                        </a:spcAft>
                      </a:pPr>
                      <a:r>
                        <a:rPr sz="950" b="1" i="0">
                          <a:solidFill>
                            <a:srgbClr val="14181F"/>
                          </a:solidFill>
                          <a:latin typeface="Segoe UI"/>
                        </a:rPr>
                        <a:t>Switch to dark mode</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Profile &gt; Dark Mode</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Resets to light when the app restarts</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Read the privacy notice</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Profile &gt; Privacy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States what leaves the device</a:t>
                      </a:r>
                    </a:p>
                  </a:txBody>
                  <a:tcPr marL="109728" marR="109728" anchor="ctr">
                    <a:solidFill>
                      <a:srgbClr val="F6F8FA"/>
                    </a:solidFill>
                  </a:tcPr>
                </a:tc>
              </a:tr>
              <a:tr h="297180">
                <a:tc>
                  <a:txBody>
                    <a:bodyPr/>
                    <a:lstStyle/>
                    <a:p>
                      <a:pPr algn="l">
                        <a:spcBef>
                          <a:spcPts val="0"/>
                        </a:spcBef>
                        <a:spcAft>
                          <a:spcPts val="0"/>
                        </a:spcAft>
                      </a:pPr>
                      <a:r>
                        <a:rPr sz="950" b="1" i="0">
                          <a:solidFill>
                            <a:srgbClr val="14181F"/>
                          </a:solidFill>
                          <a:latin typeface="Segoe UI"/>
                        </a:rPr>
                        <a:t>Connect Telegram</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Profile &gt; Telegram Bot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Needs a token from @BotFather</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Contact support</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Profile &gt; Help</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Copies the address or opens your mail app</a:t>
                      </a:r>
                    </a:p>
                  </a:txBody>
                  <a:tcPr marL="109728" marR="109728" anchor="ctr">
                    <a:solidFill>
                      <a:srgbClr val="F6F8FA"/>
                    </a:solidFill>
                  </a:tcPr>
                </a:tc>
              </a:tr>
              <a:tr h="297180">
                <a:tc>
                  <a:txBody>
                    <a:bodyPr/>
                    <a:lstStyle/>
                    <a:p>
                      <a:pPr algn="l">
                        <a:spcBef>
                          <a:spcPts val="0"/>
                        </a:spcBef>
                        <a:spcAft>
                          <a:spcPts val="0"/>
                        </a:spcAft>
                      </a:pPr>
                      <a:r>
                        <a:rPr sz="950" b="1" i="0">
                          <a:solidFill>
                            <a:srgbClr val="14181F"/>
                          </a:solidFill>
                          <a:latin typeface="Segoe UI"/>
                        </a:rPr>
                        <a:t>Download or change the AI model</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Assistant &gt; +</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Tap a name to activate it; * marks the live one</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Run a device action by button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Assistant &gt; menu icon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Sixteen tools, no typing</a:t>
                      </a:r>
                    </a:p>
                  </a:txBody>
                  <a:tcPr marL="109728" marR="109728" anchor="ctr">
                    <a:solidFill>
                      <a:srgbClr val="F6F8FA"/>
                    </a:solidFill>
                  </a:tcPr>
                </a:tc>
              </a:tr>
              <a:tr h="297180">
                <a:tc>
                  <a:txBody>
                    <a:bodyPr/>
                    <a:lstStyle/>
                    <a:p>
                      <a:pPr algn="l">
                        <a:spcBef>
                          <a:spcPts val="0"/>
                        </a:spcBef>
                        <a:spcAft>
                          <a:spcPts val="0"/>
                        </a:spcAft>
                      </a:pPr>
                      <a:r>
                        <a:rPr sz="950" b="1" i="0">
                          <a:solidFill>
                            <a:srgbClr val="14181F"/>
                          </a:solidFill>
                          <a:latin typeface="Segoe UI"/>
                        </a:rPr>
                        <a:t>Add a task with full detail</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Tasks &gt; +</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The only route that accepts notes</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Delete a task</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Tasks &gt; bin icon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Confirms by name; cannot be undone</a:t>
                      </a:r>
                    </a:p>
                  </a:txBody>
                  <a:tcPr marL="109728" marR="109728" anchor="ctr">
                    <a:solidFill>
                      <a:srgbClr val="F6F8FA"/>
                    </a:solidFill>
                  </a:tcPr>
                </a:tc>
              </a:tr>
              <a:tr h="297180">
                <a:tc>
                  <a:txBody>
                    <a:bodyPr/>
                    <a:lstStyle/>
                    <a:p>
                      <a:pPr algn="l">
                        <a:spcBef>
                          <a:spcPts val="0"/>
                        </a:spcBef>
                        <a:spcAft>
                          <a:spcPts val="0"/>
                        </a:spcAft>
                      </a:pPr>
                      <a:r>
                        <a:rPr sz="950" b="1" i="0">
                          <a:solidFill>
                            <a:srgbClr val="14181F"/>
                          </a:solidFill>
                          <a:latin typeface="Segoe UI"/>
                        </a:rPr>
                        <a:t>See my month</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Calendar tab</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Dots show density; tap a day for its agenda</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Plan my day with AI</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Tasks or Home &gt; Plan My Day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Result is posted into the Assistant chat</a:t>
                      </a:r>
                    </a:p>
                  </a:txBody>
                  <a:tcPr marL="109728" marR="109728" anchor="ctr">
                    <a:solidFill>
                      <a:srgbClr val="F6F8FA"/>
                    </a:solidFill>
                  </a:tcPr>
                </a:tc>
              </a:tr>
              <a:tr h="297180">
                <a:tc>
                  <a:txBody>
                    <a:bodyPr/>
                    <a:lstStyle/>
                    <a:p>
                      <a:pPr algn="l">
                        <a:spcBef>
                          <a:spcPts val="0"/>
                        </a:spcBef>
                        <a:spcAft>
                          <a:spcPts val="0"/>
                        </a:spcAft>
                      </a:pPr>
                      <a:r>
                        <a:rPr sz="950" b="1" i="0">
                          <a:solidFill>
                            <a:srgbClr val="14181F"/>
                          </a:solidFill>
                          <a:latin typeface="Segoe UI"/>
                        </a:rPr>
                        <a:t>Just ask a question</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Assistant &gt; Ask Pico</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Needs a downloaded model</a:t>
                      </a:r>
                    </a:p>
                  </a:txBody>
                  <a:tcPr marL="109728" marR="109728" anchor="ctr">
                    <a:solidFill>
                      <a:srgbClr val="FFFFFF"/>
                    </a:solidFill>
                  </a:tcPr>
                </a:tc>
              </a:tr>
              <a:tr h="297180">
                <a:tc>
                  <a:txBody>
                    <a:bodyPr/>
                    <a:lstStyle/>
                    <a:p>
                      <a:pPr algn="l">
                        <a:spcBef>
                          <a:spcPts val="0"/>
                        </a:spcBef>
                        <a:spcAft>
                          <a:spcPts val="0"/>
                        </a:spcAft>
                      </a:pPr>
                      <a:r>
                        <a:rPr sz="950" b="1" i="0">
                          <a:solidFill>
                            <a:srgbClr val="14181F"/>
                          </a:solidFill>
                          <a:latin typeface="Segoe UI"/>
                        </a:rPr>
                        <a:t>Export or erase everything</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Profile &gt; Account Security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JSON export, or an irreversible wipe</a:t>
                      </a:r>
                    </a:p>
                  </a:txBody>
                  <a:tcPr marL="109728" marR="109728" anchor="ctr">
                    <a:solidFill>
                      <a:srgbClr val="F6F8FA"/>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C4A6B"/>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Command cheat-sheet</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C4A6B"/>
                </a:solidFill>
                <a:latin typeface="Segoe UI"/>
              </a:rPr>
              <a:t>19</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C4A6B"/>
                </a:solidFill>
                <a:latin typeface="Segoe UI"/>
              </a:rPr>
              <a:t>REFERENCE</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Assistant cheat-sheet: instant commands</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Matched before the model is consulted, so they answer with no wait - and work even with no model downloaded.</a:t>
            </a:r>
          </a:p>
        </p:txBody>
      </p:sp>
      <p:sp>
        <p:nvSpPr>
          <p:cNvPr id="10" name="Rounded Rectangle 9"/>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1" name="TextBox 10"/>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4C4A6B"/>
                </a:solidFill>
                <a:latin typeface="Segoe UI"/>
              </a:rPr>
              <a:t>User</a:t>
            </a:r>
          </a:p>
        </p:txBody>
      </p:sp>
      <p:graphicFrame>
        <p:nvGraphicFramePr>
          <p:cNvPr id="12" name="Table 11"/>
          <p:cNvGraphicFramePr>
            <a:graphicFrameLocks noGrp="1"/>
          </p:cNvGraphicFramePr>
          <p:nvPr/>
        </p:nvGraphicFramePr>
        <p:xfrm>
          <a:off x="566928" y="1627632"/>
          <a:ext cx="11055096" cy="4462272"/>
        </p:xfrm>
        <a:graphic>
          <a:graphicData uri="http://schemas.openxmlformats.org/drawingml/2006/table">
            <a:tbl>
              <a:tblPr firstRow="1" bandRow="1">
                <a:tableStyleId>{5C22544A-7EE6-4342-B048-85BDC9FD1C3A}</a:tableStyleId>
              </a:tblPr>
              <a:tblGrid>
                <a:gridCol w="3246120"/>
                <a:gridCol w="4160520"/>
                <a:gridCol w="3648456"/>
              </a:tblGrid>
              <a:tr h="278892">
                <a:tc>
                  <a:txBody>
                    <a:bodyPr/>
                    <a:lstStyle/>
                    <a:p>
                      <a:pPr algn="l">
                        <a:spcBef>
                          <a:spcPts val="0"/>
                        </a:spcBef>
                        <a:spcAft>
                          <a:spcPts val="0"/>
                        </a:spcAft>
                      </a:pPr>
                      <a:r>
                        <a:rPr sz="950" b="1" i="0">
                          <a:solidFill>
                            <a:srgbClr val="FFFFFF"/>
                          </a:solidFill>
                          <a:latin typeface="Segoe UI"/>
                        </a:rPr>
                        <a:t>Say this</a:t>
                      </a:r>
                    </a:p>
                  </a:txBody>
                  <a:tcPr marL="109728" marR="109728" anchor="ctr">
                    <a:solidFill>
                      <a:srgbClr val="4C4A6B"/>
                    </a:solidFill>
                  </a:tcPr>
                </a:tc>
                <a:tc>
                  <a:txBody>
                    <a:bodyPr/>
                    <a:lstStyle/>
                    <a:p>
                      <a:pPr algn="l">
                        <a:spcBef>
                          <a:spcPts val="0"/>
                        </a:spcBef>
                        <a:spcAft>
                          <a:spcPts val="0"/>
                        </a:spcAft>
                      </a:pPr>
                      <a:r>
                        <a:rPr sz="950" b="1" i="0">
                          <a:solidFill>
                            <a:srgbClr val="FFFFFF"/>
                          </a:solidFill>
                          <a:latin typeface="Segoe UI"/>
                        </a:rPr>
                        <a:t>And Pico will</a:t>
                      </a:r>
                    </a:p>
                  </a:txBody>
                  <a:tcPr marL="109728" marR="109728" anchor="ctr">
                    <a:solidFill>
                      <a:srgbClr val="4C4A6B"/>
                    </a:solidFill>
                  </a:tcPr>
                </a:tc>
                <a:tc>
                  <a:txBody>
                    <a:bodyPr/>
                    <a:lstStyle/>
                    <a:p>
                      <a:pPr algn="l">
                        <a:spcBef>
                          <a:spcPts val="0"/>
                        </a:spcBef>
                        <a:spcAft>
                          <a:spcPts val="0"/>
                        </a:spcAft>
                      </a:pPr>
                      <a:r>
                        <a:rPr sz="950" b="1" i="0">
                          <a:solidFill>
                            <a:srgbClr val="FFFFFF"/>
                          </a:solidFill>
                          <a:latin typeface="Segoe UI"/>
                        </a:rPr>
                        <a:t>Also matches</a:t>
                      </a:r>
                    </a:p>
                  </a:txBody>
                  <a:tcPr marL="109728" marR="109728" anchor="ctr">
                    <a:solidFill>
                      <a:srgbClr val="4C4A6B"/>
                    </a:solidFill>
                  </a:tcPr>
                </a:tc>
              </a:tr>
              <a:tr h="278892">
                <a:tc>
                  <a:txBody>
                    <a:bodyPr/>
                    <a:lstStyle/>
                    <a:p>
                      <a:pPr algn="l">
                        <a:spcBef>
                          <a:spcPts val="0"/>
                        </a:spcBef>
                        <a:spcAft>
                          <a:spcPts val="0"/>
                        </a:spcAft>
                      </a:pPr>
                      <a:r>
                        <a:rPr sz="950" b="1" i="0">
                          <a:solidFill>
                            <a:srgbClr val="14181F"/>
                          </a:solidFill>
                          <a:latin typeface="Segoe UI"/>
                        </a:rPr>
                        <a:t>hi / hello / hey</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Greet you</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hola, sup</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who are you / what can you do</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Introduce itself and list its abilities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what is today / what time is it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Give the full date and the clock time</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today's date, current date</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turn on the flashlight</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Switch the torch 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torch on, light on</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turn off the flashlight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Switch it off</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torch off, kill the light</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battery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Report charge and charging state</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how much juice, power level</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my tasks</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List pending tasks, five at a time</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show todos, what tasks do I have</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upcoming events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Read the next seven days of calendar</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my calendar, my schedule, agenda</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where am I</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Give GPS coordinates</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my location, current location</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daily briefing</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Battery, weather, today's events, pending tasks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brief me, good morning, how is my day</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mark buy groceries as done</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Complete the matching task</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complete X, finish task X</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plan my day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Build a plan from tasks, events and weather</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plan today, what should I do today</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plan my final presentation</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Break the goal into 3-4 saved subtasks</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break down X, help me prepare for X</a:t>
                      </a:r>
                    </a:p>
                  </a:txBody>
                  <a:tcPr marL="109728" marR="109728" anchor="ctr">
                    <a:solidFill>
                      <a:srgbClr val="FFFFFF"/>
                    </a:solidFill>
                  </a:tcPr>
                </a:tc>
              </a:tr>
              <a:tr h="278892">
                <a:tc>
                  <a:txBody>
                    <a:bodyPr/>
                    <a:lstStyle/>
                    <a:p>
                      <a:pPr algn="l">
                        <a:spcBef>
                          <a:spcPts val="0"/>
                        </a:spcBef>
                        <a:spcAft>
                          <a:spcPts val="0"/>
                        </a:spcAft>
                      </a:pPr>
                      <a:r>
                        <a:rPr sz="950" b="1" i="0">
                          <a:solidFill>
                            <a:srgbClr val="14181F"/>
                          </a:solidFill>
                          <a:latin typeface="Segoe UI"/>
                        </a:rPr>
                        <a:t>timer for 20 minutes</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Schedule a notification</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set an alarm, countdown</a:t>
                      </a:r>
                    </a:p>
                  </a:txBody>
                  <a:tcPr marL="109728" marR="109728" anchor="ctr">
                    <a:solidFill>
                      <a:srgbClr val="F6F8FA"/>
                    </a:solidFill>
                  </a:tcPr>
                </a:tc>
              </a:tr>
              <a:tr h="278892">
                <a:tc>
                  <a:txBody>
                    <a:bodyPr/>
                    <a:lstStyle/>
                    <a:p>
                      <a:pPr algn="l">
                        <a:spcBef>
                          <a:spcPts val="0"/>
                        </a:spcBef>
                        <a:spcAft>
                          <a:spcPts val="0"/>
                        </a:spcAft>
                      </a:pPr>
                      <a:r>
                        <a:rPr sz="950" b="1" i="0">
                          <a:solidFill>
                            <a:srgbClr val="14181F"/>
                          </a:solidFill>
                          <a:latin typeface="Segoe UI"/>
                        </a:rPr>
                        <a:t>weather</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Full local forecast</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forecast, do I need an umbrella</a:t>
                      </a:r>
                    </a:p>
                  </a:txBody>
                  <a:tcPr marL="109728" marR="109728"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C4A6B"/>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Command cheat-sheet</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C4A6B"/>
                </a:solidFill>
                <a:latin typeface="Segoe UI"/>
              </a:rPr>
              <a:t>20</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C4A6B"/>
                </a:solidFill>
                <a:latin typeface="Segoe UI"/>
              </a:rPr>
              <a:t>REFERENCE</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Cheat-sheet: the rest</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 remaining instant commands, then everything that hands over to the on-device model.</a:t>
            </a:r>
          </a:p>
        </p:txBody>
      </p:sp>
      <p:sp>
        <p:nvSpPr>
          <p:cNvPr id="10" name="Rounded Rectangle 9"/>
          <p:cNvSpPr/>
          <p:nvPr/>
        </p:nvSpPr>
        <p:spPr>
          <a:xfrm>
            <a:off x="8881567" y="274320"/>
            <a:ext cx="2743200" cy="365760"/>
          </a:xfrm>
          <a:prstGeom prst="roundRect">
            <a:avLst/>
          </a:prstGeom>
          <a:solidFill>
            <a:srgbClr val="F4F6F9"/>
          </a:solidFill>
          <a:ln>
            <a:noFill/>
          </a:ln>
          <a:effectLst/>
        </p:spPr>
        <p:txBody>
          <a:bodyPr rtlCol="0" anchor="ctr"/>
          <a:lstStyle/>
          <a:p>
            <a:pPr algn="ctr"/>
          </a:p>
        </p:txBody>
      </p:sp>
      <p:sp>
        <p:nvSpPr>
          <p:cNvPr id="11" name="TextBox 10"/>
          <p:cNvSpPr txBox="1"/>
          <p:nvPr/>
        </p:nvSpPr>
        <p:spPr>
          <a:xfrm>
            <a:off x="9009583" y="356616"/>
            <a:ext cx="2487168" cy="237744"/>
          </a:xfrm>
          <a:prstGeom prst="rect">
            <a:avLst/>
          </a:prstGeom>
          <a:noFill/>
        </p:spPr>
        <p:txBody>
          <a:bodyPr wrap="square" anchor="t" lIns="0" rIns="0" tIns="0" bIns="0">
            <a:spAutoFit/>
          </a:bodyPr>
          <a:lstStyle/>
          <a:p>
            <a:pPr algn="r"/>
            <a:r>
              <a:rPr sz="850" b="1">
                <a:solidFill>
                  <a:srgbClr val="7A8393"/>
                </a:solidFill>
                <a:latin typeface="Segoe UI"/>
              </a:rPr>
              <a:t>PERFORMED BY   </a:t>
            </a:r>
            <a:r>
              <a:rPr sz="1000" b="1">
                <a:solidFill>
                  <a:srgbClr val="4C4A6B"/>
                </a:solidFill>
                <a:latin typeface="Segoe UI"/>
              </a:rPr>
              <a:t>On-device AI</a:t>
            </a:r>
          </a:p>
        </p:txBody>
      </p:sp>
      <p:sp>
        <p:nvSpPr>
          <p:cNvPr id="12" name="TextBox 11"/>
          <p:cNvSpPr txBox="1"/>
          <p:nvPr/>
        </p:nvSpPr>
        <p:spPr>
          <a:xfrm>
            <a:off x="566928" y="1572768"/>
            <a:ext cx="5486400" cy="274320"/>
          </a:xfrm>
          <a:prstGeom prst="rect">
            <a:avLst/>
          </a:prstGeom>
          <a:noFill/>
        </p:spPr>
        <p:txBody>
          <a:bodyPr wrap="square" anchor="t" lIns="0" rIns="0" tIns="0" bIns="0">
            <a:spAutoFit/>
          </a:bodyPr>
          <a:lstStyle/>
          <a:p>
            <a:pPr algn="l">
              <a:spcBef>
                <a:spcPts val="0"/>
              </a:spcBef>
              <a:spcAft>
                <a:spcPts val="0"/>
              </a:spcAft>
            </a:pPr>
            <a:r>
              <a:rPr sz="1000" b="1" i="0">
                <a:solidFill>
                  <a:srgbClr val="4C4A6B"/>
                </a:solidFill>
                <a:latin typeface="Segoe UI"/>
              </a:rPr>
              <a:t>STILL INSTANT</a:t>
            </a:r>
          </a:p>
        </p:txBody>
      </p:sp>
      <p:graphicFrame>
        <p:nvGraphicFramePr>
          <p:cNvPr id="13" name="Table 12"/>
          <p:cNvGraphicFramePr>
            <a:graphicFrameLocks noGrp="1"/>
          </p:cNvGraphicFramePr>
          <p:nvPr/>
        </p:nvGraphicFramePr>
        <p:xfrm>
          <a:off x="566928" y="1847088"/>
          <a:ext cx="5486400" cy="1810512"/>
        </p:xfrm>
        <a:graphic>
          <a:graphicData uri="http://schemas.openxmlformats.org/drawingml/2006/table">
            <a:tbl>
              <a:tblPr firstRow="1" bandRow="1">
                <a:tableStyleId>{5C22544A-7EE6-4342-B048-85BDC9FD1C3A}</a:tableStyleId>
              </a:tblPr>
              <a:tblGrid>
                <a:gridCol w="2606040"/>
                <a:gridCol w="2880360"/>
              </a:tblGrid>
              <a:tr h="301752">
                <a:tc>
                  <a:txBody>
                    <a:bodyPr/>
                    <a:lstStyle/>
                    <a:p>
                      <a:pPr algn="l">
                        <a:spcBef>
                          <a:spcPts val="0"/>
                        </a:spcBef>
                        <a:spcAft>
                          <a:spcPts val="0"/>
                        </a:spcAft>
                      </a:pPr>
                      <a:r>
                        <a:rPr sz="950" b="1" i="0">
                          <a:solidFill>
                            <a:srgbClr val="FFFFFF"/>
                          </a:solidFill>
                          <a:latin typeface="Segoe UI"/>
                        </a:rPr>
                        <a:t>Say this</a:t>
                      </a:r>
                    </a:p>
                  </a:txBody>
                  <a:tcPr marL="109728" marR="109728" anchor="ctr">
                    <a:solidFill>
                      <a:srgbClr val="4C4A6B"/>
                    </a:solidFill>
                  </a:tcPr>
                </a:tc>
                <a:tc>
                  <a:txBody>
                    <a:bodyPr/>
                    <a:lstStyle/>
                    <a:p>
                      <a:pPr algn="l">
                        <a:spcBef>
                          <a:spcPts val="0"/>
                        </a:spcBef>
                        <a:spcAft>
                          <a:spcPts val="0"/>
                        </a:spcAft>
                      </a:pPr>
                      <a:r>
                        <a:rPr sz="950" b="1" i="0">
                          <a:solidFill>
                            <a:srgbClr val="FFFFFF"/>
                          </a:solidFill>
                          <a:latin typeface="Segoe UI"/>
                        </a:rPr>
                        <a:t>And Pico will</a:t>
                      </a:r>
                    </a:p>
                  </a:txBody>
                  <a:tcPr marL="109728" marR="109728" anchor="ctr">
                    <a:solidFill>
                      <a:srgbClr val="4C4A6B"/>
                    </a:solidFill>
                  </a:tcPr>
                </a:tc>
              </a:tr>
              <a:tr h="301752">
                <a:tc>
                  <a:txBody>
                    <a:bodyPr/>
                    <a:lstStyle/>
                    <a:p>
                      <a:pPr algn="l">
                        <a:spcBef>
                          <a:spcPts val="0"/>
                        </a:spcBef>
                        <a:spcAft>
                          <a:spcPts val="0"/>
                        </a:spcAft>
                      </a:pPr>
                      <a:r>
                        <a:rPr sz="950" b="1" i="0">
                          <a:solidFill>
                            <a:srgbClr val="14181F"/>
                          </a:solidFill>
                          <a:latin typeface="Segoe UI"/>
                        </a:rPr>
                        <a:t>how far is Gulshan 2</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Road distance and drive time</a:t>
                      </a:r>
                    </a:p>
                  </a:txBody>
                  <a:tcPr marL="109728" marR="109728" anchor="ctr">
                    <a:solidFill>
                      <a:srgbClr val="FFFFFF"/>
                    </a:solidFill>
                  </a:tcPr>
                </a:tc>
              </a:tr>
              <a:tr h="301752">
                <a:tc>
                  <a:txBody>
                    <a:bodyPr/>
                    <a:lstStyle/>
                    <a:p>
                      <a:pPr algn="l">
                        <a:spcBef>
                          <a:spcPts val="0"/>
                        </a:spcBef>
                        <a:spcAft>
                          <a:spcPts val="0"/>
                        </a:spcAft>
                      </a:pPr>
                      <a:r>
                        <a:rPr sz="950" b="1" i="0">
                          <a:solidFill>
                            <a:srgbClr val="14181F"/>
                          </a:solidFill>
                          <a:latin typeface="Segoe UI"/>
                        </a:rPr>
                        <a:t>navigate to Dhaka University</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Hand off to Google Maps</a:t>
                      </a:r>
                    </a:p>
                  </a:txBody>
                  <a:tcPr marL="109728" marR="109728" anchor="ctr">
                    <a:solidFill>
                      <a:srgbClr val="F6F8FA"/>
                    </a:solidFill>
                  </a:tcPr>
                </a:tc>
              </a:tr>
              <a:tr h="301752">
                <a:tc>
                  <a:txBody>
                    <a:bodyPr/>
                    <a:lstStyle/>
                    <a:p>
                      <a:pPr algn="l">
                        <a:spcBef>
                          <a:spcPts val="0"/>
                        </a:spcBef>
                        <a:spcAft>
                          <a:spcPts val="0"/>
                        </a:spcAft>
                      </a:pPr>
                      <a:r>
                        <a:rPr sz="950" b="1" i="0">
                          <a:solidFill>
                            <a:srgbClr val="14181F"/>
                          </a:solidFill>
                          <a:latin typeface="Segoe UI"/>
                        </a:rPr>
                        <a:t>play Bohemian Rhapsody</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Open YouTube search results</a:t>
                      </a:r>
                    </a:p>
                  </a:txBody>
                  <a:tcPr marL="109728" marR="109728" anchor="ctr">
                    <a:solidFill>
                      <a:srgbClr val="FFFFFF"/>
                    </a:solidFill>
                  </a:tcPr>
                </a:tc>
              </a:tr>
              <a:tr h="301752">
                <a:tc>
                  <a:txBody>
                    <a:bodyPr/>
                    <a:lstStyle/>
                    <a:p>
                      <a:pPr algn="l">
                        <a:spcBef>
                          <a:spcPts val="0"/>
                        </a:spcBef>
                        <a:spcAft>
                          <a:spcPts val="0"/>
                        </a:spcAft>
                      </a:pPr>
                      <a:r>
                        <a:rPr sz="950" b="1" i="0">
                          <a:solidFill>
                            <a:srgbClr val="14181F"/>
                          </a:solidFill>
                          <a:latin typeface="Segoe UI"/>
                        </a:rPr>
                        <a:t>search for the UCL score</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Open a Google search</a:t>
                      </a:r>
                    </a:p>
                  </a:txBody>
                  <a:tcPr marL="109728" marR="109728" anchor="ctr">
                    <a:solidFill>
                      <a:srgbClr val="F6F8FA"/>
                    </a:solidFill>
                  </a:tcPr>
                </a:tc>
              </a:tr>
              <a:tr h="301752">
                <a:tc>
                  <a:txBody>
                    <a:bodyPr/>
                    <a:lstStyle/>
                    <a:p>
                      <a:pPr algn="l">
                        <a:spcBef>
                          <a:spcPts val="0"/>
                        </a:spcBef>
                        <a:spcAft>
                          <a:spcPts val="0"/>
                        </a:spcAft>
                      </a:pPr>
                      <a:r>
                        <a:rPr sz="950" b="1" i="0">
                          <a:solidFill>
                            <a:srgbClr val="14181F"/>
                          </a:solidFill>
                          <a:latin typeface="Segoe UI"/>
                        </a:rPr>
                        <a:t>check telegram</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Fetch and sync bot notices</a:t>
                      </a:r>
                    </a:p>
                  </a:txBody>
                  <a:tcPr marL="109728" marR="109728" anchor="ctr">
                    <a:solidFill>
                      <a:srgbClr val="FFFFFF"/>
                    </a:solidFill>
                  </a:tcPr>
                </a:tc>
              </a:tr>
            </a:tbl>
          </a:graphicData>
        </a:graphic>
      </p:graphicFrame>
      <p:sp>
        <p:nvSpPr>
          <p:cNvPr id="14" name="TextBox 13"/>
          <p:cNvSpPr txBox="1"/>
          <p:nvPr/>
        </p:nvSpPr>
        <p:spPr>
          <a:xfrm>
            <a:off x="6355080" y="1572768"/>
            <a:ext cx="5303520" cy="274320"/>
          </a:xfrm>
          <a:prstGeom prst="rect">
            <a:avLst/>
          </a:prstGeom>
          <a:noFill/>
        </p:spPr>
        <p:txBody>
          <a:bodyPr wrap="square" anchor="t" lIns="0" rIns="0" tIns="0" bIns="0">
            <a:spAutoFit/>
          </a:bodyPr>
          <a:lstStyle/>
          <a:p>
            <a:pPr algn="l">
              <a:spcBef>
                <a:spcPts val="0"/>
              </a:spcBef>
              <a:spcAft>
                <a:spcPts val="0"/>
              </a:spcAft>
            </a:pPr>
            <a:r>
              <a:rPr sz="1000" b="1" i="0">
                <a:solidFill>
                  <a:srgbClr val="4C4A6B"/>
                </a:solidFill>
                <a:latin typeface="Segoe UI"/>
              </a:rPr>
              <a:t>NEEDS THE MODEL - EXPECT A SHORT WAIT</a:t>
            </a:r>
          </a:p>
        </p:txBody>
      </p:sp>
      <p:graphicFrame>
        <p:nvGraphicFramePr>
          <p:cNvPr id="15" name="Table 14"/>
          <p:cNvGraphicFramePr>
            <a:graphicFrameLocks noGrp="1"/>
          </p:cNvGraphicFramePr>
          <p:nvPr/>
        </p:nvGraphicFramePr>
        <p:xfrm>
          <a:off x="6355080" y="1847088"/>
          <a:ext cx="5303520" cy="2377440"/>
        </p:xfrm>
        <a:graphic>
          <a:graphicData uri="http://schemas.openxmlformats.org/drawingml/2006/table">
            <a:tbl>
              <a:tblPr firstRow="1" bandRow="1">
                <a:tableStyleId>{5C22544A-7EE6-4342-B048-85BDC9FD1C3A}</a:tableStyleId>
              </a:tblPr>
              <a:tblGrid>
                <a:gridCol w="2468880"/>
                <a:gridCol w="2834640"/>
              </a:tblGrid>
              <a:tr h="475488">
                <a:tc>
                  <a:txBody>
                    <a:bodyPr/>
                    <a:lstStyle/>
                    <a:p>
                      <a:pPr algn="l">
                        <a:spcBef>
                          <a:spcPts val="0"/>
                        </a:spcBef>
                        <a:spcAft>
                          <a:spcPts val="0"/>
                        </a:spcAft>
                      </a:pPr>
                      <a:r>
                        <a:rPr sz="950" b="1" i="0">
                          <a:solidFill>
                            <a:srgbClr val="FFFFFF"/>
                          </a:solidFill>
                          <a:latin typeface="Segoe UI"/>
                        </a:rPr>
                        <a:t>Say this</a:t>
                      </a:r>
                    </a:p>
                  </a:txBody>
                  <a:tcPr marL="109728" marR="109728" anchor="ctr">
                    <a:solidFill>
                      <a:srgbClr val="4C4A6B"/>
                    </a:solidFill>
                  </a:tcPr>
                </a:tc>
                <a:tc>
                  <a:txBody>
                    <a:bodyPr/>
                    <a:lstStyle/>
                    <a:p>
                      <a:pPr algn="l">
                        <a:spcBef>
                          <a:spcPts val="0"/>
                        </a:spcBef>
                        <a:spcAft>
                          <a:spcPts val="0"/>
                        </a:spcAft>
                      </a:pPr>
                      <a:r>
                        <a:rPr sz="950" b="1" i="0">
                          <a:solidFill>
                            <a:srgbClr val="FFFFFF"/>
                          </a:solidFill>
                          <a:latin typeface="Segoe UI"/>
                        </a:rPr>
                        <a:t>And Pico will</a:t>
                      </a:r>
                    </a:p>
                  </a:txBody>
                  <a:tcPr marL="109728" marR="109728" anchor="ctr">
                    <a:solidFill>
                      <a:srgbClr val="4C4A6B"/>
                    </a:solidFill>
                  </a:tcPr>
                </a:tc>
              </a:tr>
              <a:tr h="475488">
                <a:tc>
                  <a:txBody>
                    <a:bodyPr/>
                    <a:lstStyle/>
                    <a:p>
                      <a:pPr algn="l">
                        <a:spcBef>
                          <a:spcPts val="0"/>
                        </a:spcBef>
                        <a:spcAft>
                          <a:spcPts val="0"/>
                        </a:spcAft>
                      </a:pPr>
                      <a:r>
                        <a:rPr sz="950" b="1" i="0">
                          <a:solidFill>
                            <a:srgbClr val="14181F"/>
                          </a:solidFill>
                          <a:latin typeface="Segoe UI"/>
                        </a:rPr>
                        <a:t>add a task to buy milk tomorrow, high priority</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Create it, reading title, priority and category out of the sentence</a:t>
                      </a:r>
                    </a:p>
                  </a:txBody>
                  <a:tcPr marL="109728" marR="109728" anchor="ctr">
                    <a:solidFill>
                      <a:srgbClr val="FFFFFF"/>
                    </a:solidFill>
                  </a:tcPr>
                </a:tc>
              </a:tr>
              <a:tr h="475488">
                <a:tc>
                  <a:txBody>
                    <a:bodyPr/>
                    <a:lstStyle/>
                    <a:p>
                      <a:pPr algn="l">
                        <a:spcBef>
                          <a:spcPts val="0"/>
                        </a:spcBef>
                        <a:spcAft>
                          <a:spcPts val="0"/>
                        </a:spcAft>
                      </a:pPr>
                      <a:r>
                        <a:rPr sz="950" b="1" i="0">
                          <a:solidFill>
                            <a:srgbClr val="14181F"/>
                          </a:solidFill>
                          <a:latin typeface="Segoe UI"/>
                        </a:rPr>
                        <a:t>schedule a meeting on Friday at 3pm</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Create an event, parsing the date and the time</a:t>
                      </a:r>
                    </a:p>
                  </a:txBody>
                  <a:tcPr marL="109728" marR="109728" anchor="ctr">
                    <a:solidFill>
                      <a:srgbClr val="F6F8FA"/>
                    </a:solidFill>
                  </a:tcPr>
                </a:tc>
              </a:tr>
              <a:tr h="475488">
                <a:tc>
                  <a:txBody>
                    <a:bodyPr/>
                    <a:lstStyle/>
                    <a:p>
                      <a:pPr algn="l">
                        <a:spcBef>
                          <a:spcPts val="0"/>
                        </a:spcBef>
                        <a:spcAft>
                          <a:spcPts val="0"/>
                        </a:spcAft>
                      </a:pPr>
                      <a:r>
                        <a:rPr sz="950" b="1" i="0">
                          <a:solidFill>
                            <a:srgbClr val="14181F"/>
                          </a:solidFill>
                          <a:latin typeface="Segoe UI"/>
                        </a:rPr>
                        <a:t>who is the CEO of Nvidia</a:t>
                      </a:r>
                    </a:p>
                  </a:txBody>
                  <a:tcPr marL="109728" marR="109728" anchor="ctr">
                    <a:solidFill>
                      <a:srgbClr val="FFFFFF"/>
                    </a:solidFill>
                  </a:tcPr>
                </a:tc>
                <a:tc>
                  <a:txBody>
                    <a:bodyPr/>
                    <a:lstStyle/>
                    <a:p>
                      <a:pPr algn="l">
                        <a:spcBef>
                          <a:spcPts val="0"/>
                        </a:spcBef>
                        <a:spcAft>
                          <a:spcPts val="0"/>
                        </a:spcAft>
                      </a:pPr>
                      <a:r>
                        <a:rPr sz="950" b="0" i="0">
                          <a:solidFill>
                            <a:srgbClr val="3C4450"/>
                          </a:solidFill>
                          <a:latin typeface="Segoe UI"/>
                        </a:rPr>
                        <a:t>Answer from the model's own knowledge, offline</a:t>
                      </a:r>
                    </a:p>
                  </a:txBody>
                  <a:tcPr marL="109728" marR="109728" anchor="ctr">
                    <a:solidFill>
                      <a:srgbClr val="FFFFFF"/>
                    </a:solidFill>
                  </a:tcPr>
                </a:tc>
              </a:tr>
              <a:tr h="475488">
                <a:tc>
                  <a:txBody>
                    <a:bodyPr/>
                    <a:lstStyle/>
                    <a:p>
                      <a:pPr algn="l">
                        <a:spcBef>
                          <a:spcPts val="0"/>
                        </a:spcBef>
                        <a:spcAft>
                          <a:spcPts val="0"/>
                        </a:spcAft>
                      </a:pPr>
                      <a:r>
                        <a:rPr sz="950" b="1" i="0">
                          <a:solidFill>
                            <a:srgbClr val="14181F"/>
                          </a:solidFill>
                          <a:latin typeface="Segoe UI"/>
                        </a:rPr>
                        <a:t>anything conversational</a:t>
                      </a:r>
                    </a:p>
                  </a:txBody>
                  <a:tcPr marL="109728" marR="109728" anchor="ctr">
                    <a:solidFill>
                      <a:srgbClr val="F6F8FA"/>
                    </a:solidFill>
                  </a:tcPr>
                </a:tc>
                <a:tc>
                  <a:txBody>
                    <a:bodyPr/>
                    <a:lstStyle/>
                    <a:p>
                      <a:pPr algn="l">
                        <a:spcBef>
                          <a:spcPts val="0"/>
                        </a:spcBef>
                        <a:spcAft>
                          <a:spcPts val="0"/>
                        </a:spcAft>
                      </a:pPr>
                      <a:r>
                        <a:rPr sz="950" b="0" i="0">
                          <a:solidFill>
                            <a:srgbClr val="3C4450"/>
                          </a:solidFill>
                          <a:latin typeface="Segoe UI"/>
                        </a:rPr>
                        <a:t>Reply in prose rather than running a tool</a:t>
                      </a:r>
                    </a:p>
                  </a:txBody>
                  <a:tcPr marL="109728" marR="109728" anchor="ctr">
                    <a:solidFill>
                      <a:srgbClr val="F6F8FA"/>
                    </a:solidFill>
                  </a:tcPr>
                </a:tc>
              </a:tr>
            </a:tbl>
          </a:graphicData>
        </a:graphic>
      </p:graphicFrame>
      <p:sp>
        <p:nvSpPr>
          <p:cNvPr id="16" name="Rectangle 15"/>
          <p:cNvSpPr/>
          <p:nvPr/>
        </p:nvSpPr>
        <p:spPr>
          <a:xfrm>
            <a:off x="566928" y="4160520"/>
            <a:ext cx="11057839" cy="832104"/>
          </a:xfrm>
          <a:prstGeom prst="rect">
            <a:avLst/>
          </a:prstGeom>
          <a:solidFill>
            <a:srgbClr val="F4F6F9"/>
          </a:solidFill>
          <a:ln>
            <a:noFill/>
          </a:ln>
          <a:effectLst/>
        </p:spPr>
        <p:txBody>
          <a:bodyPr rtlCol="0" anchor="ctr"/>
          <a:lstStyle/>
          <a:p>
            <a:pPr algn="ctr"/>
          </a:p>
        </p:txBody>
      </p:sp>
      <p:sp>
        <p:nvSpPr>
          <p:cNvPr id="17" name="Rectangle 16"/>
          <p:cNvSpPr/>
          <p:nvPr/>
        </p:nvSpPr>
        <p:spPr>
          <a:xfrm>
            <a:off x="566928" y="4160520"/>
            <a:ext cx="41148" cy="832104"/>
          </a:xfrm>
          <a:prstGeom prst="rect">
            <a:avLst/>
          </a:prstGeom>
          <a:solidFill>
            <a:srgbClr val="4C4A6B"/>
          </a:solidFill>
          <a:ln>
            <a:noFill/>
          </a:ln>
          <a:effectLst/>
        </p:spPr>
        <p:txBody>
          <a:bodyPr rtlCol="0" anchor="ctr"/>
          <a:lstStyle/>
          <a:p>
            <a:pPr algn="ctr"/>
          </a:p>
        </p:txBody>
      </p:sp>
      <p:sp>
        <p:nvSpPr>
          <p:cNvPr id="18" name="TextBox 17"/>
          <p:cNvSpPr txBox="1"/>
          <p:nvPr/>
        </p:nvSpPr>
        <p:spPr>
          <a:xfrm>
            <a:off x="768096" y="4270248"/>
            <a:ext cx="10673791" cy="649224"/>
          </a:xfrm>
          <a:prstGeom prst="rect">
            <a:avLst/>
          </a:prstGeom>
          <a:noFill/>
        </p:spPr>
        <p:txBody>
          <a:bodyPr wrap="square" anchor="t" lIns="0" rIns="0" tIns="0" bIns="0">
            <a:spAutoFit/>
          </a:bodyPr>
          <a:lstStyle/>
          <a:p>
            <a:pPr algn="l">
              <a:spcBef>
                <a:spcPts val="0"/>
              </a:spcBef>
              <a:spcAft>
                <a:spcPts val="0"/>
              </a:spcAft>
            </a:pPr>
            <a:r>
              <a:rPr sz="1200" b="1" i="0">
                <a:solidFill>
                  <a:srgbClr val="4C4A6B"/>
                </a:solidFill>
                <a:latin typeface="Segoe UI"/>
              </a:rPr>
              <a:t>If a command is not recognised</a:t>
            </a:r>
          </a:p>
          <a:p>
            <a:pPr algn="l">
              <a:spcBef>
                <a:spcPts val="300"/>
              </a:spcBef>
              <a:spcAft>
                <a:spcPts val="0"/>
              </a:spcAft>
            </a:pPr>
            <a:r>
              <a:rPr sz="1100" b="0" i="0">
                <a:solidFill>
                  <a:srgbClr val="3C4450"/>
                </a:solidFill>
                <a:latin typeface="Segoe UI"/>
              </a:rPr>
              <a:t>Phrase it the way the cheat-sheet does. The instant tier matches on keywords, so "illuminate the room" will not find the flashlight - it goes to the model, which may or may not work it out. Four tools - distance, maps, YouTube and web search - are reachable only through these phrasings and the tool menu; the model cannot call them.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7A3B47"/>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Offline and online</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7A3B47"/>
                </a:solidFill>
                <a:latin typeface="Segoe UI"/>
              </a:rPr>
              <a:t>21</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7A3B47"/>
                </a:solidFill>
                <a:latin typeface="Segoe UI"/>
              </a:rPr>
              <a:t>REFERENCE</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What works offline, and what does not</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There is no Pico server. The features that use the internet talk to third parties directly.</a:t>
            </a:r>
          </a:p>
        </p:txBody>
      </p:sp>
      <p:sp>
        <p:nvSpPr>
          <p:cNvPr id="10" name="Rectangle 9"/>
          <p:cNvSpPr/>
          <p:nvPr/>
        </p:nvSpPr>
        <p:spPr>
          <a:xfrm>
            <a:off x="566928" y="1645920"/>
            <a:ext cx="2613583" cy="1298448"/>
          </a:xfrm>
          <a:prstGeom prst="rect">
            <a:avLst/>
          </a:prstGeom>
          <a:solidFill>
            <a:srgbClr val="FFFFFF"/>
          </a:solidFill>
          <a:ln w="9525">
            <a:solidFill>
              <a:srgbClr val="E3E7EC"/>
            </a:solidFill>
          </a:ln>
          <a:effectLst/>
        </p:spPr>
        <p:txBody>
          <a:bodyPr rtlCol="0" anchor="ctr"/>
          <a:lstStyle/>
          <a:p>
            <a:pPr algn="ctr"/>
          </a:p>
        </p:txBody>
      </p:sp>
      <p:sp>
        <p:nvSpPr>
          <p:cNvPr id="11" name="Rectangle 10"/>
          <p:cNvSpPr/>
          <p:nvPr/>
        </p:nvSpPr>
        <p:spPr>
          <a:xfrm>
            <a:off x="566928" y="1645920"/>
            <a:ext cx="2613583" cy="50292"/>
          </a:xfrm>
          <a:prstGeom prst="rect">
            <a:avLst/>
          </a:prstGeom>
          <a:solidFill>
            <a:srgbClr val="7A3B47"/>
          </a:solidFill>
          <a:ln>
            <a:noFill/>
          </a:ln>
          <a:effectLst/>
        </p:spPr>
        <p:txBody>
          <a:bodyPr rtlCol="0" anchor="ctr"/>
          <a:lstStyle/>
          <a:p>
            <a:pPr algn="ctr"/>
          </a:p>
        </p:txBody>
      </p:sp>
      <p:sp>
        <p:nvSpPr>
          <p:cNvPr id="12" name="TextBox 11"/>
          <p:cNvSpPr txBox="1"/>
          <p:nvPr/>
        </p:nvSpPr>
        <p:spPr>
          <a:xfrm>
            <a:off x="786384" y="1883664"/>
            <a:ext cx="2174671" cy="95097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Where your data lives</a:t>
            </a:r>
          </a:p>
          <a:p>
            <a:pPr algn="l">
              <a:spcBef>
                <a:spcPts val="500"/>
              </a:spcBef>
              <a:spcAft>
                <a:spcPts val="0"/>
              </a:spcAft>
            </a:pPr>
            <a:r>
              <a:rPr sz="1050" b="0" i="0">
                <a:solidFill>
                  <a:srgbClr val="3C4450"/>
                </a:solidFill>
                <a:latin typeface="Segoe UI"/>
              </a:rPr>
              <a:t>Tasks, events, reminders, accounts and the Telegram token sit in expo-secure-store, encrypted by the Android Keystore.</a:t>
            </a:r>
          </a:p>
        </p:txBody>
      </p:sp>
      <p:sp>
        <p:nvSpPr>
          <p:cNvPr id="13" name="Rectangle 12"/>
          <p:cNvSpPr/>
          <p:nvPr/>
        </p:nvSpPr>
        <p:spPr>
          <a:xfrm>
            <a:off x="3381679" y="1645920"/>
            <a:ext cx="2613583" cy="1298448"/>
          </a:xfrm>
          <a:prstGeom prst="rect">
            <a:avLst/>
          </a:prstGeom>
          <a:solidFill>
            <a:srgbClr val="FFFFFF"/>
          </a:solidFill>
          <a:ln w="9525">
            <a:solidFill>
              <a:srgbClr val="E3E7EC"/>
            </a:solidFill>
          </a:ln>
          <a:effectLst/>
        </p:spPr>
        <p:txBody>
          <a:bodyPr rtlCol="0" anchor="ctr"/>
          <a:lstStyle/>
          <a:p>
            <a:pPr algn="ctr"/>
          </a:p>
        </p:txBody>
      </p:sp>
      <p:sp>
        <p:nvSpPr>
          <p:cNvPr id="14" name="Rectangle 13"/>
          <p:cNvSpPr/>
          <p:nvPr/>
        </p:nvSpPr>
        <p:spPr>
          <a:xfrm>
            <a:off x="3381679" y="1645920"/>
            <a:ext cx="2613583" cy="50292"/>
          </a:xfrm>
          <a:prstGeom prst="rect">
            <a:avLst/>
          </a:prstGeom>
          <a:solidFill>
            <a:srgbClr val="7A3B47"/>
          </a:solidFill>
          <a:ln>
            <a:noFill/>
          </a:ln>
          <a:effectLst/>
        </p:spPr>
        <p:txBody>
          <a:bodyPr rtlCol="0" anchor="ctr"/>
          <a:lstStyle/>
          <a:p>
            <a:pPr algn="ctr"/>
          </a:p>
        </p:txBody>
      </p:sp>
      <p:sp>
        <p:nvSpPr>
          <p:cNvPr id="15" name="TextBox 14"/>
          <p:cNvSpPr txBox="1"/>
          <p:nvPr/>
        </p:nvSpPr>
        <p:spPr>
          <a:xfrm>
            <a:off x="3601135" y="1883664"/>
            <a:ext cx="2174671" cy="95097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Where the AI runs</a:t>
            </a:r>
          </a:p>
          <a:p>
            <a:pPr algn="l">
              <a:spcBef>
                <a:spcPts val="500"/>
              </a:spcBef>
              <a:spcAft>
                <a:spcPts val="0"/>
              </a:spcAft>
            </a:pPr>
            <a:r>
              <a:rPr sz="1050" b="0" i="0">
                <a:solidFill>
                  <a:srgbClr val="3C4450"/>
                </a:solidFill>
                <a:latin typeface="Segoe UI"/>
              </a:rPr>
              <a:t>On the phone's CPU through llama.cpp. Your prompts and your task list are never sent anywhere to be answered.</a:t>
            </a:r>
          </a:p>
        </p:txBody>
      </p:sp>
      <p:sp>
        <p:nvSpPr>
          <p:cNvPr id="16" name="Rectangle 15"/>
          <p:cNvSpPr/>
          <p:nvPr/>
        </p:nvSpPr>
        <p:spPr>
          <a:xfrm>
            <a:off x="6196430" y="1645920"/>
            <a:ext cx="2613583" cy="1298448"/>
          </a:xfrm>
          <a:prstGeom prst="rect">
            <a:avLst/>
          </a:prstGeom>
          <a:solidFill>
            <a:srgbClr val="FFFFFF"/>
          </a:solidFill>
          <a:ln w="9525">
            <a:solidFill>
              <a:srgbClr val="E3E7EC"/>
            </a:solidFill>
          </a:ln>
          <a:effectLst/>
        </p:spPr>
        <p:txBody>
          <a:bodyPr rtlCol="0" anchor="ctr"/>
          <a:lstStyle/>
          <a:p>
            <a:pPr algn="ctr"/>
          </a:p>
        </p:txBody>
      </p:sp>
      <p:sp>
        <p:nvSpPr>
          <p:cNvPr id="17" name="Rectangle 16"/>
          <p:cNvSpPr/>
          <p:nvPr/>
        </p:nvSpPr>
        <p:spPr>
          <a:xfrm>
            <a:off x="6196430" y="1645920"/>
            <a:ext cx="2613583" cy="50292"/>
          </a:xfrm>
          <a:prstGeom prst="rect">
            <a:avLst/>
          </a:prstGeom>
          <a:solidFill>
            <a:srgbClr val="7A3B47"/>
          </a:solidFill>
          <a:ln>
            <a:noFill/>
          </a:ln>
          <a:effectLst/>
        </p:spPr>
        <p:txBody>
          <a:bodyPr rtlCol="0" anchor="ctr"/>
          <a:lstStyle/>
          <a:p>
            <a:pPr algn="ctr"/>
          </a:p>
        </p:txBody>
      </p:sp>
      <p:sp>
        <p:nvSpPr>
          <p:cNvPr id="18" name="TextBox 17"/>
          <p:cNvSpPr txBox="1"/>
          <p:nvPr/>
        </p:nvSpPr>
        <p:spPr>
          <a:xfrm>
            <a:off x="6415886" y="1883664"/>
            <a:ext cx="2174671" cy="95097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What is never collected</a:t>
            </a:r>
          </a:p>
          <a:p>
            <a:pPr algn="l">
              <a:spcBef>
                <a:spcPts val="500"/>
              </a:spcBef>
              <a:spcAft>
                <a:spcPts val="0"/>
              </a:spcAft>
            </a:pPr>
            <a:r>
              <a:rPr sz="1050" b="0" i="0">
                <a:solidFill>
                  <a:srgbClr val="3C4450"/>
                </a:solidFill>
                <a:latin typeface="Segoe UI"/>
              </a:rPr>
              <a:t>No analytics, no telemetry, no crash reporting, no advertising ID - there is no server account to hold them.</a:t>
            </a:r>
          </a:p>
        </p:txBody>
      </p:sp>
      <p:sp>
        <p:nvSpPr>
          <p:cNvPr id="19" name="Rectangle 18"/>
          <p:cNvSpPr/>
          <p:nvPr/>
        </p:nvSpPr>
        <p:spPr>
          <a:xfrm>
            <a:off x="9011181" y="1645920"/>
            <a:ext cx="2613583" cy="1298448"/>
          </a:xfrm>
          <a:prstGeom prst="rect">
            <a:avLst/>
          </a:prstGeom>
          <a:solidFill>
            <a:srgbClr val="FFFFFF"/>
          </a:solidFill>
          <a:ln w="9525">
            <a:solidFill>
              <a:srgbClr val="E3E7EC"/>
            </a:solidFill>
          </a:ln>
          <a:effectLst/>
        </p:spPr>
        <p:txBody>
          <a:bodyPr rtlCol="0" anchor="ctr"/>
          <a:lstStyle/>
          <a:p>
            <a:pPr algn="ctr"/>
          </a:p>
        </p:txBody>
      </p:sp>
      <p:sp>
        <p:nvSpPr>
          <p:cNvPr id="20" name="Rectangle 19"/>
          <p:cNvSpPr/>
          <p:nvPr/>
        </p:nvSpPr>
        <p:spPr>
          <a:xfrm>
            <a:off x="9011181" y="1645920"/>
            <a:ext cx="2613583" cy="50292"/>
          </a:xfrm>
          <a:prstGeom prst="rect">
            <a:avLst/>
          </a:prstGeom>
          <a:solidFill>
            <a:srgbClr val="7A3B47"/>
          </a:solidFill>
          <a:ln>
            <a:noFill/>
          </a:ln>
          <a:effectLst/>
        </p:spPr>
        <p:txBody>
          <a:bodyPr rtlCol="0" anchor="ctr"/>
          <a:lstStyle/>
          <a:p>
            <a:pPr algn="ctr"/>
          </a:p>
        </p:txBody>
      </p:sp>
      <p:sp>
        <p:nvSpPr>
          <p:cNvPr id="21" name="TextBox 20"/>
          <p:cNvSpPr txBox="1"/>
          <p:nvPr/>
        </p:nvSpPr>
        <p:spPr>
          <a:xfrm>
            <a:off x="9230637" y="1883664"/>
            <a:ext cx="2174671" cy="950976"/>
          </a:xfrm>
          <a:prstGeom prst="rect">
            <a:avLst/>
          </a:prstGeom>
          <a:noFill/>
        </p:spPr>
        <p:txBody>
          <a:bodyPr wrap="square" anchor="t" lIns="0" rIns="0" tIns="0" bIns="0">
            <a:spAutoFit/>
          </a:bodyPr>
          <a:lstStyle/>
          <a:p>
            <a:pPr algn="l">
              <a:spcBef>
                <a:spcPts val="0"/>
              </a:spcBef>
              <a:spcAft>
                <a:spcPts val="0"/>
              </a:spcAft>
            </a:pPr>
            <a:r>
              <a:rPr sz="1350" b="1" i="0">
                <a:solidFill>
                  <a:srgbClr val="14181F"/>
                </a:solidFill>
                <a:latin typeface="Segoe UI"/>
              </a:rPr>
              <a:t>How to get it all back</a:t>
            </a:r>
          </a:p>
          <a:p>
            <a:pPr algn="l">
              <a:spcBef>
                <a:spcPts val="500"/>
              </a:spcBef>
              <a:spcAft>
                <a:spcPts val="0"/>
              </a:spcAft>
            </a:pPr>
            <a:r>
              <a:rPr sz="1050" b="0" i="0">
                <a:solidFill>
                  <a:srgbClr val="3C4450"/>
                </a:solidFill>
                <a:latin typeface="Segoe UI"/>
              </a:rPr>
              <a:t>Profile &gt; Account Security &gt; Download my data exports everything as JSON. Delete all data erases it irreversibly.</a:t>
            </a:r>
          </a:p>
        </p:txBody>
      </p:sp>
      <p:graphicFrame>
        <p:nvGraphicFramePr>
          <p:cNvPr id="22" name="Table 21"/>
          <p:cNvGraphicFramePr>
            <a:graphicFrameLocks noGrp="1"/>
          </p:cNvGraphicFramePr>
          <p:nvPr/>
        </p:nvGraphicFramePr>
        <p:xfrm>
          <a:off x="566928" y="3337560"/>
          <a:ext cx="11055095" cy="2926080"/>
        </p:xfrm>
        <a:graphic>
          <a:graphicData uri="http://schemas.openxmlformats.org/drawingml/2006/table">
            <a:tbl>
              <a:tblPr firstRow="1" bandRow="1">
                <a:tableStyleId>{5C22544A-7EE6-4342-B048-85BDC9FD1C3A}</a:tableStyleId>
              </a:tblPr>
              <a:tblGrid>
                <a:gridCol w="3977639"/>
                <a:gridCol w="2377440"/>
                <a:gridCol w="4700016"/>
              </a:tblGrid>
              <a:tr h="365760">
                <a:tc>
                  <a:txBody>
                    <a:bodyPr/>
                    <a:lstStyle/>
                    <a:p>
                      <a:pPr algn="l">
                        <a:spcBef>
                          <a:spcPts val="0"/>
                        </a:spcBef>
                        <a:spcAft>
                          <a:spcPts val="0"/>
                        </a:spcAft>
                      </a:pPr>
                      <a:r>
                        <a:rPr sz="1000" b="1" i="0">
                          <a:solidFill>
                            <a:srgbClr val="FFFFFF"/>
                          </a:solidFill>
                          <a:latin typeface="Segoe UI"/>
                        </a:rPr>
                        <a:t>Feature</a:t>
                      </a:r>
                    </a:p>
                  </a:txBody>
                  <a:tcPr marL="109728" marR="109728" anchor="ctr">
                    <a:solidFill>
                      <a:srgbClr val="7A3B47"/>
                    </a:solidFill>
                  </a:tcPr>
                </a:tc>
                <a:tc>
                  <a:txBody>
                    <a:bodyPr/>
                    <a:lstStyle/>
                    <a:p>
                      <a:pPr algn="l">
                        <a:spcBef>
                          <a:spcPts val="0"/>
                        </a:spcBef>
                        <a:spcAft>
                          <a:spcPts val="0"/>
                        </a:spcAft>
                      </a:pPr>
                      <a:r>
                        <a:rPr sz="1000" b="1" i="0">
                          <a:solidFill>
                            <a:srgbClr val="FFFFFF"/>
                          </a:solidFill>
                          <a:latin typeface="Segoe UI"/>
                        </a:rPr>
                        <a:t>Offline?</a:t>
                      </a:r>
                    </a:p>
                  </a:txBody>
                  <a:tcPr marL="109728" marR="109728" anchor="ctr">
                    <a:solidFill>
                      <a:srgbClr val="7A3B47"/>
                    </a:solidFill>
                  </a:tcPr>
                </a:tc>
                <a:tc>
                  <a:txBody>
                    <a:bodyPr/>
                    <a:lstStyle/>
                    <a:p>
                      <a:pPr algn="l">
                        <a:spcBef>
                          <a:spcPts val="0"/>
                        </a:spcBef>
                        <a:spcAft>
                          <a:spcPts val="0"/>
                        </a:spcAft>
                      </a:pPr>
                      <a:r>
                        <a:rPr sz="1000" b="1" i="0">
                          <a:solidFill>
                            <a:srgbClr val="FFFFFF"/>
                          </a:solidFill>
                          <a:latin typeface="Segoe UI"/>
                        </a:rPr>
                        <a:t>What it contacts</a:t>
                      </a:r>
                    </a:p>
                  </a:txBody>
                  <a:tcPr marL="109728" marR="109728" anchor="ctr">
                    <a:solidFill>
                      <a:srgbClr val="7A3B47"/>
                    </a:solidFill>
                  </a:tcPr>
                </a:tc>
              </a:tr>
              <a:tr h="365760">
                <a:tc>
                  <a:txBody>
                    <a:bodyPr/>
                    <a:lstStyle/>
                    <a:p>
                      <a:pPr algn="l">
                        <a:spcBef>
                          <a:spcPts val="0"/>
                        </a:spcBef>
                        <a:spcAft>
                          <a:spcPts val="0"/>
                        </a:spcAft>
                      </a:pPr>
                      <a:r>
                        <a:rPr sz="1000" b="1" i="0">
                          <a:solidFill>
                            <a:srgbClr val="14181F"/>
                          </a:solidFill>
                          <a:latin typeface="Segoe UI"/>
                        </a:rPr>
                        <a:t>Sign in, tasks, events, reminders, calendar</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Fully offline</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Nothing</a:t>
                      </a:r>
                    </a:p>
                  </a:txBody>
                  <a:tcPr marL="109728" marR="109728" anchor="ctr">
                    <a:solidFill>
                      <a:srgbClr val="FFFFFF"/>
                    </a:solidFill>
                  </a:tcPr>
                </a:tc>
              </a:tr>
              <a:tr h="365760">
                <a:tc>
                  <a:txBody>
                    <a:bodyPr/>
                    <a:lstStyle/>
                    <a:p>
                      <a:pPr algn="l">
                        <a:spcBef>
                          <a:spcPts val="0"/>
                        </a:spcBef>
                        <a:spcAft>
                          <a:spcPts val="0"/>
                        </a:spcAft>
                      </a:pPr>
                      <a:r>
                        <a:rPr sz="1000" b="1" i="0">
                          <a:solidFill>
                            <a:srgbClr val="14181F"/>
                          </a:solidFill>
                          <a:latin typeface="Segoe UI"/>
                        </a:rPr>
                        <a:t>Chat, briefings, goal breakdown, flashlight, battery, timers</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Fully offline once a model is downloaded</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Nothing</a:t>
                      </a:r>
                    </a:p>
                  </a:txBody>
                  <a:tcPr marL="109728" marR="109728" anchor="ctr">
                    <a:solidFill>
                      <a:srgbClr val="F6F8FA"/>
                    </a:solidFill>
                  </a:tcPr>
                </a:tc>
              </a:tr>
              <a:tr h="365760">
                <a:tc>
                  <a:txBody>
                    <a:bodyPr/>
                    <a:lstStyle/>
                    <a:p>
                      <a:pPr algn="l">
                        <a:spcBef>
                          <a:spcPts val="0"/>
                        </a:spcBef>
                        <a:spcAft>
                          <a:spcPts val="0"/>
                        </a:spcAft>
                      </a:pPr>
                      <a:r>
                        <a:rPr sz="1000" b="1" i="0">
                          <a:solidFill>
                            <a:srgbClr val="14181F"/>
                          </a:solidFill>
                          <a:latin typeface="Segoe UI"/>
                        </a:rPr>
                        <a:t>Weather</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Online</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Open-Meteo - coordinates only, no identifier</a:t>
                      </a:r>
                    </a:p>
                  </a:txBody>
                  <a:tcPr marL="109728" marR="109728" anchor="ctr">
                    <a:solidFill>
                      <a:srgbClr val="FFFFFF"/>
                    </a:solidFill>
                  </a:tcPr>
                </a:tc>
              </a:tr>
              <a:tr h="365760">
                <a:tc>
                  <a:txBody>
                    <a:bodyPr/>
                    <a:lstStyle/>
                    <a:p>
                      <a:pPr algn="l">
                        <a:spcBef>
                          <a:spcPts val="0"/>
                        </a:spcBef>
                        <a:spcAft>
                          <a:spcPts val="0"/>
                        </a:spcAft>
                      </a:pPr>
                      <a:r>
                        <a:rPr sz="1000" b="1" i="0">
                          <a:solidFill>
                            <a:srgbClr val="14181F"/>
                          </a:solidFill>
                          <a:latin typeface="Segoe UI"/>
                        </a:rPr>
                        <a:t>Distance and ETA</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Online</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Photon geocoder, then the public OSRM router</a:t>
                      </a:r>
                    </a:p>
                  </a:txBody>
                  <a:tcPr marL="109728" marR="109728" anchor="ctr">
                    <a:solidFill>
                      <a:srgbClr val="F6F8FA"/>
                    </a:solidFill>
                  </a:tcPr>
                </a:tc>
              </a:tr>
              <a:tr h="365760">
                <a:tc>
                  <a:txBody>
                    <a:bodyPr/>
                    <a:lstStyle/>
                    <a:p>
                      <a:pPr algn="l">
                        <a:spcBef>
                          <a:spcPts val="0"/>
                        </a:spcBef>
                        <a:spcAft>
                          <a:spcPts val="0"/>
                        </a:spcAft>
                      </a:pPr>
                      <a:r>
                        <a:rPr sz="1000" b="1" i="0">
                          <a:solidFill>
                            <a:srgbClr val="14181F"/>
                          </a:solidFill>
                          <a:latin typeface="Segoe UI"/>
                        </a:rPr>
                        <a:t>Maps, YouTube, web search</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Online</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Hands off to the relevant app or site</a:t>
                      </a:r>
                    </a:p>
                  </a:txBody>
                  <a:tcPr marL="109728" marR="109728" anchor="ctr">
                    <a:solidFill>
                      <a:srgbClr val="FFFFFF"/>
                    </a:solidFill>
                  </a:tcPr>
                </a:tc>
              </a:tr>
              <a:tr h="365760">
                <a:tc>
                  <a:txBody>
                    <a:bodyPr/>
                    <a:lstStyle/>
                    <a:p>
                      <a:pPr algn="l">
                        <a:spcBef>
                          <a:spcPts val="0"/>
                        </a:spcBef>
                        <a:spcAft>
                          <a:spcPts val="0"/>
                        </a:spcAft>
                      </a:pPr>
                      <a:r>
                        <a:rPr sz="1000" b="1" i="0">
                          <a:solidFill>
                            <a:srgbClr val="14181F"/>
                          </a:solidFill>
                          <a:latin typeface="Segoe UI"/>
                        </a:rPr>
                        <a:t>Telegram sync</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Online</a:t>
                      </a:r>
                    </a:p>
                  </a:txBody>
                  <a:tcPr marL="109728" marR="109728" anchor="ctr">
                    <a:solidFill>
                      <a:srgbClr val="F6F8FA"/>
                    </a:solidFill>
                  </a:tcPr>
                </a:tc>
                <a:tc>
                  <a:txBody>
                    <a:bodyPr/>
                    <a:lstStyle/>
                    <a:p>
                      <a:pPr algn="l">
                        <a:spcBef>
                          <a:spcPts val="0"/>
                        </a:spcBef>
                        <a:spcAft>
                          <a:spcPts val="0"/>
                        </a:spcAft>
                      </a:pPr>
                      <a:r>
                        <a:rPr sz="1000" b="0" i="0">
                          <a:solidFill>
                            <a:srgbClr val="3C4450"/>
                          </a:solidFill>
                          <a:latin typeface="Segoe UI"/>
                        </a:rPr>
                        <a:t>api.telegram.org, carrying your bot token</a:t>
                      </a:r>
                    </a:p>
                  </a:txBody>
                  <a:tcPr marL="109728" marR="109728" anchor="ctr">
                    <a:solidFill>
                      <a:srgbClr val="F6F8FA"/>
                    </a:solidFill>
                  </a:tcPr>
                </a:tc>
              </a:tr>
              <a:tr h="365760">
                <a:tc>
                  <a:txBody>
                    <a:bodyPr/>
                    <a:lstStyle/>
                    <a:p>
                      <a:pPr algn="l">
                        <a:spcBef>
                          <a:spcPts val="0"/>
                        </a:spcBef>
                        <a:spcAft>
                          <a:spcPts val="0"/>
                        </a:spcAft>
                      </a:pPr>
                      <a:r>
                        <a:rPr sz="1000" b="1" i="0">
                          <a:solidFill>
                            <a:srgbClr val="14181F"/>
                          </a:solidFill>
                          <a:latin typeface="Segoe UI"/>
                        </a:rPr>
                        <a:t>Plan My Day, Telegram interpretation</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Falls back to on-device</a:t>
                      </a:r>
                    </a:p>
                  </a:txBody>
                  <a:tcPr marL="109728" marR="109728" anchor="ctr">
                    <a:solidFill>
                      <a:srgbClr val="FFFFFF"/>
                    </a:solidFill>
                  </a:tcPr>
                </a:tc>
                <a:tc>
                  <a:txBody>
                    <a:bodyPr/>
                    <a:lstStyle/>
                    <a:p>
                      <a:pPr algn="l">
                        <a:spcBef>
                          <a:spcPts val="0"/>
                        </a:spcBef>
                        <a:spcAft>
                          <a:spcPts val="0"/>
                        </a:spcAft>
                      </a:pPr>
                      <a:r>
                        <a:rPr sz="1000" b="0" i="0">
                          <a:solidFill>
                            <a:srgbClr val="3C4450"/>
                          </a:solidFill>
                          <a:latin typeface="Segoe UI"/>
                        </a:rPr>
                        <a:t>NVIDIA NIM, only if a key was built in</a:t>
                      </a:r>
                    </a:p>
                  </a:txBody>
                  <a:tcPr marL="109728" marR="109728"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4C4A6B"/>
          </a:solidFill>
          <a:ln>
            <a:noFill/>
          </a:ln>
          <a:effectLst/>
        </p:spPr>
        <p:txBody>
          <a:bodyPr rtlCol="0" anchor="ctr"/>
          <a:lstStyle/>
          <a:p>
            <a:pPr algn="ctr"/>
          </a:p>
        </p:txBody>
      </p:sp>
      <p:sp>
        <p:nvSpPr>
          <p:cNvPr id="4" name="TextBox 3"/>
          <p:cNvSpPr txBox="1"/>
          <p:nvPr/>
        </p:nvSpPr>
        <p:spPr>
          <a:xfrm>
            <a:off x="566928" y="638251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A8393"/>
                </a:solidFill>
                <a:latin typeface="Segoe UI"/>
              </a:rPr>
              <a:t>Pico  |  Troubleshooting</a:t>
            </a:r>
          </a:p>
        </p:txBody>
      </p:sp>
      <p:sp>
        <p:nvSpPr>
          <p:cNvPr id="5" name="TextBox 4"/>
          <p:cNvSpPr txBox="1"/>
          <p:nvPr/>
        </p:nvSpPr>
        <p:spPr>
          <a:xfrm>
            <a:off x="10527487" y="6382512"/>
            <a:ext cx="1097280" cy="274320"/>
          </a:xfrm>
          <a:prstGeom prst="rect">
            <a:avLst/>
          </a:prstGeom>
          <a:noFill/>
        </p:spPr>
        <p:txBody>
          <a:bodyPr wrap="square" anchor="t" lIns="0" rIns="0" tIns="0" bIns="0">
            <a:spAutoFit/>
          </a:bodyPr>
          <a:lstStyle/>
          <a:p>
            <a:pPr algn="r">
              <a:spcBef>
                <a:spcPts val="0"/>
              </a:spcBef>
              <a:spcAft>
                <a:spcPts val="0"/>
              </a:spcAft>
            </a:pPr>
            <a:r>
              <a:rPr sz="900" b="1" i="0">
                <a:solidFill>
                  <a:srgbClr val="4C4A6B"/>
                </a:solidFill>
                <a:latin typeface="Segoe UI"/>
              </a:rPr>
              <a:t>22</a:t>
            </a:r>
          </a:p>
        </p:txBody>
      </p:sp>
      <p:sp>
        <p:nvSpPr>
          <p:cNvPr id="6" name="Rectangle 5"/>
          <p:cNvSpPr/>
          <p:nvPr/>
        </p:nvSpPr>
        <p:spPr>
          <a:xfrm>
            <a:off x="566928" y="6291072"/>
            <a:ext cx="11057839" cy="9525"/>
          </a:xfrm>
          <a:prstGeom prst="rect">
            <a:avLst/>
          </a:prstGeom>
          <a:solidFill>
            <a:srgbClr val="E3E7EC"/>
          </a:solidFill>
          <a:ln>
            <a:noFill/>
          </a:ln>
          <a:effectLst/>
        </p:spPr>
        <p:txBody>
          <a:bodyPr rtlCol="0" anchor="ctr"/>
          <a:lstStyle/>
          <a:p>
            <a:pPr algn="ctr"/>
          </a:p>
        </p:txBody>
      </p:sp>
      <p:sp>
        <p:nvSpPr>
          <p:cNvPr id="7" name="TextBox 6"/>
          <p:cNvSpPr txBox="1"/>
          <p:nvPr/>
        </p:nvSpPr>
        <p:spPr>
          <a:xfrm>
            <a:off x="566928" y="274320"/>
            <a:ext cx="8778240" cy="256032"/>
          </a:xfrm>
          <a:prstGeom prst="rect">
            <a:avLst/>
          </a:prstGeom>
          <a:noFill/>
        </p:spPr>
        <p:txBody>
          <a:bodyPr wrap="square" anchor="t" lIns="0" rIns="0" tIns="0" bIns="0">
            <a:spAutoFit/>
          </a:bodyPr>
          <a:lstStyle/>
          <a:p>
            <a:pPr algn="l">
              <a:spcBef>
                <a:spcPts val="0"/>
              </a:spcBef>
              <a:spcAft>
                <a:spcPts val="0"/>
              </a:spcAft>
            </a:pPr>
            <a:r>
              <a:rPr sz="1050" b="1" i="0">
                <a:solidFill>
                  <a:srgbClr val="4C4A6B"/>
                </a:solidFill>
                <a:latin typeface="Segoe UI"/>
              </a:rPr>
              <a:t>REFERENCE</a:t>
            </a:r>
          </a:p>
        </p:txBody>
      </p:sp>
      <p:sp>
        <p:nvSpPr>
          <p:cNvPr id="8" name="TextBox 7"/>
          <p:cNvSpPr txBox="1"/>
          <p:nvPr/>
        </p:nvSpPr>
        <p:spPr>
          <a:xfrm>
            <a:off x="566928" y="512064"/>
            <a:ext cx="10241280" cy="566928"/>
          </a:xfrm>
          <a:prstGeom prst="rect">
            <a:avLst/>
          </a:prstGeom>
          <a:noFill/>
        </p:spPr>
        <p:txBody>
          <a:bodyPr wrap="square" anchor="t" lIns="0" rIns="0" tIns="0" bIns="0">
            <a:spAutoFit/>
          </a:bodyPr>
          <a:lstStyle/>
          <a:p>
            <a:pPr algn="l">
              <a:spcBef>
                <a:spcPts val="0"/>
              </a:spcBef>
              <a:spcAft>
                <a:spcPts val="0"/>
              </a:spcAft>
            </a:pPr>
            <a:r>
              <a:rPr sz="2900" b="1" i="0">
                <a:solidFill>
                  <a:srgbClr val="14181F"/>
                </a:solidFill>
                <a:latin typeface="Segoe UI"/>
              </a:rPr>
              <a:t>When something does not work</a:t>
            </a:r>
          </a:p>
        </p:txBody>
      </p:sp>
      <p:sp>
        <p:nvSpPr>
          <p:cNvPr id="9" name="TextBox 8"/>
          <p:cNvSpPr txBox="1"/>
          <p:nvPr/>
        </p:nvSpPr>
        <p:spPr>
          <a:xfrm>
            <a:off x="566928" y="1097280"/>
            <a:ext cx="9418320" cy="310896"/>
          </a:xfrm>
          <a:prstGeom prst="rect">
            <a:avLst/>
          </a:prstGeom>
          <a:noFill/>
        </p:spPr>
        <p:txBody>
          <a:bodyPr wrap="square" anchor="t" lIns="0" rIns="0" tIns="0" bIns="0">
            <a:spAutoFit/>
          </a:bodyPr>
          <a:lstStyle/>
          <a:p>
            <a:pPr algn="l">
              <a:spcBef>
                <a:spcPts val="0"/>
              </a:spcBef>
              <a:spcAft>
                <a:spcPts val="0"/>
              </a:spcAft>
            </a:pPr>
            <a:r>
              <a:rPr sz="1250" b="0" i="0">
                <a:solidFill>
                  <a:srgbClr val="7A8393"/>
                </a:solidFill>
                <a:latin typeface="Segoe UI"/>
              </a:rPr>
              <a:t>The failures that actually happen, and what each one means.</a:t>
            </a:r>
          </a:p>
        </p:txBody>
      </p:sp>
      <p:sp>
        <p:nvSpPr>
          <p:cNvPr id="10" name="Rectangle 9"/>
          <p:cNvSpPr/>
          <p:nvPr/>
        </p:nvSpPr>
        <p:spPr>
          <a:xfrm>
            <a:off x="566928" y="1645920"/>
            <a:ext cx="2613583" cy="1389888"/>
          </a:xfrm>
          <a:prstGeom prst="rect">
            <a:avLst/>
          </a:prstGeom>
          <a:solidFill>
            <a:srgbClr val="FFFFFF"/>
          </a:solidFill>
          <a:ln w="9525">
            <a:solidFill>
              <a:srgbClr val="E3E7EC"/>
            </a:solidFill>
          </a:ln>
          <a:effectLst/>
        </p:spPr>
        <p:txBody>
          <a:bodyPr rtlCol="0" anchor="ctr"/>
          <a:lstStyle/>
          <a:p>
            <a:pPr algn="ctr"/>
          </a:p>
        </p:txBody>
      </p:sp>
      <p:sp>
        <p:nvSpPr>
          <p:cNvPr id="11" name="Rectangle 10"/>
          <p:cNvSpPr/>
          <p:nvPr/>
        </p:nvSpPr>
        <p:spPr>
          <a:xfrm>
            <a:off x="566928" y="1645920"/>
            <a:ext cx="2613583" cy="50292"/>
          </a:xfrm>
          <a:prstGeom prst="rect">
            <a:avLst/>
          </a:prstGeom>
          <a:solidFill>
            <a:srgbClr val="4C4A6B"/>
          </a:solidFill>
          <a:ln>
            <a:noFill/>
          </a:ln>
          <a:effectLst/>
        </p:spPr>
        <p:txBody>
          <a:bodyPr rtlCol="0" anchor="ctr"/>
          <a:lstStyle/>
          <a:p>
            <a:pPr algn="ctr"/>
          </a:p>
        </p:txBody>
      </p:sp>
      <p:sp>
        <p:nvSpPr>
          <p:cNvPr id="12" name="TextBox 11"/>
          <p:cNvSpPr txBox="1"/>
          <p:nvPr/>
        </p:nvSpPr>
        <p:spPr>
          <a:xfrm>
            <a:off x="786384" y="1883664"/>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The chat says the model was not found</a:t>
            </a:r>
          </a:p>
          <a:p>
            <a:pPr algn="l">
              <a:spcBef>
                <a:spcPts val="500"/>
              </a:spcBef>
              <a:spcAft>
                <a:spcPts val="0"/>
              </a:spcAft>
            </a:pPr>
            <a:r>
              <a:rPr sz="950" b="0" i="0">
                <a:solidFill>
                  <a:srgbClr val="3C4450"/>
                </a:solidFill>
                <a:latin typeface="Segoe UI"/>
              </a:rPr>
              <a:t>No model has been downloaded, or the active one was removed. Open Assistant &gt; + and download one. Tool-menu actions keep working.</a:t>
            </a:r>
          </a:p>
        </p:txBody>
      </p:sp>
      <p:sp>
        <p:nvSpPr>
          <p:cNvPr id="13" name="Rectangle 12"/>
          <p:cNvSpPr/>
          <p:nvPr/>
        </p:nvSpPr>
        <p:spPr>
          <a:xfrm>
            <a:off x="3381679" y="1645920"/>
            <a:ext cx="2613583" cy="1389888"/>
          </a:xfrm>
          <a:prstGeom prst="rect">
            <a:avLst/>
          </a:prstGeom>
          <a:solidFill>
            <a:srgbClr val="FFFFFF"/>
          </a:solidFill>
          <a:ln w="9525">
            <a:solidFill>
              <a:srgbClr val="E3E7EC"/>
            </a:solidFill>
          </a:ln>
          <a:effectLst/>
        </p:spPr>
        <p:txBody>
          <a:bodyPr rtlCol="0" anchor="ctr"/>
          <a:lstStyle/>
          <a:p>
            <a:pPr algn="ctr"/>
          </a:p>
        </p:txBody>
      </p:sp>
      <p:sp>
        <p:nvSpPr>
          <p:cNvPr id="14" name="Rectangle 13"/>
          <p:cNvSpPr/>
          <p:nvPr/>
        </p:nvSpPr>
        <p:spPr>
          <a:xfrm>
            <a:off x="3381679" y="1645920"/>
            <a:ext cx="2613583" cy="50292"/>
          </a:xfrm>
          <a:prstGeom prst="rect">
            <a:avLst/>
          </a:prstGeom>
          <a:solidFill>
            <a:srgbClr val="4C4A6B"/>
          </a:solidFill>
          <a:ln>
            <a:noFill/>
          </a:ln>
          <a:effectLst/>
        </p:spPr>
        <p:txBody>
          <a:bodyPr rtlCol="0" anchor="ctr"/>
          <a:lstStyle/>
          <a:p>
            <a:pPr algn="ctr"/>
          </a:p>
        </p:txBody>
      </p:sp>
      <p:sp>
        <p:nvSpPr>
          <p:cNvPr id="15" name="TextBox 14"/>
          <p:cNvSpPr txBox="1"/>
          <p:nvPr/>
        </p:nvSpPr>
        <p:spPr>
          <a:xfrm>
            <a:off x="3601135" y="1883664"/>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The first message after opening is slow</a:t>
            </a:r>
          </a:p>
          <a:p>
            <a:pPr algn="l">
              <a:spcBef>
                <a:spcPts val="500"/>
              </a:spcBef>
              <a:spcAft>
                <a:spcPts val="0"/>
              </a:spcAft>
            </a:pPr>
            <a:r>
              <a:rPr sz="950" b="0" i="0">
                <a:solidFill>
                  <a:srgbClr val="3C4450"/>
                </a:solidFill>
                <a:latin typeface="Segoe UI"/>
              </a:rPr>
              <a:t>The model is being loaded into memory. It happens once per launch; every message after it is quicker.</a:t>
            </a:r>
          </a:p>
        </p:txBody>
      </p:sp>
      <p:sp>
        <p:nvSpPr>
          <p:cNvPr id="16" name="Rectangle 15"/>
          <p:cNvSpPr/>
          <p:nvPr/>
        </p:nvSpPr>
        <p:spPr>
          <a:xfrm>
            <a:off x="6196430" y="1645920"/>
            <a:ext cx="2613583" cy="1389888"/>
          </a:xfrm>
          <a:prstGeom prst="rect">
            <a:avLst/>
          </a:prstGeom>
          <a:solidFill>
            <a:srgbClr val="FFFFFF"/>
          </a:solidFill>
          <a:ln w="9525">
            <a:solidFill>
              <a:srgbClr val="E3E7EC"/>
            </a:solidFill>
          </a:ln>
          <a:effectLst/>
        </p:spPr>
        <p:txBody>
          <a:bodyPr rtlCol="0" anchor="ctr"/>
          <a:lstStyle/>
          <a:p>
            <a:pPr algn="ctr"/>
          </a:p>
        </p:txBody>
      </p:sp>
      <p:sp>
        <p:nvSpPr>
          <p:cNvPr id="17" name="Rectangle 16"/>
          <p:cNvSpPr/>
          <p:nvPr/>
        </p:nvSpPr>
        <p:spPr>
          <a:xfrm>
            <a:off x="6196430" y="1645920"/>
            <a:ext cx="2613583" cy="50292"/>
          </a:xfrm>
          <a:prstGeom prst="rect">
            <a:avLst/>
          </a:prstGeom>
          <a:solidFill>
            <a:srgbClr val="4C4A6B"/>
          </a:solidFill>
          <a:ln>
            <a:noFill/>
          </a:ln>
          <a:effectLst/>
        </p:spPr>
        <p:txBody>
          <a:bodyPr rtlCol="0" anchor="ctr"/>
          <a:lstStyle/>
          <a:p>
            <a:pPr algn="ctr"/>
          </a:p>
        </p:txBody>
      </p:sp>
      <p:sp>
        <p:nvSpPr>
          <p:cNvPr id="18" name="TextBox 17"/>
          <p:cNvSpPr txBox="1"/>
          <p:nvPr/>
        </p:nvSpPr>
        <p:spPr>
          <a:xfrm>
            <a:off x="6415886" y="1883664"/>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Every reply is slow</a:t>
            </a:r>
          </a:p>
          <a:p>
            <a:pPr algn="l">
              <a:spcBef>
                <a:spcPts val="500"/>
              </a:spcBef>
              <a:spcAft>
                <a:spcPts val="0"/>
              </a:spcAft>
            </a:pPr>
            <a:r>
              <a:rPr sz="950" b="0" i="0">
                <a:solidFill>
                  <a:srgbClr val="3C4450"/>
                </a:solidFill>
                <a:latin typeface="Segoe UI"/>
              </a:rPr>
              <a:t>The model runs on the CPU with no GPU offload. A 3B model on a mid-range phone will feel heavy - switch to Gemma 3 1B.</a:t>
            </a:r>
          </a:p>
        </p:txBody>
      </p:sp>
      <p:sp>
        <p:nvSpPr>
          <p:cNvPr id="19" name="Rectangle 18"/>
          <p:cNvSpPr/>
          <p:nvPr/>
        </p:nvSpPr>
        <p:spPr>
          <a:xfrm>
            <a:off x="9011181" y="1645920"/>
            <a:ext cx="2613583" cy="1389888"/>
          </a:xfrm>
          <a:prstGeom prst="rect">
            <a:avLst/>
          </a:prstGeom>
          <a:solidFill>
            <a:srgbClr val="FFFFFF"/>
          </a:solidFill>
          <a:ln w="9525">
            <a:solidFill>
              <a:srgbClr val="E3E7EC"/>
            </a:solidFill>
          </a:ln>
          <a:effectLst/>
        </p:spPr>
        <p:txBody>
          <a:bodyPr rtlCol="0" anchor="ctr"/>
          <a:lstStyle/>
          <a:p>
            <a:pPr algn="ctr"/>
          </a:p>
        </p:txBody>
      </p:sp>
      <p:sp>
        <p:nvSpPr>
          <p:cNvPr id="20" name="Rectangle 19"/>
          <p:cNvSpPr/>
          <p:nvPr/>
        </p:nvSpPr>
        <p:spPr>
          <a:xfrm>
            <a:off x="9011181" y="1645920"/>
            <a:ext cx="2613583" cy="50292"/>
          </a:xfrm>
          <a:prstGeom prst="rect">
            <a:avLst/>
          </a:prstGeom>
          <a:solidFill>
            <a:srgbClr val="4C4A6B"/>
          </a:solidFill>
          <a:ln>
            <a:noFill/>
          </a:ln>
          <a:effectLst/>
        </p:spPr>
        <p:txBody>
          <a:bodyPr rtlCol="0" anchor="ctr"/>
          <a:lstStyle/>
          <a:p>
            <a:pPr algn="ctr"/>
          </a:p>
        </p:txBody>
      </p:sp>
      <p:sp>
        <p:nvSpPr>
          <p:cNvPr id="21" name="TextBox 20"/>
          <p:cNvSpPr txBox="1"/>
          <p:nvPr/>
        </p:nvSpPr>
        <p:spPr>
          <a:xfrm>
            <a:off x="9230637" y="1883664"/>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A model download will not start</a:t>
            </a:r>
          </a:p>
          <a:p>
            <a:pPr algn="l">
              <a:spcBef>
                <a:spcPts val="500"/>
              </a:spcBef>
              <a:spcAft>
                <a:spcPts val="0"/>
              </a:spcAft>
            </a:pPr>
            <a:r>
              <a:rPr sz="950" b="0" i="0">
                <a:solidFill>
                  <a:srgbClr val="3C4450"/>
                </a:solidFill>
                <a:latin typeface="Segoe UI"/>
              </a:rPr>
              <a:t>Only one downloads at a time; the other rows stay disabled until it finishes. Check free space - models run from 800 MB upward.</a:t>
            </a:r>
          </a:p>
        </p:txBody>
      </p:sp>
      <p:sp>
        <p:nvSpPr>
          <p:cNvPr id="22" name="Rectangle 21"/>
          <p:cNvSpPr/>
          <p:nvPr/>
        </p:nvSpPr>
        <p:spPr>
          <a:xfrm>
            <a:off x="566928" y="3236976"/>
            <a:ext cx="2613583" cy="1389888"/>
          </a:xfrm>
          <a:prstGeom prst="rect">
            <a:avLst/>
          </a:prstGeom>
          <a:solidFill>
            <a:srgbClr val="FFFFFF"/>
          </a:solidFill>
          <a:ln w="9525">
            <a:solidFill>
              <a:srgbClr val="E3E7EC"/>
            </a:solidFill>
          </a:ln>
          <a:effectLst/>
        </p:spPr>
        <p:txBody>
          <a:bodyPr rtlCol="0" anchor="ctr"/>
          <a:lstStyle/>
          <a:p>
            <a:pPr algn="ctr"/>
          </a:p>
        </p:txBody>
      </p:sp>
      <p:sp>
        <p:nvSpPr>
          <p:cNvPr id="23" name="Rectangle 22"/>
          <p:cNvSpPr/>
          <p:nvPr/>
        </p:nvSpPr>
        <p:spPr>
          <a:xfrm>
            <a:off x="566928" y="3236976"/>
            <a:ext cx="2613583" cy="50292"/>
          </a:xfrm>
          <a:prstGeom prst="rect">
            <a:avLst/>
          </a:prstGeom>
          <a:solidFill>
            <a:srgbClr val="4C4A6B"/>
          </a:solidFill>
          <a:ln>
            <a:noFill/>
          </a:ln>
          <a:effectLst/>
        </p:spPr>
        <p:txBody>
          <a:bodyPr rtlCol="0" anchor="ctr"/>
          <a:lstStyle/>
          <a:p>
            <a:pPr algn="ctr"/>
          </a:p>
        </p:txBody>
      </p:sp>
      <p:sp>
        <p:nvSpPr>
          <p:cNvPr id="24" name="TextBox 23"/>
          <p:cNvSpPr txBox="1"/>
          <p:nvPr/>
        </p:nvSpPr>
        <p:spPr>
          <a:xfrm>
            <a:off x="786384" y="3474720"/>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The calendar is empty or shows a lock</a:t>
            </a:r>
          </a:p>
          <a:p>
            <a:pPr algn="l">
              <a:spcBef>
                <a:spcPts val="500"/>
              </a:spcBef>
              <a:spcAft>
                <a:spcPts val="0"/>
              </a:spcAft>
            </a:pPr>
            <a:r>
              <a:rPr sz="950" b="0" i="0">
                <a:solidFill>
                  <a:srgbClr val="3C4450"/>
                </a:solidFill>
                <a:latin typeface="Segoe UI"/>
              </a:rPr>
              <a:t>Permission was refused. Tap Grant access; after a second refusal Android stops asking and Pico opens system settings instead.</a:t>
            </a:r>
          </a:p>
        </p:txBody>
      </p:sp>
      <p:sp>
        <p:nvSpPr>
          <p:cNvPr id="25" name="Rectangle 24"/>
          <p:cNvSpPr/>
          <p:nvPr/>
        </p:nvSpPr>
        <p:spPr>
          <a:xfrm>
            <a:off x="3381679" y="3236976"/>
            <a:ext cx="2613583" cy="1389888"/>
          </a:xfrm>
          <a:prstGeom prst="rect">
            <a:avLst/>
          </a:prstGeom>
          <a:solidFill>
            <a:srgbClr val="FFFFFF"/>
          </a:solidFill>
          <a:ln w="9525">
            <a:solidFill>
              <a:srgbClr val="E3E7EC"/>
            </a:solidFill>
          </a:ln>
          <a:effectLst/>
        </p:spPr>
        <p:txBody>
          <a:bodyPr rtlCol="0" anchor="ctr"/>
          <a:lstStyle/>
          <a:p>
            <a:pPr algn="ctr"/>
          </a:p>
        </p:txBody>
      </p:sp>
      <p:sp>
        <p:nvSpPr>
          <p:cNvPr id="26" name="Rectangle 25"/>
          <p:cNvSpPr/>
          <p:nvPr/>
        </p:nvSpPr>
        <p:spPr>
          <a:xfrm>
            <a:off x="3381679" y="3236976"/>
            <a:ext cx="2613583" cy="50292"/>
          </a:xfrm>
          <a:prstGeom prst="rect">
            <a:avLst/>
          </a:prstGeom>
          <a:solidFill>
            <a:srgbClr val="4C4A6B"/>
          </a:solidFill>
          <a:ln>
            <a:noFill/>
          </a:ln>
          <a:effectLst/>
        </p:spPr>
        <p:txBody>
          <a:bodyPr rtlCol="0" anchor="ctr"/>
          <a:lstStyle/>
          <a:p>
            <a:pPr algn="ctr"/>
          </a:p>
        </p:txBody>
      </p:sp>
      <p:sp>
        <p:nvSpPr>
          <p:cNvPr id="27" name="TextBox 26"/>
          <p:cNvSpPr txBox="1"/>
          <p:nvPr/>
        </p:nvSpPr>
        <p:spPr>
          <a:xfrm>
            <a:off x="3601135" y="3474720"/>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Login says invalid email or password</a:t>
            </a:r>
          </a:p>
          <a:p>
            <a:pPr algn="l">
              <a:spcBef>
                <a:spcPts val="500"/>
              </a:spcBef>
              <a:spcAft>
                <a:spcPts val="0"/>
              </a:spcAft>
            </a:pPr>
            <a:r>
              <a:rPr sz="950" b="0" i="0">
                <a:solidFill>
                  <a:srgbClr val="3C4450"/>
                </a:solidFill>
                <a:latin typeface="Segoe UI"/>
              </a:rPr>
              <a:t>Accounts live only on the phone that created them. An account made on another device will not be found here.</a:t>
            </a:r>
          </a:p>
        </p:txBody>
      </p:sp>
      <p:sp>
        <p:nvSpPr>
          <p:cNvPr id="28" name="Rectangle 27"/>
          <p:cNvSpPr/>
          <p:nvPr/>
        </p:nvSpPr>
        <p:spPr>
          <a:xfrm>
            <a:off x="6196430" y="3236976"/>
            <a:ext cx="2613583" cy="1389888"/>
          </a:xfrm>
          <a:prstGeom prst="rect">
            <a:avLst/>
          </a:prstGeom>
          <a:solidFill>
            <a:srgbClr val="FFFFFF"/>
          </a:solidFill>
          <a:ln w="9525">
            <a:solidFill>
              <a:srgbClr val="E3E7EC"/>
            </a:solidFill>
          </a:ln>
          <a:effectLst/>
        </p:spPr>
        <p:txBody>
          <a:bodyPr rtlCol="0" anchor="ctr"/>
          <a:lstStyle/>
          <a:p>
            <a:pPr algn="ctr"/>
          </a:p>
        </p:txBody>
      </p:sp>
      <p:sp>
        <p:nvSpPr>
          <p:cNvPr id="29" name="Rectangle 28"/>
          <p:cNvSpPr/>
          <p:nvPr/>
        </p:nvSpPr>
        <p:spPr>
          <a:xfrm>
            <a:off x="6196430" y="3236976"/>
            <a:ext cx="2613583" cy="50292"/>
          </a:xfrm>
          <a:prstGeom prst="rect">
            <a:avLst/>
          </a:prstGeom>
          <a:solidFill>
            <a:srgbClr val="4C4A6B"/>
          </a:solidFill>
          <a:ln>
            <a:noFill/>
          </a:ln>
          <a:effectLst/>
        </p:spPr>
        <p:txBody>
          <a:bodyPr rtlCol="0" anchor="ctr"/>
          <a:lstStyle/>
          <a:p>
            <a:pPr algn="ctr"/>
          </a:p>
        </p:txBody>
      </p:sp>
      <p:sp>
        <p:nvSpPr>
          <p:cNvPr id="30" name="TextBox 29"/>
          <p:cNvSpPr txBox="1"/>
          <p:nvPr/>
        </p:nvSpPr>
        <p:spPr>
          <a:xfrm>
            <a:off x="6415886" y="3474720"/>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Dark mode was light again after a restart</a:t>
            </a:r>
          </a:p>
          <a:p>
            <a:pPr algn="l">
              <a:spcBef>
                <a:spcPts val="500"/>
              </a:spcBef>
              <a:spcAft>
                <a:spcPts val="0"/>
              </a:spcAft>
            </a:pPr>
            <a:r>
              <a:rPr sz="950" b="0" i="0">
                <a:solidFill>
                  <a:srgbClr val="3C4450"/>
                </a:solidFill>
                <a:latin typeface="Segoe UI"/>
              </a:rPr>
              <a:t>Expected - the theme is held in memory only and is not saved between launches.</a:t>
            </a:r>
          </a:p>
        </p:txBody>
      </p:sp>
      <p:sp>
        <p:nvSpPr>
          <p:cNvPr id="31" name="Rectangle 30"/>
          <p:cNvSpPr/>
          <p:nvPr/>
        </p:nvSpPr>
        <p:spPr>
          <a:xfrm>
            <a:off x="9011181" y="3236976"/>
            <a:ext cx="2613583" cy="1389888"/>
          </a:xfrm>
          <a:prstGeom prst="rect">
            <a:avLst/>
          </a:prstGeom>
          <a:solidFill>
            <a:srgbClr val="FFFFFF"/>
          </a:solidFill>
          <a:ln w="9525">
            <a:solidFill>
              <a:srgbClr val="E3E7EC"/>
            </a:solidFill>
          </a:ln>
          <a:effectLst/>
        </p:spPr>
        <p:txBody>
          <a:bodyPr rtlCol="0" anchor="ctr"/>
          <a:lstStyle/>
          <a:p>
            <a:pPr algn="ctr"/>
          </a:p>
        </p:txBody>
      </p:sp>
      <p:sp>
        <p:nvSpPr>
          <p:cNvPr id="32" name="Rectangle 31"/>
          <p:cNvSpPr/>
          <p:nvPr/>
        </p:nvSpPr>
        <p:spPr>
          <a:xfrm>
            <a:off x="9011181" y="3236976"/>
            <a:ext cx="2613583" cy="50292"/>
          </a:xfrm>
          <a:prstGeom prst="rect">
            <a:avLst/>
          </a:prstGeom>
          <a:solidFill>
            <a:srgbClr val="4C4A6B"/>
          </a:solidFill>
          <a:ln>
            <a:noFill/>
          </a:ln>
          <a:effectLst/>
        </p:spPr>
        <p:txBody>
          <a:bodyPr rtlCol="0" anchor="ctr"/>
          <a:lstStyle/>
          <a:p>
            <a:pPr algn="ctr"/>
          </a:p>
        </p:txBody>
      </p:sp>
      <p:sp>
        <p:nvSpPr>
          <p:cNvPr id="33" name="TextBox 32"/>
          <p:cNvSpPr txBox="1"/>
          <p:nvPr/>
        </p:nvSpPr>
        <p:spPr>
          <a:xfrm>
            <a:off x="9230637" y="3474720"/>
            <a:ext cx="2174671" cy="1042416"/>
          </a:xfrm>
          <a:prstGeom prst="rect">
            <a:avLst/>
          </a:prstGeom>
          <a:noFill/>
        </p:spPr>
        <p:txBody>
          <a:bodyPr wrap="square" anchor="t" lIns="0" rIns="0" tIns="0" bIns="0">
            <a:spAutoFit/>
          </a:bodyPr>
          <a:lstStyle/>
          <a:p>
            <a:pPr algn="l">
              <a:spcBef>
                <a:spcPts val="0"/>
              </a:spcBef>
              <a:spcAft>
                <a:spcPts val="0"/>
              </a:spcAft>
            </a:pPr>
            <a:r>
              <a:rPr sz="1150" b="1" i="0">
                <a:solidFill>
                  <a:srgbClr val="14181F"/>
                </a:solidFill>
                <a:latin typeface="Segoe UI"/>
              </a:rPr>
              <a:t>Telegram says the token is missing</a:t>
            </a:r>
          </a:p>
          <a:p>
            <a:pPr algn="l">
              <a:spcBef>
                <a:spcPts val="500"/>
              </a:spcBef>
              <a:spcAft>
                <a:spcPts val="0"/>
              </a:spcAft>
            </a:pPr>
            <a:r>
              <a:rPr sz="950" b="0" i="0">
                <a:solidFill>
                  <a:srgbClr val="3C4450"/>
                </a:solidFill>
                <a:latin typeface="Segoe UI"/>
              </a:rPr>
              <a:t>No bot token is saved: Profile &gt; Telegram Bot. If a sync returns nothing, those messages were already read - the offset only moves forward.</a:t>
            </a:r>
          </a:p>
        </p:txBody>
      </p:sp>
      <p:sp>
        <p:nvSpPr>
          <p:cNvPr id="34" name="Rectangle 33"/>
          <p:cNvSpPr/>
          <p:nvPr/>
        </p:nvSpPr>
        <p:spPr>
          <a:xfrm>
            <a:off x="566928" y="4846320"/>
            <a:ext cx="11057839" cy="832104"/>
          </a:xfrm>
          <a:prstGeom prst="rect">
            <a:avLst/>
          </a:prstGeom>
          <a:solidFill>
            <a:srgbClr val="F4F6F9"/>
          </a:solidFill>
          <a:ln>
            <a:noFill/>
          </a:ln>
          <a:effectLst/>
        </p:spPr>
        <p:txBody>
          <a:bodyPr rtlCol="0" anchor="ctr"/>
          <a:lstStyle/>
          <a:p>
            <a:pPr algn="ctr"/>
          </a:p>
        </p:txBody>
      </p:sp>
      <p:sp>
        <p:nvSpPr>
          <p:cNvPr id="35" name="Rectangle 34"/>
          <p:cNvSpPr/>
          <p:nvPr/>
        </p:nvSpPr>
        <p:spPr>
          <a:xfrm>
            <a:off x="566928" y="4846320"/>
            <a:ext cx="41148" cy="832104"/>
          </a:xfrm>
          <a:prstGeom prst="rect">
            <a:avLst/>
          </a:prstGeom>
          <a:solidFill>
            <a:srgbClr val="4C4A6B"/>
          </a:solidFill>
          <a:ln>
            <a:noFill/>
          </a:ln>
          <a:effectLst/>
        </p:spPr>
        <p:txBody>
          <a:bodyPr rtlCol="0" anchor="ctr"/>
          <a:lstStyle/>
          <a:p>
            <a:pPr algn="ctr"/>
          </a:p>
        </p:txBody>
      </p:sp>
      <p:sp>
        <p:nvSpPr>
          <p:cNvPr id="36" name="TextBox 35"/>
          <p:cNvSpPr txBox="1"/>
          <p:nvPr/>
        </p:nvSpPr>
        <p:spPr>
          <a:xfrm>
            <a:off x="768096" y="4956048"/>
            <a:ext cx="10673791" cy="649224"/>
          </a:xfrm>
          <a:prstGeom prst="rect">
            <a:avLst/>
          </a:prstGeom>
          <a:noFill/>
        </p:spPr>
        <p:txBody>
          <a:bodyPr wrap="square" anchor="t" lIns="0" rIns="0" tIns="0" bIns="0">
            <a:spAutoFit/>
          </a:bodyPr>
          <a:lstStyle/>
          <a:p>
            <a:pPr algn="l">
              <a:spcBef>
                <a:spcPts val="0"/>
              </a:spcBef>
              <a:spcAft>
                <a:spcPts val="0"/>
              </a:spcAft>
            </a:pPr>
            <a:r>
              <a:rPr sz="1200" b="1" i="0">
                <a:solidFill>
                  <a:srgbClr val="4C4A6B"/>
                </a:solidFill>
                <a:latin typeface="Segoe UI"/>
              </a:rPr>
              <a:t>An event created in chat is missing</a:t>
            </a:r>
          </a:p>
          <a:p>
            <a:pPr algn="l">
              <a:spcBef>
                <a:spcPts val="300"/>
              </a:spcBef>
              <a:spcAft>
                <a:spcPts val="0"/>
              </a:spcAft>
            </a:pPr>
            <a:r>
              <a:rPr sz="1100" b="0" i="0">
                <a:solidFill>
                  <a:srgbClr val="3C4450"/>
                </a:solidFill>
                <a:latin typeface="Segoe UI"/>
              </a:rPr>
              <a:t>It is not lost. Events Pico creates go to its own encrypted store, which the Calendar tab merges into the view - but the Notifications list and the Home bell badge read the Android calendar only, so it is not counted there.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81F"/>
          </a:solidFill>
          <a:ln>
            <a:noFill/>
          </a:ln>
          <a:effectLst/>
        </p:spPr>
        <p:txBody>
          <a:bodyPr rtlCol="0" anchor="ctr"/>
          <a:lstStyle/>
          <a:p>
            <a:pPr algn="ctr"/>
          </a:p>
        </p:txBody>
      </p:sp>
      <p:sp>
        <p:nvSpPr>
          <p:cNvPr id="3" name="Rectangle 2"/>
          <p:cNvSpPr/>
          <p:nvPr/>
        </p:nvSpPr>
        <p:spPr>
          <a:xfrm>
            <a:off x="0" y="0"/>
            <a:ext cx="12191695" cy="82296"/>
          </a:xfrm>
          <a:prstGeom prst="rect">
            <a:avLst/>
          </a:prstGeom>
          <a:solidFill>
            <a:srgbClr val="0E6B63"/>
          </a:solidFill>
          <a:ln>
            <a:noFill/>
          </a:ln>
          <a:effectLst/>
        </p:spPr>
        <p:txBody>
          <a:bodyPr rtlCol="0" anchor="ctr"/>
          <a:lstStyle/>
          <a:p>
            <a:pPr algn="ctr"/>
          </a:p>
        </p:txBody>
      </p:sp>
      <p:sp>
        <p:nvSpPr>
          <p:cNvPr id="4" name="TextBox 3"/>
          <p:cNvSpPr txBox="1"/>
          <p:nvPr/>
        </p:nvSpPr>
        <p:spPr>
          <a:xfrm>
            <a:off x="914400" y="2148840"/>
            <a:ext cx="7315200" cy="1188720"/>
          </a:xfrm>
          <a:prstGeom prst="rect">
            <a:avLst/>
          </a:prstGeom>
          <a:noFill/>
        </p:spPr>
        <p:txBody>
          <a:bodyPr wrap="square" anchor="t" lIns="0" rIns="0" tIns="0" bIns="0">
            <a:spAutoFit/>
          </a:bodyPr>
          <a:lstStyle/>
          <a:p>
            <a:pPr algn="l">
              <a:spcBef>
                <a:spcPts val="0"/>
              </a:spcBef>
              <a:spcAft>
                <a:spcPts val="0"/>
              </a:spcAft>
            </a:pPr>
            <a:r>
              <a:rPr sz="5800" b="1" i="0">
                <a:solidFill>
                  <a:srgbClr val="FFFFFF"/>
                </a:solidFill>
                <a:latin typeface="Segoe UI"/>
              </a:rPr>
              <a:t>Thank you</a:t>
            </a:r>
          </a:p>
        </p:txBody>
      </p:sp>
      <p:sp>
        <p:nvSpPr>
          <p:cNvPr id="5" name="TextBox 4"/>
          <p:cNvSpPr txBox="1"/>
          <p:nvPr/>
        </p:nvSpPr>
        <p:spPr>
          <a:xfrm>
            <a:off x="914400" y="3337560"/>
            <a:ext cx="6583680" cy="914400"/>
          </a:xfrm>
          <a:prstGeom prst="rect">
            <a:avLst/>
          </a:prstGeom>
          <a:noFill/>
        </p:spPr>
        <p:txBody>
          <a:bodyPr wrap="square" anchor="t" lIns="0" rIns="0" tIns="0" bIns="0">
            <a:spAutoFit/>
          </a:bodyPr>
          <a:lstStyle/>
          <a:p>
            <a:pPr algn="l">
              <a:spcBef>
                <a:spcPts val="0"/>
              </a:spcBef>
              <a:spcAft>
                <a:spcPts val="0"/>
              </a:spcAft>
            </a:pPr>
            <a:r>
              <a:rPr sz="1500" b="0" i="0">
                <a:solidFill>
                  <a:srgbClr val="A8B2BF"/>
                </a:solidFill>
                <a:latin typeface="Segoe UI"/>
              </a:rPr>
              <a:t>Questions welcome - on any workflow in this manual, or on what runs behind it.</a:t>
            </a:r>
          </a:p>
        </p:txBody>
      </p:sp>
      <p:sp>
        <p:nvSpPr>
          <p:cNvPr id="6" name="Rounded Rectangle 5"/>
          <p:cNvSpPr/>
          <p:nvPr/>
        </p:nvSpPr>
        <p:spPr>
          <a:xfrm>
            <a:off x="914400" y="4434840"/>
            <a:ext cx="1031436" cy="402336"/>
          </a:xfrm>
          <a:prstGeom prst="roundRect">
            <a:avLst/>
          </a:prstGeom>
          <a:solidFill>
            <a:srgbClr val="202631"/>
          </a:solidFill>
          <a:ln>
            <a:noFill/>
          </a:ln>
          <a:effectLst/>
        </p:spPr>
        <p:txBody>
          <a:bodyPr rtlCol="0" anchor="ctr"/>
          <a:lstStyle/>
          <a:p>
            <a:pPr algn="ctr"/>
          </a:p>
        </p:txBody>
      </p:sp>
      <p:sp>
        <p:nvSpPr>
          <p:cNvPr id="7" name="TextBox 6"/>
          <p:cNvSpPr txBox="1"/>
          <p:nvPr/>
        </p:nvSpPr>
        <p:spPr>
          <a:xfrm>
            <a:off x="914400" y="4434840"/>
            <a:ext cx="1031436" cy="402336"/>
          </a:xfrm>
          <a:prstGeom prst="rect">
            <a:avLst/>
          </a:prstGeom>
          <a:noFill/>
        </p:spPr>
        <p:txBody>
          <a:bodyPr wrap="square" anchor="ctr" lIns="0" rIns="0" tIns="0" bIns="0">
            <a:spAutoFit/>
          </a:bodyPr>
          <a:lstStyle/>
          <a:p>
            <a:pPr algn="ctr">
              <a:spcBef>
                <a:spcPts val="0"/>
              </a:spcBef>
              <a:spcAft>
                <a:spcPts val="0"/>
              </a:spcAft>
            </a:pPr>
            <a:r>
              <a:rPr sz="1100" b="1" i="0">
                <a:solidFill>
                  <a:srgbClr val="6B3F62"/>
                </a:solidFill>
                <a:latin typeface="Segoe UI"/>
              </a:rPr>
              <a:t>Assistant</a:t>
            </a:r>
          </a:p>
        </p:txBody>
      </p:sp>
      <p:sp>
        <p:nvSpPr>
          <p:cNvPr id="8" name="Rounded Rectangle 7"/>
          <p:cNvSpPr/>
          <p:nvPr/>
        </p:nvSpPr>
        <p:spPr>
          <a:xfrm>
            <a:off x="2073852" y="4434840"/>
            <a:ext cx="694940" cy="402336"/>
          </a:xfrm>
          <a:prstGeom prst="roundRect">
            <a:avLst/>
          </a:prstGeom>
          <a:solidFill>
            <a:srgbClr val="202631"/>
          </a:solidFill>
          <a:ln>
            <a:noFill/>
          </a:ln>
          <a:effectLst/>
        </p:spPr>
        <p:txBody>
          <a:bodyPr rtlCol="0" anchor="ctr"/>
          <a:lstStyle/>
          <a:p>
            <a:pPr algn="ctr"/>
          </a:p>
        </p:txBody>
      </p:sp>
      <p:sp>
        <p:nvSpPr>
          <p:cNvPr id="9" name="TextBox 8"/>
          <p:cNvSpPr txBox="1"/>
          <p:nvPr/>
        </p:nvSpPr>
        <p:spPr>
          <a:xfrm>
            <a:off x="2073852" y="4434840"/>
            <a:ext cx="694940" cy="402336"/>
          </a:xfrm>
          <a:prstGeom prst="rect">
            <a:avLst/>
          </a:prstGeom>
          <a:noFill/>
        </p:spPr>
        <p:txBody>
          <a:bodyPr wrap="square" anchor="ctr" lIns="0" rIns="0" tIns="0" bIns="0">
            <a:spAutoFit/>
          </a:bodyPr>
          <a:lstStyle/>
          <a:p>
            <a:pPr algn="ctr">
              <a:spcBef>
                <a:spcPts val="0"/>
              </a:spcBef>
              <a:spcAft>
                <a:spcPts val="0"/>
              </a:spcAft>
            </a:pPr>
            <a:r>
              <a:rPr sz="1100" b="1" i="0">
                <a:solidFill>
                  <a:srgbClr val="4A6B3D"/>
                </a:solidFill>
                <a:latin typeface="Segoe UI"/>
              </a:rPr>
              <a:t>Tasks</a:t>
            </a:r>
          </a:p>
        </p:txBody>
      </p:sp>
      <p:sp>
        <p:nvSpPr>
          <p:cNvPr id="10" name="Rounded Rectangle 9"/>
          <p:cNvSpPr/>
          <p:nvPr/>
        </p:nvSpPr>
        <p:spPr>
          <a:xfrm>
            <a:off x="2896808" y="4434840"/>
            <a:ext cx="947312" cy="402336"/>
          </a:xfrm>
          <a:prstGeom prst="roundRect">
            <a:avLst/>
          </a:prstGeom>
          <a:solidFill>
            <a:srgbClr val="202631"/>
          </a:solidFill>
          <a:ln>
            <a:noFill/>
          </a:ln>
          <a:effectLst/>
        </p:spPr>
        <p:txBody>
          <a:bodyPr rtlCol="0" anchor="ctr"/>
          <a:lstStyle/>
          <a:p>
            <a:pPr algn="ctr"/>
          </a:p>
        </p:txBody>
      </p:sp>
      <p:sp>
        <p:nvSpPr>
          <p:cNvPr id="11" name="TextBox 10"/>
          <p:cNvSpPr txBox="1"/>
          <p:nvPr/>
        </p:nvSpPr>
        <p:spPr>
          <a:xfrm>
            <a:off x="2896808" y="4434840"/>
            <a:ext cx="947312" cy="402336"/>
          </a:xfrm>
          <a:prstGeom prst="rect">
            <a:avLst/>
          </a:prstGeom>
          <a:noFill/>
        </p:spPr>
        <p:txBody>
          <a:bodyPr wrap="square" anchor="ctr" lIns="0" rIns="0" tIns="0" bIns="0">
            <a:spAutoFit/>
          </a:bodyPr>
          <a:lstStyle/>
          <a:p>
            <a:pPr algn="ctr">
              <a:spcBef>
                <a:spcPts val="0"/>
              </a:spcBef>
              <a:spcAft>
                <a:spcPts val="0"/>
              </a:spcAft>
            </a:pPr>
            <a:r>
              <a:rPr sz="1100" b="1" i="0">
                <a:solidFill>
                  <a:srgbClr val="8A6A3B"/>
                </a:solidFill>
                <a:latin typeface="Segoe UI"/>
              </a:rPr>
              <a:t>Calendar</a:t>
            </a:r>
          </a:p>
        </p:txBody>
      </p:sp>
      <p:sp>
        <p:nvSpPr>
          <p:cNvPr id="12" name="Rounded Rectangle 11"/>
          <p:cNvSpPr/>
          <p:nvPr/>
        </p:nvSpPr>
        <p:spPr>
          <a:xfrm>
            <a:off x="3972136" y="4434840"/>
            <a:ext cx="947312" cy="402336"/>
          </a:xfrm>
          <a:prstGeom prst="roundRect">
            <a:avLst/>
          </a:prstGeom>
          <a:solidFill>
            <a:srgbClr val="202631"/>
          </a:solidFill>
          <a:ln>
            <a:noFill/>
          </a:ln>
          <a:effectLst/>
        </p:spPr>
        <p:txBody>
          <a:bodyPr rtlCol="0" anchor="ctr"/>
          <a:lstStyle/>
          <a:p>
            <a:pPr algn="ctr"/>
          </a:p>
        </p:txBody>
      </p:sp>
      <p:sp>
        <p:nvSpPr>
          <p:cNvPr id="13" name="TextBox 12"/>
          <p:cNvSpPr txBox="1"/>
          <p:nvPr/>
        </p:nvSpPr>
        <p:spPr>
          <a:xfrm>
            <a:off x="3972136" y="4434840"/>
            <a:ext cx="947312" cy="402336"/>
          </a:xfrm>
          <a:prstGeom prst="rect">
            <a:avLst/>
          </a:prstGeom>
          <a:noFill/>
        </p:spPr>
        <p:txBody>
          <a:bodyPr wrap="square" anchor="ctr" lIns="0" rIns="0" tIns="0" bIns="0">
            <a:spAutoFit/>
          </a:bodyPr>
          <a:lstStyle/>
          <a:p>
            <a:pPr algn="ctr">
              <a:spcBef>
                <a:spcPts val="0"/>
              </a:spcBef>
              <a:spcAft>
                <a:spcPts val="0"/>
              </a:spcAft>
            </a:pPr>
            <a:r>
              <a:rPr sz="1100" b="1" i="0">
                <a:solidFill>
                  <a:srgbClr val="8C4F3A"/>
                </a:solidFill>
                <a:latin typeface="Segoe UI"/>
              </a:rPr>
              <a:t>Telegram</a:t>
            </a:r>
          </a:p>
        </p:txBody>
      </p:sp>
      <p:sp>
        <p:nvSpPr>
          <p:cNvPr id="14" name="Rounded Rectangle 13"/>
          <p:cNvSpPr/>
          <p:nvPr/>
        </p:nvSpPr>
        <p:spPr>
          <a:xfrm>
            <a:off x="5047464" y="4434840"/>
            <a:ext cx="1283808" cy="402336"/>
          </a:xfrm>
          <a:prstGeom prst="roundRect">
            <a:avLst/>
          </a:prstGeom>
          <a:solidFill>
            <a:srgbClr val="202631"/>
          </a:solidFill>
          <a:ln>
            <a:noFill/>
          </a:ln>
          <a:effectLst/>
        </p:spPr>
        <p:txBody>
          <a:bodyPr rtlCol="0" anchor="ctr"/>
          <a:lstStyle/>
          <a:p>
            <a:pPr algn="ctr"/>
          </a:p>
        </p:txBody>
      </p:sp>
      <p:sp>
        <p:nvSpPr>
          <p:cNvPr id="15" name="TextBox 14"/>
          <p:cNvSpPr txBox="1"/>
          <p:nvPr/>
        </p:nvSpPr>
        <p:spPr>
          <a:xfrm>
            <a:off x="5047464" y="4434840"/>
            <a:ext cx="1283808" cy="402336"/>
          </a:xfrm>
          <a:prstGeom prst="rect">
            <a:avLst/>
          </a:prstGeom>
          <a:noFill/>
        </p:spPr>
        <p:txBody>
          <a:bodyPr wrap="square" anchor="ctr" lIns="0" rIns="0" tIns="0" bIns="0">
            <a:spAutoFit/>
          </a:bodyPr>
          <a:lstStyle/>
          <a:p>
            <a:pPr algn="ctr">
              <a:spcBef>
                <a:spcPts val="0"/>
              </a:spcBef>
              <a:spcAft>
                <a:spcPts val="0"/>
              </a:spcAft>
            </a:pPr>
            <a:r>
              <a:rPr sz="1100" b="1" i="0">
                <a:solidFill>
                  <a:srgbClr val="0E6B63"/>
                </a:solidFill>
                <a:latin typeface="Segoe UI"/>
              </a:rPr>
              <a:t>On-device AI</a:t>
            </a:r>
          </a:p>
        </p:txBody>
      </p:sp>
      <p:sp>
        <p:nvSpPr>
          <p:cNvPr id="16" name="Rounded Rectangle 15"/>
          <p:cNvSpPr/>
          <p:nvPr/>
        </p:nvSpPr>
        <p:spPr>
          <a:xfrm>
            <a:off x="6459288" y="4434840"/>
            <a:ext cx="863188" cy="402336"/>
          </a:xfrm>
          <a:prstGeom prst="roundRect">
            <a:avLst/>
          </a:prstGeom>
          <a:solidFill>
            <a:srgbClr val="202631"/>
          </a:solidFill>
          <a:ln>
            <a:noFill/>
          </a:ln>
          <a:effectLst/>
        </p:spPr>
        <p:txBody>
          <a:bodyPr rtlCol="0" anchor="ctr"/>
          <a:lstStyle/>
          <a:p>
            <a:pPr algn="ctr"/>
          </a:p>
        </p:txBody>
      </p:sp>
      <p:sp>
        <p:nvSpPr>
          <p:cNvPr id="17" name="TextBox 16"/>
          <p:cNvSpPr txBox="1"/>
          <p:nvPr/>
        </p:nvSpPr>
        <p:spPr>
          <a:xfrm>
            <a:off x="6459288" y="4434840"/>
            <a:ext cx="863188" cy="402336"/>
          </a:xfrm>
          <a:prstGeom prst="rect">
            <a:avLst/>
          </a:prstGeom>
          <a:noFill/>
        </p:spPr>
        <p:txBody>
          <a:bodyPr wrap="square" anchor="ctr" lIns="0" rIns="0" tIns="0" bIns="0">
            <a:spAutoFit/>
          </a:bodyPr>
          <a:lstStyle/>
          <a:p>
            <a:pPr algn="ctr">
              <a:spcBef>
                <a:spcPts val="0"/>
              </a:spcBef>
              <a:spcAft>
                <a:spcPts val="0"/>
              </a:spcAft>
            </a:pPr>
            <a:r>
              <a:rPr sz="1100" b="1" i="0">
                <a:solidFill>
                  <a:srgbClr val="7A3B47"/>
                </a:solidFill>
                <a:latin typeface="Segoe UI"/>
              </a:rPr>
              <a:t>Privacy</a:t>
            </a:r>
          </a:p>
        </p:txBody>
      </p:sp>
      <p:sp>
        <p:nvSpPr>
          <p:cNvPr id="18" name="TextBox 17"/>
          <p:cNvSpPr txBox="1"/>
          <p:nvPr/>
        </p:nvSpPr>
        <p:spPr>
          <a:xfrm>
            <a:off x="914400" y="5532120"/>
            <a:ext cx="7315200" cy="274320"/>
          </a:xfrm>
          <a:prstGeom prst="rect">
            <a:avLst/>
          </a:prstGeom>
          <a:noFill/>
        </p:spPr>
        <p:txBody>
          <a:bodyPr wrap="square" anchor="t" lIns="0" rIns="0" tIns="0" bIns="0">
            <a:spAutoFit/>
          </a:bodyPr>
          <a:lstStyle/>
          <a:p>
            <a:pPr algn="l">
              <a:spcBef>
                <a:spcPts val="0"/>
              </a:spcBef>
              <a:spcAft>
                <a:spcPts val="0"/>
              </a:spcAft>
            </a:pPr>
            <a:r>
              <a:rPr sz="1100" b="0" i="0">
                <a:solidFill>
                  <a:srgbClr val="6B7583"/>
                </a:solidFill>
                <a:latin typeface="Segoe UI"/>
              </a:rPr>
              <a:t>Pico  -  User Manual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